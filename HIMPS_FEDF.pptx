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9" r:id="rId2"/>
    <p:sldId id="257" r:id="rId3"/>
    <p:sldId id="258" r:id="rId4"/>
    <p:sldId id="259" r:id="rId5"/>
    <p:sldId id="260" r:id="rId6"/>
    <p:sldId id="261" r:id="rId7"/>
    <p:sldId id="262" r:id="rId8"/>
    <p:sldId id="263" r:id="rId9"/>
    <p:sldId id="264" r:id="rId10"/>
    <p:sldId id="265" r:id="rId11"/>
    <p:sldId id="270"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0" d="100"/>
          <a:sy n="90" d="100"/>
        </p:scale>
        <p:origin x="-576"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1792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a:prstGeom prst="rect">
            <a:avLst/>
          </a:prstGeom>
        </p:spPr>
      </p:sp>
      <p:sp>
        <p:nvSpPr>
          <p:cNvPr id="3" name="Notes Placeholder 2"/>
          <p:cNvSpPr>
            <a:spLocks noGrp="1"/>
          </p:cNvSpPr>
          <p:nvPr>
            <p:ph type="body" idx="1"/>
          </p:nvPr>
        </p:nvSpPr>
        <p:spPr>
          <a:xfrm>
            <a:off x="514350" y="4343400"/>
            <a:ext cx="4114800" cy="41148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2913063" y="8685213"/>
            <a:ext cx="2228850" cy="457200"/>
          </a:xfrm>
          <a:prstGeom prst="rect">
            <a:avLst/>
          </a:prstGeom>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0320"/>
            <a:ext cx="9144000" cy="5143500"/>
          </a:xfrm>
          <a:prstGeom prst="rect">
            <a:avLst/>
          </a:prstGeom>
          <a:solidFill>
            <a:srgbClr val="0A2463"/>
          </a:solidFill>
          <a:ln w="12700">
            <a:solidFill>
              <a:srgbClr val="0A2463"/>
            </a:solidFill>
            <a:prstDash val="solid"/>
          </a:ln>
        </p:spPr>
      </p:sp>
      <p:sp>
        <p:nvSpPr>
          <p:cNvPr id="3" name="Shape 1"/>
          <p:cNvSpPr/>
          <p:nvPr/>
        </p:nvSpPr>
        <p:spPr>
          <a:xfrm>
            <a:off x="0" y="3474720"/>
            <a:ext cx="9144000" cy="1668780"/>
          </a:xfrm>
          <a:prstGeom prst="rect">
            <a:avLst/>
          </a:prstGeom>
          <a:solidFill>
            <a:srgbClr val="091D4F"/>
          </a:solidFill>
          <a:ln w="12700">
            <a:solidFill>
              <a:srgbClr val="091D4F"/>
            </a:solidFill>
            <a:prstDash val="solid"/>
          </a:ln>
        </p:spPr>
      </p:sp>
      <p:sp>
        <p:nvSpPr>
          <p:cNvPr id="4" name="Shape 2"/>
          <p:cNvSpPr/>
          <p:nvPr/>
        </p:nvSpPr>
        <p:spPr>
          <a:xfrm>
            <a:off x="6583680" y="0"/>
            <a:ext cx="2560320" cy="5143500"/>
          </a:xfrm>
          <a:prstGeom prst="rect">
            <a:avLst/>
          </a:prstGeom>
          <a:solidFill>
            <a:srgbClr val="0C1E4A"/>
          </a:solidFill>
          <a:ln w="12700">
            <a:solidFill>
              <a:srgbClr val="0C1E4A"/>
            </a:solidFill>
            <a:prstDash val="solid"/>
          </a:ln>
        </p:spPr>
      </p:sp>
      <p:sp>
        <p:nvSpPr>
          <p:cNvPr id="5" name="Shape 3"/>
          <p:cNvSpPr/>
          <p:nvPr/>
        </p:nvSpPr>
        <p:spPr>
          <a:xfrm>
            <a:off x="6858000" y="0"/>
            <a:ext cx="54864" cy="5143500"/>
          </a:xfrm>
          <a:prstGeom prst="rect">
            <a:avLst/>
          </a:prstGeom>
          <a:solidFill>
            <a:srgbClr val="0D9488"/>
          </a:solidFill>
          <a:ln w="12700">
            <a:solidFill>
              <a:srgbClr val="0D9488"/>
            </a:solidFill>
            <a:prstDash val="solid"/>
          </a:ln>
        </p:spPr>
      </p:sp>
      <p:sp>
        <p:nvSpPr>
          <p:cNvPr id="6" name="Shape 4"/>
          <p:cNvSpPr/>
          <p:nvPr/>
        </p:nvSpPr>
        <p:spPr>
          <a:xfrm>
            <a:off x="7399606" y="546061"/>
            <a:ext cx="1371600" cy="1371600"/>
          </a:xfrm>
          <a:prstGeom prst="ellipse">
            <a:avLst/>
          </a:prstGeom>
          <a:solidFill>
            <a:srgbClr val="0D9488">
              <a:alpha val="80000"/>
            </a:srgbClr>
          </a:solidFill>
          <a:ln w="12700">
            <a:solidFill>
              <a:srgbClr val="14B8A6"/>
            </a:solidFill>
            <a:prstDash val="solid"/>
          </a:ln>
        </p:spPr>
      </p:sp>
      <p:sp>
        <p:nvSpPr>
          <p:cNvPr id="7" name="Text 5"/>
          <p:cNvSpPr/>
          <p:nvPr/>
        </p:nvSpPr>
        <p:spPr>
          <a:xfrm>
            <a:off x="7223760" y="502920"/>
            <a:ext cx="1371600" cy="1371600"/>
          </a:xfrm>
          <a:prstGeom prst="rect">
            <a:avLst/>
          </a:prstGeom>
          <a:noFill/>
          <a:ln/>
        </p:spPr>
        <p:txBody>
          <a:bodyPr wrap="square" lIns="0" tIns="0" rIns="0" bIns="0" rtlCol="0" anchor="ctr"/>
          <a:lstStyle/>
          <a:p>
            <a:pPr marL="0" indent="0" algn="ctr">
              <a:buNone/>
            </a:pPr>
            <a:r>
              <a:rPr lang="en-US" sz="4000" dirty="0">
                <a:solidFill>
                  <a:srgbClr val="000000"/>
                </a:solidFill>
              </a:rPr>
              <a:t>🏥</a:t>
            </a:r>
            <a:endParaRPr lang="en-US" sz="4000" dirty="0"/>
          </a:p>
        </p:txBody>
      </p:sp>
      <p:sp>
        <p:nvSpPr>
          <p:cNvPr id="8" name="Shape 6"/>
          <p:cNvSpPr/>
          <p:nvPr/>
        </p:nvSpPr>
        <p:spPr>
          <a:xfrm>
            <a:off x="548640" y="595630"/>
            <a:ext cx="2743200" cy="274320"/>
          </a:xfrm>
          <a:prstGeom prst="roundRect">
            <a:avLst>
              <a:gd name="adj" fmla="val 16667"/>
            </a:avLst>
          </a:prstGeom>
          <a:solidFill>
            <a:srgbClr val="0D9488"/>
          </a:solidFill>
          <a:ln w="12700">
            <a:solidFill>
              <a:srgbClr val="0D9488"/>
            </a:solidFill>
            <a:prstDash val="solid"/>
          </a:ln>
        </p:spPr>
      </p:sp>
      <p:sp>
        <p:nvSpPr>
          <p:cNvPr id="9" name="Text 7"/>
          <p:cNvSpPr/>
          <p:nvPr/>
        </p:nvSpPr>
        <p:spPr>
          <a:xfrm>
            <a:off x="548640" y="595630"/>
            <a:ext cx="2743200" cy="274320"/>
          </a:xfrm>
          <a:prstGeom prst="rect">
            <a:avLst/>
          </a:prstGeom>
          <a:noFill/>
          <a:ln/>
        </p:spPr>
        <p:txBody>
          <a:bodyPr wrap="square" lIns="0" tIns="0" rIns="0" bIns="0" rtlCol="0" anchor="ctr"/>
          <a:lstStyle/>
          <a:p>
            <a:pPr marL="0" indent="0" algn="ctr">
              <a:buNone/>
            </a:pPr>
            <a:r>
              <a:rPr lang="en-US" sz="900" b="1" dirty="0">
                <a:solidFill>
                  <a:srgbClr val="FFFFFF"/>
                </a:solidFill>
              </a:rPr>
              <a:t>PROJECT BASED LEARNING — FWD</a:t>
            </a:r>
            <a:endParaRPr lang="en-US" sz="900" dirty="0"/>
          </a:p>
        </p:txBody>
      </p:sp>
      <p:sp>
        <p:nvSpPr>
          <p:cNvPr id="10" name="Text 8"/>
          <p:cNvSpPr/>
          <p:nvPr/>
        </p:nvSpPr>
        <p:spPr>
          <a:xfrm>
            <a:off x="548640" y="877062"/>
            <a:ext cx="6035040" cy="822960"/>
          </a:xfrm>
          <a:prstGeom prst="rect">
            <a:avLst/>
          </a:prstGeom>
          <a:noFill/>
          <a:ln/>
        </p:spPr>
        <p:txBody>
          <a:bodyPr wrap="square" lIns="0" tIns="0" rIns="0" bIns="0" rtlCol="0" anchor="ctr"/>
          <a:lstStyle/>
          <a:p>
            <a:pPr marL="0" indent="0" algn="l">
              <a:buNone/>
            </a:pPr>
            <a:r>
              <a:rPr lang="en-US" sz="3800" b="1" dirty="0">
                <a:solidFill>
                  <a:srgbClr val="FFFFFF"/>
                </a:solidFill>
              </a:rPr>
              <a:t>Hospital Inpatient</a:t>
            </a:r>
            <a:endParaRPr lang="en-US" sz="3800" dirty="0"/>
          </a:p>
        </p:txBody>
      </p:sp>
      <p:sp>
        <p:nvSpPr>
          <p:cNvPr id="11" name="Text 9"/>
          <p:cNvSpPr/>
          <p:nvPr/>
        </p:nvSpPr>
        <p:spPr>
          <a:xfrm>
            <a:off x="548640" y="1551432"/>
            <a:ext cx="6035040" cy="822960"/>
          </a:xfrm>
          <a:prstGeom prst="rect">
            <a:avLst/>
          </a:prstGeom>
          <a:noFill/>
          <a:ln/>
        </p:spPr>
        <p:txBody>
          <a:bodyPr wrap="square" lIns="0" tIns="0" rIns="0" bIns="0" rtlCol="0" anchor="ctr"/>
          <a:lstStyle/>
          <a:p>
            <a:pPr marL="0" indent="0" algn="l">
              <a:buNone/>
            </a:pPr>
            <a:r>
              <a:rPr lang="en-US" sz="3800" b="1" dirty="0">
                <a:solidFill>
                  <a:srgbClr val="14B8A6"/>
                </a:solidFill>
              </a:rPr>
              <a:t>Meal Planning System</a:t>
            </a:r>
            <a:endParaRPr lang="en-US" sz="3800" dirty="0"/>
          </a:p>
        </p:txBody>
      </p:sp>
      <p:sp>
        <p:nvSpPr>
          <p:cNvPr id="12" name="Text 10"/>
          <p:cNvSpPr/>
          <p:nvPr/>
        </p:nvSpPr>
        <p:spPr>
          <a:xfrm>
            <a:off x="548640" y="2366010"/>
            <a:ext cx="1828800" cy="411480"/>
          </a:xfrm>
          <a:prstGeom prst="rect">
            <a:avLst/>
          </a:prstGeom>
          <a:noFill/>
          <a:ln/>
        </p:spPr>
        <p:txBody>
          <a:bodyPr wrap="square" lIns="0" tIns="0" rIns="0" bIns="0" rtlCol="0" anchor="ctr"/>
          <a:lstStyle/>
          <a:p>
            <a:pPr marL="0" indent="0" algn="l">
              <a:buNone/>
            </a:pPr>
            <a:r>
              <a:rPr lang="en-US" sz="1300" b="1" kern="0" spc="500" dirty="0">
                <a:solidFill>
                  <a:srgbClr val="0D9488"/>
                </a:solidFill>
              </a:rPr>
              <a:t>HIMPS</a:t>
            </a:r>
            <a:endParaRPr lang="en-US" sz="1300" dirty="0"/>
          </a:p>
        </p:txBody>
      </p:sp>
      <p:sp>
        <p:nvSpPr>
          <p:cNvPr id="13" name="Text 11"/>
          <p:cNvSpPr/>
          <p:nvPr/>
        </p:nvSpPr>
        <p:spPr>
          <a:xfrm>
            <a:off x="548640" y="2693670"/>
            <a:ext cx="5943600" cy="502920"/>
          </a:xfrm>
          <a:prstGeom prst="rect">
            <a:avLst/>
          </a:prstGeom>
          <a:noFill/>
          <a:ln/>
        </p:spPr>
        <p:txBody>
          <a:bodyPr wrap="square" lIns="0" tIns="0" rIns="0" bIns="0" rtlCol="0" anchor="ctr"/>
          <a:lstStyle/>
          <a:p>
            <a:pPr marL="0" indent="0" algn="l">
              <a:buNone/>
            </a:pPr>
            <a:r>
              <a:rPr lang="en-US" sz="1200" i="1" dirty="0">
                <a:solidFill>
                  <a:srgbClr val="94A3B8"/>
                </a:solidFill>
              </a:rPr>
              <a:t>A Smart Digital Solution for Inpatient Dietary &amp; Nutrition Management</a:t>
            </a:r>
            <a:endParaRPr lang="en-US" sz="1200" dirty="0"/>
          </a:p>
        </p:txBody>
      </p:sp>
      <p:sp>
        <p:nvSpPr>
          <p:cNvPr id="14" name="Text 12"/>
          <p:cNvSpPr/>
          <p:nvPr/>
        </p:nvSpPr>
        <p:spPr>
          <a:xfrm>
            <a:off x="548640" y="3139440"/>
            <a:ext cx="8321040" cy="274320"/>
          </a:xfrm>
          <a:prstGeom prst="rect">
            <a:avLst/>
          </a:prstGeom>
          <a:noFill/>
          <a:ln/>
        </p:spPr>
        <p:txBody>
          <a:bodyPr wrap="square" lIns="0" tIns="0" rIns="0" bIns="0" rtlCol="0" anchor="ctr"/>
          <a:lstStyle/>
          <a:p>
            <a:pPr marL="0" indent="0" algn="l">
              <a:buNone/>
            </a:pPr>
            <a:r>
              <a:rPr lang="en-US" sz="900" kern="0" spc="100" dirty="0">
                <a:solidFill>
                  <a:srgbClr val="14B8A6"/>
                </a:solidFill>
              </a:rPr>
              <a:t>HTML5  ·  CSS3  ·  JavaScript  ·  Node.js  ·  Express.js  ·  localStorage  ·  REST API</a:t>
            </a:r>
            <a:endParaRPr lang="en-US" sz="900" dirty="0"/>
          </a:p>
        </p:txBody>
      </p:sp>
      <p:sp>
        <p:nvSpPr>
          <p:cNvPr id="15" name="Text 13"/>
          <p:cNvSpPr/>
          <p:nvPr/>
        </p:nvSpPr>
        <p:spPr>
          <a:xfrm>
            <a:off x="548640" y="3678936"/>
            <a:ext cx="8321040" cy="457200"/>
          </a:xfrm>
          <a:prstGeom prst="rect">
            <a:avLst/>
          </a:prstGeom>
          <a:noFill/>
          <a:ln/>
        </p:spPr>
        <p:txBody>
          <a:bodyPr wrap="square" lIns="0" tIns="0" rIns="0" bIns="0" rtlCol="0" anchor="ctr"/>
          <a:lstStyle/>
          <a:p>
            <a:r>
              <a:rPr lang="en-US" sz="1100" b="1" dirty="0" smtClean="0">
                <a:solidFill>
                  <a:srgbClr val="02C39A"/>
                </a:solidFill>
              </a:rPr>
              <a:t>                                         </a:t>
            </a:r>
          </a:p>
          <a:p>
            <a:r>
              <a:rPr lang="en-US" sz="1100" b="1" dirty="0">
                <a:solidFill>
                  <a:srgbClr val="02C39A"/>
                </a:solidFill>
              </a:rPr>
              <a:t> </a:t>
            </a:r>
            <a:r>
              <a:rPr lang="en-US" sz="1100" b="1" dirty="0" smtClean="0">
                <a:solidFill>
                  <a:srgbClr val="02C39A"/>
                </a:solidFill>
              </a:rPr>
              <a:t>               Team Members</a:t>
            </a:r>
          </a:p>
          <a:p>
            <a:endParaRPr lang="en-US" sz="1100" dirty="0"/>
          </a:p>
          <a:p>
            <a:r>
              <a:rPr lang="en-US" sz="1100" dirty="0" smtClean="0">
                <a:solidFill>
                  <a:srgbClr val="FFFFFF"/>
                </a:solidFill>
              </a:rPr>
              <a:t>               M </a:t>
            </a:r>
            <a:r>
              <a:rPr lang="en-US" sz="1100" dirty="0" err="1" smtClean="0">
                <a:solidFill>
                  <a:srgbClr val="FFFFFF"/>
                </a:solidFill>
              </a:rPr>
              <a:t>Ramya</a:t>
            </a:r>
            <a:r>
              <a:rPr lang="en-US" sz="1100" dirty="0" smtClean="0">
                <a:solidFill>
                  <a:srgbClr val="FFFFFF"/>
                </a:solidFill>
              </a:rPr>
              <a:t> </a:t>
            </a:r>
            <a:r>
              <a:rPr lang="en-US" sz="1100" dirty="0" err="1" smtClean="0">
                <a:solidFill>
                  <a:srgbClr val="FFFFFF"/>
                </a:solidFill>
              </a:rPr>
              <a:t>Sree</a:t>
            </a:r>
            <a:r>
              <a:rPr lang="en-US" sz="1100" dirty="0" smtClean="0">
                <a:solidFill>
                  <a:srgbClr val="FFFFFF"/>
                </a:solidFill>
              </a:rPr>
              <a:t> - 2520030094</a:t>
            </a:r>
            <a:r>
              <a:rPr lang="en-US" sz="1100" dirty="0" smtClean="0">
                <a:solidFill>
                  <a:srgbClr val="7ABEC8"/>
                </a:solidFill>
              </a:rPr>
              <a:t>     </a:t>
            </a:r>
            <a:r>
              <a:rPr lang="en-US" sz="1100" dirty="0">
                <a:solidFill>
                  <a:srgbClr val="7ABEC8"/>
                </a:solidFill>
              </a:rPr>
              <a:t>|     </a:t>
            </a:r>
            <a:r>
              <a:rPr lang="en-US" sz="1100" dirty="0" smtClean="0">
                <a:solidFill>
                  <a:srgbClr val="FFFFFF"/>
                </a:solidFill>
              </a:rPr>
              <a:t>D </a:t>
            </a:r>
            <a:r>
              <a:rPr lang="en-US" sz="1100" dirty="0" err="1" smtClean="0">
                <a:solidFill>
                  <a:srgbClr val="FFFFFF"/>
                </a:solidFill>
              </a:rPr>
              <a:t>VarunTeja</a:t>
            </a:r>
            <a:r>
              <a:rPr lang="en-US" sz="1100" dirty="0" smtClean="0">
                <a:solidFill>
                  <a:srgbClr val="FFFFFF"/>
                </a:solidFill>
              </a:rPr>
              <a:t> Reddy </a:t>
            </a:r>
            <a:r>
              <a:rPr lang="en-US" sz="1100" dirty="0">
                <a:solidFill>
                  <a:srgbClr val="FFFFFF"/>
                </a:solidFill>
              </a:rPr>
              <a:t>– </a:t>
            </a:r>
            <a:r>
              <a:rPr lang="en-US" sz="1100" dirty="0" smtClean="0">
                <a:solidFill>
                  <a:srgbClr val="FFFFFF"/>
                </a:solidFill>
              </a:rPr>
              <a:t>2520090221</a:t>
            </a:r>
            <a:endParaRPr lang="en-US" sz="1100" dirty="0"/>
          </a:p>
        </p:txBody>
      </p:sp>
      <p:sp>
        <p:nvSpPr>
          <p:cNvPr id="16" name="Text 14"/>
          <p:cNvSpPr/>
          <p:nvPr/>
        </p:nvSpPr>
        <p:spPr>
          <a:xfrm>
            <a:off x="548640" y="4512310"/>
            <a:ext cx="3657600" cy="320040"/>
          </a:xfrm>
          <a:prstGeom prst="rect">
            <a:avLst/>
          </a:prstGeom>
          <a:noFill/>
          <a:ln/>
        </p:spPr>
        <p:txBody>
          <a:bodyPr wrap="square" lIns="0" tIns="0" rIns="0" bIns="0" rtlCol="0" anchor="ctr"/>
          <a:lstStyle/>
          <a:p>
            <a:pPr marL="0" indent="0" algn="l">
              <a:buNone/>
            </a:pPr>
            <a:r>
              <a:rPr lang="en-US" sz="1000" b="1" kern="0" spc="200" dirty="0">
                <a:solidFill>
                  <a:srgbClr val="475569"/>
                </a:solidFill>
              </a:rPr>
              <a:t>KLH BACHUPALLY</a:t>
            </a:r>
            <a:endParaRPr lang="en-US" sz="1000" dirty="0"/>
          </a:p>
        </p:txBody>
      </p:sp>
      <p:pic>
        <p:nvPicPr>
          <p:cNvPr id="17" name="Image 1" descr="preencoded.png"/>
          <p:cNvPicPr>
            <a:picLocks noChangeAspect="1"/>
          </p:cNvPicPr>
          <p:nvPr/>
        </p:nvPicPr>
        <p:blipFill>
          <a:blip r:embed="rId3"/>
          <a:stretch>
            <a:fillRect/>
          </a:stretch>
        </p:blipFill>
        <p:spPr>
          <a:xfrm>
            <a:off x="575818" y="3612798"/>
            <a:ext cx="384048" cy="384048"/>
          </a:xfrm>
          <a:prstGeom prst="rect">
            <a:avLst/>
          </a:prstGeom>
        </p:spPr>
      </p:pic>
    </p:spTree>
    <p:extLst>
      <p:ext uri="{BB962C8B-B14F-4D97-AF65-F5344CB8AC3E}">
        <p14:creationId xmlns:p14="http://schemas.microsoft.com/office/powerpoint/2010/main" val="35161858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w="12700">
            <a:solidFill>
              <a:srgbClr val="0D9488"/>
            </a:solidFill>
            <a:prstDash val="solid"/>
          </a:ln>
        </p:spPr>
      </p:sp>
      <p:sp>
        <p:nvSpPr>
          <p:cNvPr id="3" name="Text 1"/>
          <p:cNvSpPr/>
          <p:nvPr/>
        </p:nvSpPr>
        <p:spPr>
          <a:xfrm>
            <a:off x="320040" y="274320"/>
            <a:ext cx="8503920" cy="457200"/>
          </a:xfrm>
          <a:prstGeom prst="rect">
            <a:avLst/>
          </a:prstGeom>
          <a:noFill/>
          <a:ln/>
        </p:spPr>
        <p:txBody>
          <a:bodyPr wrap="square" lIns="0" tIns="0" rIns="0" bIns="0" rtlCol="0" anchor="ctr"/>
          <a:lstStyle/>
          <a:p>
            <a:pPr marL="0" indent="0">
              <a:buNone/>
            </a:pPr>
            <a:r>
              <a:rPr lang="en-US" sz="2600" b="1" dirty="0">
                <a:solidFill>
                  <a:srgbClr val="0A2463"/>
                </a:solidFill>
                <a:latin typeface="Times New Roman" pitchFamily="18" charset="0"/>
                <a:cs typeface="Times New Roman" pitchFamily="18" charset="0"/>
              </a:rPr>
              <a:t>Table of Contents</a:t>
            </a:r>
            <a:endParaRPr lang="en-US" sz="2600" dirty="0">
              <a:latin typeface="Times New Roman" pitchFamily="18" charset="0"/>
              <a:cs typeface="Times New Roman" pitchFamily="18" charset="0"/>
            </a:endParaRPr>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buNone/>
            </a:pPr>
            <a:r>
              <a:rPr lang="en-US" sz="1000" dirty="0">
                <a:solidFill>
                  <a:srgbClr val="64748B"/>
                </a:solidFill>
                <a:latin typeface="Times New Roman" pitchFamily="18" charset="0"/>
                <a:cs typeface="Times New Roman" pitchFamily="18" charset="0"/>
              </a:rPr>
              <a:t>HIMPS — Hospital Inpatient Meal Planning System</a:t>
            </a:r>
            <a:endParaRPr lang="en-US" sz="1000" dirty="0">
              <a:latin typeface="Times New Roman" pitchFamily="18" charset="0"/>
              <a:cs typeface="Times New Roman" pitchFamily="18" charset="0"/>
            </a:endParaRPr>
          </a:p>
        </p:txBody>
      </p:sp>
      <p:sp>
        <p:nvSpPr>
          <p:cNvPr id="5" name="Shape 3"/>
          <p:cNvSpPr/>
          <p:nvPr/>
        </p:nvSpPr>
        <p:spPr>
          <a:xfrm>
            <a:off x="320040" y="1143000"/>
            <a:ext cx="4206240" cy="59436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6" name="Shape 4"/>
          <p:cNvSpPr/>
          <p:nvPr/>
        </p:nvSpPr>
        <p:spPr>
          <a:xfrm>
            <a:off x="320040" y="1143000"/>
            <a:ext cx="502920" cy="594360"/>
          </a:xfrm>
          <a:prstGeom prst="rect">
            <a:avLst/>
          </a:prstGeom>
          <a:solidFill>
            <a:srgbClr val="0D9488"/>
          </a:solidFill>
          <a:ln w="12700">
            <a:solidFill>
              <a:srgbClr val="0D9488"/>
            </a:solidFill>
            <a:prstDash val="solid"/>
          </a:ln>
        </p:spPr>
      </p:sp>
      <p:sp>
        <p:nvSpPr>
          <p:cNvPr id="7" name="Text 5"/>
          <p:cNvSpPr/>
          <p:nvPr/>
        </p:nvSpPr>
        <p:spPr>
          <a:xfrm>
            <a:off x="320040" y="1143000"/>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18" charset="0"/>
                <a:cs typeface="Times New Roman" pitchFamily="18" charset="0"/>
              </a:rPr>
              <a:t>01</a:t>
            </a:r>
            <a:endParaRPr lang="en-US" sz="1600" dirty="0">
              <a:latin typeface="Times New Roman" pitchFamily="18" charset="0"/>
              <a:cs typeface="Times New Roman" pitchFamily="18" charset="0"/>
            </a:endParaRPr>
          </a:p>
        </p:txBody>
      </p:sp>
      <p:sp>
        <p:nvSpPr>
          <p:cNvPr id="8" name="Text 6"/>
          <p:cNvSpPr/>
          <p:nvPr/>
        </p:nvSpPr>
        <p:spPr>
          <a:xfrm>
            <a:off x="914400" y="1216152"/>
            <a:ext cx="3520440" cy="457200"/>
          </a:xfrm>
          <a:prstGeom prst="rect">
            <a:avLst/>
          </a:prstGeom>
          <a:noFill/>
          <a:ln/>
        </p:spPr>
        <p:txBody>
          <a:bodyPr wrap="square" lIns="0" tIns="0" rIns="0" bIns="0" rtlCol="0" anchor="ctr"/>
          <a:lstStyle/>
          <a:p>
            <a:pPr marL="0" indent="0" algn="l">
              <a:buNone/>
            </a:pPr>
            <a:r>
              <a:rPr lang="en-US" sz="1200" dirty="0">
                <a:solidFill>
                  <a:srgbClr val="334155"/>
                </a:solidFill>
                <a:latin typeface="Times New Roman" pitchFamily="18" charset="0"/>
                <a:cs typeface="Times New Roman" pitchFamily="18" charset="0"/>
              </a:rPr>
              <a:t>Abstract &amp; Problem Statement</a:t>
            </a:r>
            <a:endParaRPr lang="en-US" sz="1200" dirty="0">
              <a:latin typeface="Times New Roman" pitchFamily="18" charset="0"/>
              <a:cs typeface="Times New Roman" pitchFamily="18" charset="0"/>
            </a:endParaRPr>
          </a:p>
        </p:txBody>
      </p:sp>
      <p:sp>
        <p:nvSpPr>
          <p:cNvPr id="9" name="Shape 7"/>
          <p:cNvSpPr/>
          <p:nvPr/>
        </p:nvSpPr>
        <p:spPr>
          <a:xfrm>
            <a:off x="320040" y="1892808"/>
            <a:ext cx="4206240" cy="59436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0" name="Shape 8"/>
          <p:cNvSpPr/>
          <p:nvPr/>
        </p:nvSpPr>
        <p:spPr>
          <a:xfrm>
            <a:off x="320040" y="1892808"/>
            <a:ext cx="502920" cy="594360"/>
          </a:xfrm>
          <a:prstGeom prst="rect">
            <a:avLst/>
          </a:prstGeom>
          <a:solidFill>
            <a:srgbClr val="0A2463"/>
          </a:solidFill>
          <a:ln w="12700">
            <a:solidFill>
              <a:srgbClr val="0A2463"/>
            </a:solidFill>
            <a:prstDash val="solid"/>
          </a:ln>
        </p:spPr>
      </p:sp>
      <p:sp>
        <p:nvSpPr>
          <p:cNvPr id="11" name="Text 9"/>
          <p:cNvSpPr/>
          <p:nvPr/>
        </p:nvSpPr>
        <p:spPr>
          <a:xfrm>
            <a:off x="320040" y="1892808"/>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18" charset="0"/>
                <a:cs typeface="Times New Roman" pitchFamily="18" charset="0"/>
              </a:rPr>
              <a:t>02</a:t>
            </a:r>
            <a:endParaRPr lang="en-US" sz="1600" dirty="0">
              <a:latin typeface="Times New Roman" pitchFamily="18" charset="0"/>
              <a:cs typeface="Times New Roman" pitchFamily="18" charset="0"/>
            </a:endParaRPr>
          </a:p>
        </p:txBody>
      </p:sp>
      <p:sp>
        <p:nvSpPr>
          <p:cNvPr id="12" name="Text 10"/>
          <p:cNvSpPr/>
          <p:nvPr/>
        </p:nvSpPr>
        <p:spPr>
          <a:xfrm>
            <a:off x="914400" y="1965960"/>
            <a:ext cx="3520440" cy="457200"/>
          </a:xfrm>
          <a:prstGeom prst="rect">
            <a:avLst/>
          </a:prstGeom>
          <a:noFill/>
          <a:ln/>
        </p:spPr>
        <p:txBody>
          <a:bodyPr wrap="square" lIns="0" tIns="0" rIns="0" bIns="0" rtlCol="0" anchor="ctr"/>
          <a:lstStyle/>
          <a:p>
            <a:pPr marL="0" indent="0" algn="l">
              <a:buNone/>
            </a:pPr>
            <a:r>
              <a:rPr lang="en-US" sz="1200" dirty="0">
                <a:solidFill>
                  <a:srgbClr val="334155"/>
                </a:solidFill>
                <a:latin typeface="Times New Roman" pitchFamily="18" charset="0"/>
                <a:cs typeface="Times New Roman" pitchFamily="18" charset="0"/>
              </a:rPr>
              <a:t>Project Overview &amp; Objectives</a:t>
            </a:r>
            <a:endParaRPr lang="en-US" sz="1200" dirty="0">
              <a:latin typeface="Times New Roman" pitchFamily="18" charset="0"/>
              <a:cs typeface="Times New Roman" pitchFamily="18" charset="0"/>
            </a:endParaRPr>
          </a:p>
        </p:txBody>
      </p:sp>
      <p:sp>
        <p:nvSpPr>
          <p:cNvPr id="13" name="Shape 11"/>
          <p:cNvSpPr/>
          <p:nvPr/>
        </p:nvSpPr>
        <p:spPr>
          <a:xfrm>
            <a:off x="320040" y="2642616"/>
            <a:ext cx="4206240" cy="59436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4" name="Shape 12"/>
          <p:cNvSpPr/>
          <p:nvPr/>
        </p:nvSpPr>
        <p:spPr>
          <a:xfrm>
            <a:off x="320040" y="2642616"/>
            <a:ext cx="502920" cy="594360"/>
          </a:xfrm>
          <a:prstGeom prst="rect">
            <a:avLst/>
          </a:prstGeom>
          <a:solidFill>
            <a:srgbClr val="0D9488"/>
          </a:solidFill>
          <a:ln w="12700">
            <a:solidFill>
              <a:srgbClr val="0D9488"/>
            </a:solidFill>
            <a:prstDash val="solid"/>
          </a:ln>
        </p:spPr>
      </p:sp>
      <p:sp>
        <p:nvSpPr>
          <p:cNvPr id="15" name="Text 13"/>
          <p:cNvSpPr/>
          <p:nvPr/>
        </p:nvSpPr>
        <p:spPr>
          <a:xfrm>
            <a:off x="320040" y="2642616"/>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18" charset="0"/>
                <a:cs typeface="Times New Roman" pitchFamily="18" charset="0"/>
              </a:rPr>
              <a:t>03</a:t>
            </a:r>
            <a:endParaRPr lang="en-US" sz="1600" dirty="0">
              <a:latin typeface="Times New Roman" pitchFamily="18" charset="0"/>
              <a:cs typeface="Times New Roman" pitchFamily="18" charset="0"/>
            </a:endParaRPr>
          </a:p>
        </p:txBody>
      </p:sp>
      <p:sp>
        <p:nvSpPr>
          <p:cNvPr id="16" name="Text 14"/>
          <p:cNvSpPr/>
          <p:nvPr/>
        </p:nvSpPr>
        <p:spPr>
          <a:xfrm>
            <a:off x="914400" y="2715768"/>
            <a:ext cx="3520440" cy="457200"/>
          </a:xfrm>
          <a:prstGeom prst="rect">
            <a:avLst/>
          </a:prstGeom>
          <a:noFill/>
          <a:ln/>
        </p:spPr>
        <p:txBody>
          <a:bodyPr wrap="square" lIns="0" tIns="0" rIns="0" bIns="0" rtlCol="0" anchor="ctr"/>
          <a:lstStyle/>
          <a:p>
            <a:pPr marL="0" indent="0" algn="l">
              <a:buNone/>
            </a:pPr>
            <a:r>
              <a:rPr lang="en-US" sz="1200" dirty="0">
                <a:solidFill>
                  <a:srgbClr val="334155"/>
                </a:solidFill>
                <a:latin typeface="Times New Roman" pitchFamily="18" charset="0"/>
                <a:cs typeface="Times New Roman" pitchFamily="18" charset="0"/>
              </a:rPr>
              <a:t>System Architecture (Class Diagram)</a:t>
            </a:r>
            <a:endParaRPr lang="en-US" sz="1200" dirty="0">
              <a:latin typeface="Times New Roman" pitchFamily="18" charset="0"/>
              <a:cs typeface="Times New Roman" pitchFamily="18" charset="0"/>
            </a:endParaRPr>
          </a:p>
        </p:txBody>
      </p:sp>
      <p:sp>
        <p:nvSpPr>
          <p:cNvPr id="17" name="Shape 15"/>
          <p:cNvSpPr/>
          <p:nvPr/>
        </p:nvSpPr>
        <p:spPr>
          <a:xfrm>
            <a:off x="320040" y="3392424"/>
            <a:ext cx="4206240" cy="59436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8" name="Shape 16"/>
          <p:cNvSpPr/>
          <p:nvPr/>
        </p:nvSpPr>
        <p:spPr>
          <a:xfrm>
            <a:off x="320040" y="3392424"/>
            <a:ext cx="502920" cy="594360"/>
          </a:xfrm>
          <a:prstGeom prst="rect">
            <a:avLst/>
          </a:prstGeom>
          <a:solidFill>
            <a:srgbClr val="0A2463"/>
          </a:solidFill>
          <a:ln w="12700">
            <a:solidFill>
              <a:srgbClr val="0A2463"/>
            </a:solidFill>
            <a:prstDash val="solid"/>
          </a:ln>
        </p:spPr>
      </p:sp>
      <p:sp>
        <p:nvSpPr>
          <p:cNvPr id="19" name="Text 17"/>
          <p:cNvSpPr/>
          <p:nvPr/>
        </p:nvSpPr>
        <p:spPr>
          <a:xfrm>
            <a:off x="320040" y="3392424"/>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18" charset="0"/>
                <a:cs typeface="Times New Roman" pitchFamily="18" charset="0"/>
              </a:rPr>
              <a:t>04</a:t>
            </a:r>
            <a:endParaRPr lang="en-US" sz="1600" dirty="0">
              <a:latin typeface="Times New Roman" pitchFamily="18" charset="0"/>
              <a:cs typeface="Times New Roman" pitchFamily="18" charset="0"/>
            </a:endParaRPr>
          </a:p>
        </p:txBody>
      </p:sp>
      <p:sp>
        <p:nvSpPr>
          <p:cNvPr id="20" name="Text 18"/>
          <p:cNvSpPr/>
          <p:nvPr/>
        </p:nvSpPr>
        <p:spPr>
          <a:xfrm>
            <a:off x="914400" y="3465576"/>
            <a:ext cx="3520440" cy="457200"/>
          </a:xfrm>
          <a:prstGeom prst="rect">
            <a:avLst/>
          </a:prstGeom>
          <a:noFill/>
          <a:ln/>
        </p:spPr>
        <p:txBody>
          <a:bodyPr wrap="square" lIns="0" tIns="0" rIns="0" bIns="0" rtlCol="0" anchor="ctr"/>
          <a:lstStyle/>
          <a:p>
            <a:pPr marL="0" indent="0" algn="l">
              <a:buNone/>
            </a:pPr>
            <a:r>
              <a:rPr lang="en-US" sz="1200" dirty="0">
                <a:solidFill>
                  <a:srgbClr val="334155"/>
                </a:solidFill>
                <a:latin typeface="Times New Roman" pitchFamily="18" charset="0"/>
                <a:cs typeface="Times New Roman" pitchFamily="18" charset="0"/>
              </a:rPr>
              <a:t>Key Features &amp; Modules</a:t>
            </a:r>
            <a:endParaRPr lang="en-US" sz="1200" dirty="0">
              <a:latin typeface="Times New Roman" pitchFamily="18" charset="0"/>
              <a:cs typeface="Times New Roman" pitchFamily="18" charset="0"/>
            </a:endParaRPr>
          </a:p>
        </p:txBody>
      </p:sp>
      <p:sp>
        <p:nvSpPr>
          <p:cNvPr id="21" name="Shape 19"/>
          <p:cNvSpPr/>
          <p:nvPr/>
        </p:nvSpPr>
        <p:spPr>
          <a:xfrm>
            <a:off x="320040" y="4142232"/>
            <a:ext cx="4206240" cy="59436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2" name="Shape 20"/>
          <p:cNvSpPr/>
          <p:nvPr/>
        </p:nvSpPr>
        <p:spPr>
          <a:xfrm>
            <a:off x="320040" y="4142232"/>
            <a:ext cx="502920" cy="594360"/>
          </a:xfrm>
          <a:prstGeom prst="rect">
            <a:avLst/>
          </a:prstGeom>
          <a:solidFill>
            <a:srgbClr val="0D9488"/>
          </a:solidFill>
          <a:ln w="12700">
            <a:solidFill>
              <a:srgbClr val="0D9488"/>
            </a:solidFill>
            <a:prstDash val="solid"/>
          </a:ln>
        </p:spPr>
      </p:sp>
      <p:sp>
        <p:nvSpPr>
          <p:cNvPr id="23" name="Text 21"/>
          <p:cNvSpPr/>
          <p:nvPr/>
        </p:nvSpPr>
        <p:spPr>
          <a:xfrm>
            <a:off x="320040" y="4142232"/>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18" charset="0"/>
                <a:cs typeface="Times New Roman" pitchFamily="18" charset="0"/>
              </a:rPr>
              <a:t>05</a:t>
            </a:r>
            <a:endParaRPr lang="en-US" sz="1600" dirty="0">
              <a:latin typeface="Times New Roman" pitchFamily="18" charset="0"/>
              <a:cs typeface="Times New Roman" pitchFamily="18" charset="0"/>
            </a:endParaRPr>
          </a:p>
        </p:txBody>
      </p:sp>
      <p:sp>
        <p:nvSpPr>
          <p:cNvPr id="24" name="Text 22"/>
          <p:cNvSpPr/>
          <p:nvPr/>
        </p:nvSpPr>
        <p:spPr>
          <a:xfrm>
            <a:off x="914400" y="4215384"/>
            <a:ext cx="3520440" cy="457200"/>
          </a:xfrm>
          <a:prstGeom prst="rect">
            <a:avLst/>
          </a:prstGeom>
          <a:noFill/>
          <a:ln/>
        </p:spPr>
        <p:txBody>
          <a:bodyPr wrap="square" lIns="0" tIns="0" rIns="0" bIns="0" rtlCol="0" anchor="ctr"/>
          <a:lstStyle/>
          <a:p>
            <a:pPr marL="0" indent="0" algn="l">
              <a:buNone/>
            </a:pPr>
            <a:r>
              <a:rPr lang="en-US" sz="1200" dirty="0">
                <a:solidFill>
                  <a:srgbClr val="334155"/>
                </a:solidFill>
                <a:latin typeface="Times New Roman" pitchFamily="18" charset="0"/>
                <a:cs typeface="Times New Roman" pitchFamily="18" charset="0"/>
              </a:rPr>
              <a:t>Dietary Profile &amp; Allergy Check</a:t>
            </a:r>
            <a:endParaRPr lang="en-US" sz="1200" dirty="0">
              <a:latin typeface="Times New Roman" pitchFamily="18" charset="0"/>
              <a:cs typeface="Times New Roman" pitchFamily="18" charset="0"/>
            </a:endParaRPr>
          </a:p>
        </p:txBody>
      </p:sp>
      <p:sp>
        <p:nvSpPr>
          <p:cNvPr id="25" name="Shape 23"/>
          <p:cNvSpPr/>
          <p:nvPr/>
        </p:nvSpPr>
        <p:spPr>
          <a:xfrm>
            <a:off x="4754880" y="1143000"/>
            <a:ext cx="4206240" cy="59436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6" name="Shape 24"/>
          <p:cNvSpPr/>
          <p:nvPr/>
        </p:nvSpPr>
        <p:spPr>
          <a:xfrm>
            <a:off x="4754880" y="1143000"/>
            <a:ext cx="502920" cy="594360"/>
          </a:xfrm>
          <a:prstGeom prst="rect">
            <a:avLst/>
          </a:prstGeom>
          <a:solidFill>
            <a:srgbClr val="0D9488"/>
          </a:solidFill>
          <a:ln w="12700">
            <a:solidFill>
              <a:srgbClr val="0D9488"/>
            </a:solidFill>
            <a:prstDash val="solid"/>
          </a:ln>
        </p:spPr>
      </p:sp>
      <p:sp>
        <p:nvSpPr>
          <p:cNvPr id="27" name="Text 25"/>
          <p:cNvSpPr/>
          <p:nvPr/>
        </p:nvSpPr>
        <p:spPr>
          <a:xfrm>
            <a:off x="4754880" y="1143000"/>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18" charset="0"/>
                <a:cs typeface="Times New Roman" pitchFamily="18" charset="0"/>
              </a:rPr>
              <a:t>06</a:t>
            </a:r>
            <a:endParaRPr lang="en-US" sz="1600" dirty="0">
              <a:latin typeface="Times New Roman" pitchFamily="18" charset="0"/>
              <a:cs typeface="Times New Roman" pitchFamily="18" charset="0"/>
            </a:endParaRPr>
          </a:p>
        </p:txBody>
      </p:sp>
      <p:sp>
        <p:nvSpPr>
          <p:cNvPr id="28" name="Text 26"/>
          <p:cNvSpPr/>
          <p:nvPr/>
        </p:nvSpPr>
        <p:spPr>
          <a:xfrm>
            <a:off x="5349240" y="1216152"/>
            <a:ext cx="3520440" cy="457200"/>
          </a:xfrm>
          <a:prstGeom prst="rect">
            <a:avLst/>
          </a:prstGeom>
          <a:noFill/>
          <a:ln/>
        </p:spPr>
        <p:txBody>
          <a:bodyPr wrap="square" lIns="0" tIns="0" rIns="0" bIns="0" rtlCol="0" anchor="ctr"/>
          <a:lstStyle/>
          <a:p>
            <a:pPr marL="0" indent="0" algn="l">
              <a:buNone/>
            </a:pPr>
            <a:r>
              <a:rPr lang="en-US" sz="1200" dirty="0">
                <a:solidFill>
                  <a:srgbClr val="334155"/>
                </a:solidFill>
                <a:latin typeface="Times New Roman" pitchFamily="18" charset="0"/>
                <a:cs typeface="Times New Roman" pitchFamily="18" charset="0"/>
              </a:rPr>
              <a:t>Meal Planner &amp; Calorie Calculator</a:t>
            </a:r>
            <a:endParaRPr lang="en-US" sz="1200" dirty="0">
              <a:latin typeface="Times New Roman" pitchFamily="18" charset="0"/>
              <a:cs typeface="Times New Roman" pitchFamily="18" charset="0"/>
            </a:endParaRPr>
          </a:p>
        </p:txBody>
      </p:sp>
      <p:sp>
        <p:nvSpPr>
          <p:cNvPr id="29" name="Shape 27"/>
          <p:cNvSpPr/>
          <p:nvPr/>
        </p:nvSpPr>
        <p:spPr>
          <a:xfrm>
            <a:off x="4754880" y="1892808"/>
            <a:ext cx="4206240" cy="59436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0" name="Shape 28"/>
          <p:cNvSpPr/>
          <p:nvPr/>
        </p:nvSpPr>
        <p:spPr>
          <a:xfrm>
            <a:off x="4754880" y="1892808"/>
            <a:ext cx="502920" cy="594360"/>
          </a:xfrm>
          <a:prstGeom prst="rect">
            <a:avLst/>
          </a:prstGeom>
          <a:solidFill>
            <a:srgbClr val="0A2463"/>
          </a:solidFill>
          <a:ln w="12700">
            <a:solidFill>
              <a:srgbClr val="0A2463"/>
            </a:solidFill>
            <a:prstDash val="solid"/>
          </a:ln>
        </p:spPr>
      </p:sp>
      <p:sp>
        <p:nvSpPr>
          <p:cNvPr id="31" name="Text 29"/>
          <p:cNvSpPr/>
          <p:nvPr/>
        </p:nvSpPr>
        <p:spPr>
          <a:xfrm>
            <a:off x="4754880" y="1892808"/>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18" charset="0"/>
                <a:cs typeface="Times New Roman" pitchFamily="18" charset="0"/>
              </a:rPr>
              <a:t>07</a:t>
            </a:r>
            <a:endParaRPr lang="en-US" sz="1600" dirty="0">
              <a:latin typeface="Times New Roman" pitchFamily="18" charset="0"/>
              <a:cs typeface="Times New Roman" pitchFamily="18" charset="0"/>
            </a:endParaRPr>
          </a:p>
        </p:txBody>
      </p:sp>
      <p:sp>
        <p:nvSpPr>
          <p:cNvPr id="32" name="Text 30"/>
          <p:cNvSpPr/>
          <p:nvPr/>
        </p:nvSpPr>
        <p:spPr>
          <a:xfrm>
            <a:off x="5349240" y="1965960"/>
            <a:ext cx="3520440" cy="457200"/>
          </a:xfrm>
          <a:prstGeom prst="rect">
            <a:avLst/>
          </a:prstGeom>
          <a:noFill/>
          <a:ln/>
        </p:spPr>
        <p:txBody>
          <a:bodyPr wrap="square" lIns="0" tIns="0" rIns="0" bIns="0" rtlCol="0" anchor="ctr"/>
          <a:lstStyle/>
          <a:p>
            <a:pPr marL="0" indent="0" algn="l">
              <a:buNone/>
            </a:pPr>
            <a:r>
              <a:rPr lang="en-US" sz="1200" dirty="0">
                <a:solidFill>
                  <a:srgbClr val="334155"/>
                </a:solidFill>
                <a:latin typeface="Times New Roman" pitchFamily="18" charset="0"/>
                <a:cs typeface="Times New Roman" pitchFamily="18" charset="0"/>
              </a:rPr>
              <a:t>Kitchen Orders &amp; Approvals</a:t>
            </a:r>
            <a:endParaRPr lang="en-US" sz="1200" dirty="0">
              <a:latin typeface="Times New Roman" pitchFamily="18" charset="0"/>
              <a:cs typeface="Times New Roman" pitchFamily="18" charset="0"/>
            </a:endParaRPr>
          </a:p>
        </p:txBody>
      </p:sp>
      <p:sp>
        <p:nvSpPr>
          <p:cNvPr id="33" name="Shape 31"/>
          <p:cNvSpPr/>
          <p:nvPr/>
        </p:nvSpPr>
        <p:spPr>
          <a:xfrm>
            <a:off x="4754880" y="2642616"/>
            <a:ext cx="4206240" cy="59436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4" name="Shape 32"/>
          <p:cNvSpPr/>
          <p:nvPr/>
        </p:nvSpPr>
        <p:spPr>
          <a:xfrm>
            <a:off x="4754880" y="2642616"/>
            <a:ext cx="502920" cy="594360"/>
          </a:xfrm>
          <a:prstGeom prst="rect">
            <a:avLst/>
          </a:prstGeom>
          <a:solidFill>
            <a:srgbClr val="0D9488"/>
          </a:solidFill>
          <a:ln w="12700">
            <a:solidFill>
              <a:srgbClr val="0D9488"/>
            </a:solidFill>
            <a:prstDash val="solid"/>
          </a:ln>
        </p:spPr>
      </p:sp>
      <p:sp>
        <p:nvSpPr>
          <p:cNvPr id="35" name="Text 33"/>
          <p:cNvSpPr/>
          <p:nvPr/>
        </p:nvSpPr>
        <p:spPr>
          <a:xfrm>
            <a:off x="4754880" y="2642616"/>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18" charset="0"/>
                <a:cs typeface="Times New Roman" pitchFamily="18" charset="0"/>
              </a:rPr>
              <a:t>08</a:t>
            </a:r>
            <a:endParaRPr lang="en-US" sz="1600" dirty="0">
              <a:latin typeface="Times New Roman" pitchFamily="18" charset="0"/>
              <a:cs typeface="Times New Roman" pitchFamily="18" charset="0"/>
            </a:endParaRPr>
          </a:p>
        </p:txBody>
      </p:sp>
      <p:sp>
        <p:nvSpPr>
          <p:cNvPr id="36" name="Text 34"/>
          <p:cNvSpPr/>
          <p:nvPr/>
        </p:nvSpPr>
        <p:spPr>
          <a:xfrm>
            <a:off x="5349240" y="2715768"/>
            <a:ext cx="3520440" cy="457200"/>
          </a:xfrm>
          <a:prstGeom prst="rect">
            <a:avLst/>
          </a:prstGeom>
          <a:noFill/>
          <a:ln/>
        </p:spPr>
        <p:txBody>
          <a:bodyPr wrap="square" lIns="0" tIns="0" rIns="0" bIns="0" rtlCol="0" anchor="ctr"/>
          <a:lstStyle/>
          <a:p>
            <a:pPr marL="0" indent="0" algn="l">
              <a:buNone/>
            </a:pPr>
            <a:r>
              <a:rPr lang="en-US" sz="1200" dirty="0">
                <a:solidFill>
                  <a:srgbClr val="334155"/>
                </a:solidFill>
                <a:latin typeface="Times New Roman" pitchFamily="18" charset="0"/>
                <a:cs typeface="Times New Roman" pitchFamily="18" charset="0"/>
              </a:rPr>
              <a:t>Technical Stack</a:t>
            </a:r>
            <a:endParaRPr lang="en-US" sz="1200" dirty="0">
              <a:latin typeface="Times New Roman" pitchFamily="18" charset="0"/>
              <a:cs typeface="Times New Roman" pitchFamily="18" charset="0"/>
            </a:endParaRPr>
          </a:p>
        </p:txBody>
      </p:sp>
      <p:sp>
        <p:nvSpPr>
          <p:cNvPr id="37" name="Shape 35"/>
          <p:cNvSpPr/>
          <p:nvPr/>
        </p:nvSpPr>
        <p:spPr>
          <a:xfrm>
            <a:off x="4754880" y="3392424"/>
            <a:ext cx="4206240" cy="59436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8" name="Shape 36"/>
          <p:cNvSpPr/>
          <p:nvPr/>
        </p:nvSpPr>
        <p:spPr>
          <a:xfrm>
            <a:off x="4754880" y="3392424"/>
            <a:ext cx="502920" cy="594360"/>
          </a:xfrm>
          <a:prstGeom prst="rect">
            <a:avLst/>
          </a:prstGeom>
          <a:solidFill>
            <a:srgbClr val="0A2463"/>
          </a:solidFill>
          <a:ln w="12700">
            <a:solidFill>
              <a:srgbClr val="0A2463"/>
            </a:solidFill>
            <a:prstDash val="solid"/>
          </a:ln>
        </p:spPr>
      </p:sp>
      <p:sp>
        <p:nvSpPr>
          <p:cNvPr id="39" name="Text 37"/>
          <p:cNvSpPr/>
          <p:nvPr/>
        </p:nvSpPr>
        <p:spPr>
          <a:xfrm>
            <a:off x="4754880" y="3392424"/>
            <a:ext cx="502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18" charset="0"/>
                <a:cs typeface="Times New Roman" pitchFamily="18" charset="0"/>
              </a:rPr>
              <a:t>09</a:t>
            </a:r>
            <a:endParaRPr lang="en-US" sz="1600" dirty="0">
              <a:latin typeface="Times New Roman" pitchFamily="18" charset="0"/>
              <a:cs typeface="Times New Roman" pitchFamily="18" charset="0"/>
            </a:endParaRPr>
          </a:p>
        </p:txBody>
      </p:sp>
      <p:sp>
        <p:nvSpPr>
          <p:cNvPr id="40" name="Text 38"/>
          <p:cNvSpPr/>
          <p:nvPr/>
        </p:nvSpPr>
        <p:spPr>
          <a:xfrm>
            <a:off x="5349240" y="3465576"/>
            <a:ext cx="3520440" cy="457200"/>
          </a:xfrm>
          <a:prstGeom prst="rect">
            <a:avLst/>
          </a:prstGeom>
          <a:noFill/>
          <a:ln/>
        </p:spPr>
        <p:txBody>
          <a:bodyPr wrap="square" lIns="0" tIns="0" rIns="0" bIns="0" rtlCol="0" anchor="ctr"/>
          <a:lstStyle/>
          <a:p>
            <a:pPr marL="0" indent="0" algn="l">
              <a:buNone/>
            </a:pPr>
            <a:r>
              <a:rPr lang="en-US" sz="1200" dirty="0">
                <a:solidFill>
                  <a:srgbClr val="334155"/>
                </a:solidFill>
                <a:latin typeface="Times New Roman" pitchFamily="18" charset="0"/>
                <a:cs typeface="Times New Roman" pitchFamily="18" charset="0"/>
              </a:rPr>
              <a:t>Course Outcome Mapping</a:t>
            </a:r>
            <a:endParaRPr lang="en-US" sz="12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w="12700">
            <a:solidFill>
              <a:srgbClr val="0D9488"/>
            </a:solidFill>
            <a:prstDash val="solid"/>
          </a:ln>
        </p:spPr>
      </p:sp>
      <p:sp>
        <p:nvSpPr>
          <p:cNvPr id="3" name="Text 1"/>
          <p:cNvSpPr/>
          <p:nvPr/>
        </p:nvSpPr>
        <p:spPr>
          <a:xfrm>
            <a:off x="320040" y="256032"/>
            <a:ext cx="8503920" cy="411480"/>
          </a:xfrm>
          <a:prstGeom prst="rect">
            <a:avLst/>
          </a:prstGeom>
          <a:noFill/>
          <a:ln/>
        </p:spPr>
        <p:txBody>
          <a:bodyPr wrap="square" lIns="0" tIns="0" rIns="0" bIns="0" rtlCol="0" anchor="ctr"/>
          <a:lstStyle/>
          <a:p>
            <a:pPr marL="0" indent="0">
              <a:buNone/>
            </a:pPr>
            <a:r>
              <a:rPr lang="en-US" sz="2400" b="1" dirty="0">
                <a:solidFill>
                  <a:srgbClr val="0A2463"/>
                </a:solidFill>
                <a:latin typeface="Times New Roman" pitchFamily="18" charset="0"/>
                <a:cs typeface="Times New Roman" pitchFamily="18" charset="0"/>
              </a:rPr>
              <a:t>Abstract &amp; Problem Statement</a:t>
            </a:r>
            <a:endParaRPr lang="en-US" sz="2400" dirty="0">
              <a:latin typeface="Times New Roman" pitchFamily="18" charset="0"/>
              <a:cs typeface="Times New Roman" pitchFamily="18" charset="0"/>
            </a:endParaRPr>
          </a:p>
        </p:txBody>
      </p:sp>
      <p:sp>
        <p:nvSpPr>
          <p:cNvPr id="4" name="Shape 2"/>
          <p:cNvSpPr/>
          <p:nvPr/>
        </p:nvSpPr>
        <p:spPr>
          <a:xfrm>
            <a:off x="320040" y="749808"/>
            <a:ext cx="1097280" cy="274320"/>
          </a:xfrm>
          <a:prstGeom prst="roundRect">
            <a:avLst>
              <a:gd name="adj" fmla="val 16667"/>
            </a:avLst>
          </a:prstGeom>
          <a:solidFill>
            <a:srgbClr val="0D9488"/>
          </a:solidFill>
          <a:ln w="12700">
            <a:solidFill>
              <a:srgbClr val="0D9488"/>
            </a:solidFill>
            <a:prstDash val="solid"/>
          </a:ln>
        </p:spPr>
      </p:sp>
      <p:sp>
        <p:nvSpPr>
          <p:cNvPr id="5" name="Text 3"/>
          <p:cNvSpPr/>
          <p:nvPr/>
        </p:nvSpPr>
        <p:spPr>
          <a:xfrm>
            <a:off x="320040" y="749808"/>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18" charset="0"/>
                <a:cs typeface="Times New Roman" pitchFamily="18" charset="0"/>
              </a:rPr>
              <a:t>OVERVIEW</a:t>
            </a:r>
            <a:endParaRPr lang="en-US" sz="900" dirty="0">
              <a:latin typeface="Times New Roman" pitchFamily="18" charset="0"/>
              <a:cs typeface="Times New Roman" pitchFamily="18" charset="0"/>
            </a:endParaRPr>
          </a:p>
        </p:txBody>
      </p:sp>
      <p:sp>
        <p:nvSpPr>
          <p:cNvPr id="6" name="Shape 4"/>
          <p:cNvSpPr/>
          <p:nvPr/>
        </p:nvSpPr>
        <p:spPr>
          <a:xfrm>
            <a:off x="320040" y="1078992"/>
            <a:ext cx="8503920" cy="123444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7" name="Shape 5"/>
          <p:cNvSpPr/>
          <p:nvPr/>
        </p:nvSpPr>
        <p:spPr>
          <a:xfrm>
            <a:off x="320040" y="1078992"/>
            <a:ext cx="54864" cy="1234440"/>
          </a:xfrm>
          <a:prstGeom prst="rect">
            <a:avLst/>
          </a:prstGeom>
          <a:solidFill>
            <a:srgbClr val="0D9488"/>
          </a:solidFill>
          <a:ln w="12700">
            <a:solidFill>
              <a:srgbClr val="0D9488"/>
            </a:solidFill>
            <a:prstDash val="solid"/>
          </a:ln>
        </p:spPr>
      </p:sp>
      <p:sp>
        <p:nvSpPr>
          <p:cNvPr id="8" name="Text 6"/>
          <p:cNvSpPr/>
          <p:nvPr/>
        </p:nvSpPr>
        <p:spPr>
          <a:xfrm>
            <a:off x="502920" y="1143000"/>
            <a:ext cx="8229600" cy="1097280"/>
          </a:xfrm>
          <a:prstGeom prst="rect">
            <a:avLst/>
          </a:prstGeom>
          <a:noFill/>
          <a:ln/>
        </p:spPr>
        <p:txBody>
          <a:bodyPr wrap="square" lIns="0" tIns="0" rIns="0" bIns="0" rtlCol="0" anchor="t"/>
          <a:lstStyle/>
          <a:p>
            <a:pPr marL="0" indent="0" algn="just">
              <a:buNone/>
            </a:pPr>
            <a:endParaRPr lang="en-US" sz="1150" dirty="0" smtClean="0">
              <a:solidFill>
                <a:srgbClr val="334155"/>
              </a:solidFill>
              <a:latin typeface="Times New Roman" pitchFamily="18" charset="0"/>
              <a:cs typeface="Times New Roman" pitchFamily="18" charset="0"/>
            </a:endParaRPr>
          </a:p>
          <a:p>
            <a:pPr marL="0" indent="0" algn="just">
              <a:buNone/>
            </a:pPr>
            <a:r>
              <a:rPr lang="en-US" sz="1150" dirty="0" smtClean="0">
                <a:solidFill>
                  <a:srgbClr val="334155"/>
                </a:solidFill>
                <a:latin typeface="Times New Roman" pitchFamily="18" charset="0"/>
                <a:cs typeface="Times New Roman" pitchFamily="18" charset="0"/>
              </a:rPr>
              <a:t>HIMPS </a:t>
            </a:r>
            <a:r>
              <a:rPr lang="en-US" sz="1150" dirty="0">
                <a:solidFill>
                  <a:srgbClr val="334155"/>
                </a:solidFill>
                <a:latin typeface="Times New Roman" pitchFamily="18" charset="0"/>
                <a:cs typeface="Times New Roman" pitchFamily="18" charset="0"/>
              </a:rPr>
              <a:t>(Hospital Inpatient Meal Planning System) is a fully functional, role-based web platform for hospital nutrition management. It enables staff to manage patient dietary profiles, allergies, caloric requirements, meal planning, kitchen orders, and approval workflows in one centralized system. Built using HTML5, CSS3, Vanilla JavaScript, and Node.js/Express.js with localStorage and JSON file storage. Designed for Admins, Dietitians, Nurses, and Kitchen Staff with role-based access control.</a:t>
            </a:r>
            <a:endParaRPr lang="en-US" sz="1150" dirty="0">
              <a:latin typeface="Times New Roman" pitchFamily="18" charset="0"/>
              <a:cs typeface="Times New Roman" pitchFamily="18" charset="0"/>
            </a:endParaRPr>
          </a:p>
        </p:txBody>
      </p:sp>
      <p:sp>
        <p:nvSpPr>
          <p:cNvPr id="9" name="Shape 7"/>
          <p:cNvSpPr/>
          <p:nvPr/>
        </p:nvSpPr>
        <p:spPr>
          <a:xfrm>
            <a:off x="320040" y="2450592"/>
            <a:ext cx="2011680" cy="274320"/>
          </a:xfrm>
          <a:prstGeom prst="roundRect">
            <a:avLst>
              <a:gd name="adj" fmla="val 16667"/>
            </a:avLst>
          </a:prstGeom>
          <a:solidFill>
            <a:srgbClr val="0D9488"/>
          </a:solidFill>
          <a:ln w="12700">
            <a:solidFill>
              <a:srgbClr val="0D9488"/>
            </a:solidFill>
            <a:prstDash val="solid"/>
          </a:ln>
        </p:spPr>
      </p:sp>
      <p:sp>
        <p:nvSpPr>
          <p:cNvPr id="10" name="Text 8"/>
          <p:cNvSpPr/>
          <p:nvPr/>
        </p:nvSpPr>
        <p:spPr>
          <a:xfrm>
            <a:off x="320040" y="2450592"/>
            <a:ext cx="2011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18" charset="0"/>
                <a:cs typeface="Times New Roman" pitchFamily="18" charset="0"/>
              </a:rPr>
              <a:t>PROBLEM STATEMENT</a:t>
            </a:r>
            <a:endParaRPr lang="en-US" sz="900" dirty="0">
              <a:latin typeface="Times New Roman" pitchFamily="18" charset="0"/>
              <a:cs typeface="Times New Roman" pitchFamily="18" charset="0"/>
            </a:endParaRPr>
          </a:p>
        </p:txBody>
      </p:sp>
      <p:sp>
        <p:nvSpPr>
          <p:cNvPr id="11" name="Shape 9"/>
          <p:cNvSpPr/>
          <p:nvPr/>
        </p:nvSpPr>
        <p:spPr>
          <a:xfrm>
            <a:off x="320040" y="2834640"/>
            <a:ext cx="2743200" cy="7315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2" name="Text 10"/>
          <p:cNvSpPr/>
          <p:nvPr/>
        </p:nvSpPr>
        <p:spPr>
          <a:xfrm>
            <a:off x="320040" y="2834640"/>
            <a:ext cx="502920" cy="731520"/>
          </a:xfrm>
          <a:prstGeom prst="rect">
            <a:avLst/>
          </a:prstGeom>
          <a:noFill/>
          <a:ln/>
        </p:spPr>
        <p:txBody>
          <a:bodyPr wrap="square" lIns="0" tIns="0" rIns="0" bIns="0" rtlCol="0" anchor="ctr"/>
          <a:lstStyle/>
          <a:p>
            <a:pPr marL="0" indent="0" algn="ctr">
              <a:buNone/>
            </a:pPr>
            <a:r>
              <a:rPr lang="en-US" sz="2000" dirty="0" smtClean="0">
                <a:solidFill>
                  <a:srgbClr val="000000"/>
                </a:solidFill>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
        <p:nvSpPr>
          <p:cNvPr id="13" name="Text 11"/>
          <p:cNvSpPr/>
          <p:nvPr/>
        </p:nvSpPr>
        <p:spPr>
          <a:xfrm>
            <a:off x="868680" y="2834640"/>
            <a:ext cx="2148840" cy="731520"/>
          </a:xfrm>
          <a:prstGeom prst="rect">
            <a:avLst/>
          </a:prstGeom>
          <a:noFill/>
          <a:ln/>
        </p:spPr>
        <p:txBody>
          <a:bodyPr wrap="square" lIns="50800" tIns="50800" rIns="50800" bIns="50800" rtlCol="0" anchor="ctr"/>
          <a:lstStyle/>
          <a:p>
            <a:pPr marL="0" indent="0" algn="l">
              <a:buNone/>
            </a:pPr>
            <a:r>
              <a:rPr lang="en-US" sz="1000" dirty="0">
                <a:solidFill>
                  <a:srgbClr val="334155"/>
                </a:solidFill>
                <a:latin typeface="Times New Roman" pitchFamily="18" charset="0"/>
                <a:cs typeface="Times New Roman" pitchFamily="18" charset="0"/>
              </a:rPr>
              <a:t>Manual paper-based diet orders cause errors &amp; delays</a:t>
            </a:r>
            <a:endParaRPr lang="en-US" sz="1000" dirty="0">
              <a:latin typeface="Times New Roman" pitchFamily="18" charset="0"/>
              <a:cs typeface="Times New Roman" pitchFamily="18" charset="0"/>
            </a:endParaRPr>
          </a:p>
        </p:txBody>
      </p:sp>
      <p:sp>
        <p:nvSpPr>
          <p:cNvPr id="14" name="Shape 12"/>
          <p:cNvSpPr/>
          <p:nvPr/>
        </p:nvSpPr>
        <p:spPr>
          <a:xfrm>
            <a:off x="3246120" y="2834640"/>
            <a:ext cx="2743200" cy="7315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5" name="Text 13"/>
          <p:cNvSpPr/>
          <p:nvPr/>
        </p:nvSpPr>
        <p:spPr>
          <a:xfrm>
            <a:off x="3246120" y="2834640"/>
            <a:ext cx="502920" cy="731520"/>
          </a:xfrm>
          <a:prstGeom prst="rect">
            <a:avLst/>
          </a:prstGeom>
          <a:noFill/>
          <a:ln/>
        </p:spPr>
        <p:txBody>
          <a:bodyPr wrap="square" lIns="0" tIns="0" rIns="0" bIns="0" rtlCol="0" anchor="ctr"/>
          <a:lstStyle/>
          <a:p>
            <a:pPr marL="0" indent="0" algn="ctr">
              <a:buNone/>
            </a:pPr>
            <a:r>
              <a:rPr lang="en-US" sz="2000" dirty="0" smtClean="0">
                <a:solidFill>
                  <a:srgbClr val="000000"/>
                </a:solidFill>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16" name="Text 14"/>
          <p:cNvSpPr/>
          <p:nvPr/>
        </p:nvSpPr>
        <p:spPr>
          <a:xfrm>
            <a:off x="3794760" y="2834640"/>
            <a:ext cx="2148840" cy="731520"/>
          </a:xfrm>
          <a:prstGeom prst="rect">
            <a:avLst/>
          </a:prstGeom>
          <a:noFill/>
          <a:ln/>
        </p:spPr>
        <p:txBody>
          <a:bodyPr wrap="square" lIns="50800" tIns="50800" rIns="50800" bIns="50800" rtlCol="0" anchor="ctr"/>
          <a:lstStyle/>
          <a:p>
            <a:pPr marL="0" indent="0" algn="l">
              <a:buNone/>
            </a:pPr>
            <a:r>
              <a:rPr lang="en-US" sz="1000" dirty="0">
                <a:solidFill>
                  <a:srgbClr val="334155"/>
                </a:solidFill>
                <a:latin typeface="Times New Roman" pitchFamily="18" charset="0"/>
                <a:cs typeface="Times New Roman" pitchFamily="18" charset="0"/>
              </a:rPr>
              <a:t>No allergy verification — patients receive unsafe meals</a:t>
            </a:r>
            <a:endParaRPr lang="en-US" sz="1000" dirty="0">
              <a:latin typeface="Times New Roman" pitchFamily="18" charset="0"/>
              <a:cs typeface="Times New Roman" pitchFamily="18" charset="0"/>
            </a:endParaRPr>
          </a:p>
        </p:txBody>
      </p:sp>
      <p:sp>
        <p:nvSpPr>
          <p:cNvPr id="17" name="Shape 15"/>
          <p:cNvSpPr/>
          <p:nvPr/>
        </p:nvSpPr>
        <p:spPr>
          <a:xfrm>
            <a:off x="6172200" y="2834640"/>
            <a:ext cx="2743200" cy="7315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8" name="Text 16"/>
          <p:cNvSpPr/>
          <p:nvPr/>
        </p:nvSpPr>
        <p:spPr>
          <a:xfrm>
            <a:off x="6172200" y="2834640"/>
            <a:ext cx="502920" cy="731520"/>
          </a:xfrm>
          <a:prstGeom prst="rect">
            <a:avLst/>
          </a:prstGeom>
          <a:noFill/>
          <a:ln/>
        </p:spPr>
        <p:txBody>
          <a:bodyPr wrap="square" lIns="0" tIns="0" rIns="0" bIns="0" rtlCol="0" anchor="ctr"/>
          <a:lstStyle/>
          <a:p>
            <a:pPr marL="0" indent="0" algn="ctr">
              <a:buNone/>
            </a:pPr>
            <a:r>
              <a:rPr lang="en-US" sz="2000" dirty="0" smtClean="0">
                <a:solidFill>
                  <a:srgbClr val="000000"/>
                </a:solidFill>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
        <p:nvSpPr>
          <p:cNvPr id="19" name="Text 17"/>
          <p:cNvSpPr/>
          <p:nvPr/>
        </p:nvSpPr>
        <p:spPr>
          <a:xfrm>
            <a:off x="6720840" y="2834640"/>
            <a:ext cx="2148840" cy="731520"/>
          </a:xfrm>
          <a:prstGeom prst="rect">
            <a:avLst/>
          </a:prstGeom>
          <a:noFill/>
          <a:ln/>
        </p:spPr>
        <p:txBody>
          <a:bodyPr wrap="square" lIns="50800" tIns="50800" rIns="50800" bIns="50800" rtlCol="0" anchor="ctr"/>
          <a:lstStyle/>
          <a:p>
            <a:pPr marL="0" indent="0" algn="l">
              <a:buNone/>
            </a:pPr>
            <a:r>
              <a:rPr lang="en-US" sz="1000" dirty="0">
                <a:solidFill>
                  <a:srgbClr val="334155"/>
                </a:solidFill>
                <a:latin typeface="Times New Roman" pitchFamily="18" charset="0"/>
                <a:cs typeface="Times New Roman" pitchFamily="18" charset="0"/>
              </a:rPr>
              <a:t>Caloric tracking done manually — no formula-based calc</a:t>
            </a:r>
            <a:endParaRPr lang="en-US" sz="1000" dirty="0">
              <a:latin typeface="Times New Roman" pitchFamily="18" charset="0"/>
              <a:cs typeface="Times New Roman" pitchFamily="18" charset="0"/>
            </a:endParaRPr>
          </a:p>
        </p:txBody>
      </p:sp>
      <p:sp>
        <p:nvSpPr>
          <p:cNvPr id="20" name="Shape 18"/>
          <p:cNvSpPr/>
          <p:nvPr/>
        </p:nvSpPr>
        <p:spPr>
          <a:xfrm>
            <a:off x="320040" y="3703320"/>
            <a:ext cx="2743200" cy="7315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1" name="Text 19"/>
          <p:cNvSpPr/>
          <p:nvPr/>
        </p:nvSpPr>
        <p:spPr>
          <a:xfrm>
            <a:off x="320040" y="3703320"/>
            <a:ext cx="502920" cy="731520"/>
          </a:xfrm>
          <a:prstGeom prst="rect">
            <a:avLst/>
          </a:prstGeom>
          <a:noFill/>
          <a:ln/>
        </p:spPr>
        <p:txBody>
          <a:bodyPr wrap="square" lIns="0" tIns="0" rIns="0" bIns="0" rtlCol="0" anchor="ctr"/>
          <a:lstStyle/>
          <a:p>
            <a:pPr marL="0" indent="0" algn="ctr">
              <a:buNone/>
            </a:pPr>
            <a:r>
              <a:rPr lang="en-US" sz="2000" dirty="0">
                <a:solidFill>
                  <a:srgbClr val="000000"/>
                </a:solidFill>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22" name="Text 20"/>
          <p:cNvSpPr/>
          <p:nvPr/>
        </p:nvSpPr>
        <p:spPr>
          <a:xfrm>
            <a:off x="868680" y="3703320"/>
            <a:ext cx="2148840" cy="731520"/>
          </a:xfrm>
          <a:prstGeom prst="rect">
            <a:avLst/>
          </a:prstGeom>
          <a:noFill/>
          <a:ln/>
        </p:spPr>
        <p:txBody>
          <a:bodyPr wrap="square" lIns="50800" tIns="50800" rIns="50800" bIns="50800" rtlCol="0" anchor="ctr"/>
          <a:lstStyle/>
          <a:p>
            <a:pPr marL="0" indent="0" algn="l">
              <a:buNone/>
            </a:pPr>
            <a:r>
              <a:rPr lang="en-US" sz="1000" dirty="0">
                <a:solidFill>
                  <a:srgbClr val="334155"/>
                </a:solidFill>
                <a:latin typeface="Times New Roman" pitchFamily="18" charset="0"/>
                <a:cs typeface="Times New Roman" pitchFamily="18" charset="0"/>
              </a:rPr>
              <a:t>Kitchen receives unorganized verbal orders</a:t>
            </a:r>
            <a:endParaRPr lang="en-US" sz="1000" dirty="0">
              <a:latin typeface="Times New Roman" pitchFamily="18" charset="0"/>
              <a:cs typeface="Times New Roman" pitchFamily="18" charset="0"/>
            </a:endParaRPr>
          </a:p>
        </p:txBody>
      </p:sp>
      <p:sp>
        <p:nvSpPr>
          <p:cNvPr id="23" name="Shape 21"/>
          <p:cNvSpPr/>
          <p:nvPr/>
        </p:nvSpPr>
        <p:spPr>
          <a:xfrm>
            <a:off x="3246120" y="3703320"/>
            <a:ext cx="2743200" cy="7315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4" name="Text 22"/>
          <p:cNvSpPr/>
          <p:nvPr/>
        </p:nvSpPr>
        <p:spPr>
          <a:xfrm>
            <a:off x="3246120" y="3703320"/>
            <a:ext cx="502920" cy="731520"/>
          </a:xfrm>
          <a:prstGeom prst="rect">
            <a:avLst/>
          </a:prstGeom>
          <a:noFill/>
          <a:ln/>
        </p:spPr>
        <p:txBody>
          <a:bodyPr wrap="square" lIns="0" tIns="0" rIns="0" bIns="0" rtlCol="0" anchor="ctr"/>
          <a:lstStyle/>
          <a:p>
            <a:pPr marL="0" indent="0" algn="ctr">
              <a:buNone/>
            </a:pPr>
            <a:r>
              <a:rPr lang="en-US" sz="2000" dirty="0" smtClean="0">
                <a:solidFill>
                  <a:srgbClr val="000000"/>
                </a:solidFill>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
        <p:nvSpPr>
          <p:cNvPr id="25" name="Text 23"/>
          <p:cNvSpPr/>
          <p:nvPr/>
        </p:nvSpPr>
        <p:spPr>
          <a:xfrm>
            <a:off x="3794760" y="3703320"/>
            <a:ext cx="2148840" cy="731520"/>
          </a:xfrm>
          <a:prstGeom prst="rect">
            <a:avLst/>
          </a:prstGeom>
          <a:noFill/>
          <a:ln/>
        </p:spPr>
        <p:txBody>
          <a:bodyPr wrap="square" lIns="50800" tIns="50800" rIns="50800" bIns="50800" rtlCol="0" anchor="ctr"/>
          <a:lstStyle/>
          <a:p>
            <a:pPr marL="0" indent="0" algn="l">
              <a:buNone/>
            </a:pPr>
            <a:r>
              <a:rPr lang="en-US" sz="1000" dirty="0">
                <a:solidFill>
                  <a:srgbClr val="334155"/>
                </a:solidFill>
                <a:latin typeface="Times New Roman" pitchFamily="18" charset="0"/>
                <a:cs typeface="Times New Roman" pitchFamily="18" charset="0"/>
              </a:rPr>
              <a:t>No structured approval workflow for meal plans</a:t>
            </a:r>
            <a:endParaRPr lang="en-US" sz="1000" dirty="0">
              <a:latin typeface="Times New Roman" pitchFamily="18" charset="0"/>
              <a:cs typeface="Times New Roman" pitchFamily="18" charset="0"/>
            </a:endParaRPr>
          </a:p>
        </p:txBody>
      </p:sp>
      <p:sp>
        <p:nvSpPr>
          <p:cNvPr id="26" name="Shape 24"/>
          <p:cNvSpPr/>
          <p:nvPr/>
        </p:nvSpPr>
        <p:spPr>
          <a:xfrm>
            <a:off x="6172200" y="3703320"/>
            <a:ext cx="2743200" cy="7315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7" name="Text 25"/>
          <p:cNvSpPr/>
          <p:nvPr/>
        </p:nvSpPr>
        <p:spPr>
          <a:xfrm>
            <a:off x="6172200" y="3703320"/>
            <a:ext cx="502920" cy="731520"/>
          </a:xfrm>
          <a:prstGeom prst="rect">
            <a:avLst/>
          </a:prstGeom>
          <a:noFill/>
          <a:ln/>
        </p:spPr>
        <p:txBody>
          <a:bodyPr wrap="square" lIns="0" tIns="0" rIns="0" bIns="0" rtlCol="0" anchor="ctr"/>
          <a:lstStyle/>
          <a:p>
            <a:pPr marL="0" indent="0" algn="ctr">
              <a:buNone/>
            </a:pPr>
            <a:r>
              <a:rPr lang="en-US" sz="2000" dirty="0" smtClean="0">
                <a:solidFill>
                  <a:srgbClr val="000000"/>
                </a:solidFill>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
        <p:nvSpPr>
          <p:cNvPr id="28" name="Text 26"/>
          <p:cNvSpPr/>
          <p:nvPr/>
        </p:nvSpPr>
        <p:spPr>
          <a:xfrm>
            <a:off x="6720840" y="3703320"/>
            <a:ext cx="2148840" cy="731520"/>
          </a:xfrm>
          <a:prstGeom prst="rect">
            <a:avLst/>
          </a:prstGeom>
          <a:noFill/>
          <a:ln/>
        </p:spPr>
        <p:txBody>
          <a:bodyPr wrap="square" lIns="50800" tIns="50800" rIns="50800" bIns="50800" rtlCol="0" anchor="ctr"/>
          <a:lstStyle/>
          <a:p>
            <a:pPr marL="0" indent="0" algn="l">
              <a:buNone/>
            </a:pPr>
            <a:r>
              <a:rPr lang="en-US" sz="1000" dirty="0">
                <a:solidFill>
                  <a:srgbClr val="334155"/>
                </a:solidFill>
                <a:latin typeface="Times New Roman" pitchFamily="18" charset="0"/>
                <a:cs typeface="Times New Roman" pitchFamily="18" charset="0"/>
              </a:rPr>
              <a:t>Zero audit trail — no history of dietary decisions</a:t>
            </a:r>
            <a:endParaRPr lang="en-US" sz="1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w="12700">
            <a:solidFill>
              <a:srgbClr val="0D9488"/>
            </a:solidFill>
            <a:prstDash val="solid"/>
          </a:ln>
        </p:spPr>
      </p:sp>
      <p:sp>
        <p:nvSpPr>
          <p:cNvPr id="3" name="Text 1"/>
          <p:cNvSpPr/>
          <p:nvPr/>
        </p:nvSpPr>
        <p:spPr>
          <a:xfrm>
            <a:off x="320040" y="256032"/>
            <a:ext cx="8503920" cy="411480"/>
          </a:xfrm>
          <a:prstGeom prst="rect">
            <a:avLst/>
          </a:prstGeom>
          <a:noFill/>
          <a:ln/>
        </p:spPr>
        <p:txBody>
          <a:bodyPr wrap="square" lIns="0" tIns="0" rIns="0" bIns="0" rtlCol="0" anchor="ctr"/>
          <a:lstStyle/>
          <a:p>
            <a:pPr marL="0" indent="0">
              <a:buNone/>
            </a:pPr>
            <a:r>
              <a:rPr lang="en-US" sz="2400" b="1" dirty="0">
                <a:solidFill>
                  <a:srgbClr val="0A2463"/>
                </a:solidFill>
                <a:latin typeface="Times New Roman" pitchFamily="18" charset="0"/>
                <a:cs typeface="Times New Roman" pitchFamily="18" charset="0"/>
              </a:rPr>
              <a:t>Project Overview &amp; Objectives</a:t>
            </a:r>
            <a:endParaRPr lang="en-US" sz="2400" dirty="0">
              <a:latin typeface="Times New Roman" pitchFamily="18" charset="0"/>
              <a:cs typeface="Times New Roman" pitchFamily="18" charset="0"/>
            </a:endParaRPr>
          </a:p>
        </p:txBody>
      </p:sp>
      <p:sp>
        <p:nvSpPr>
          <p:cNvPr id="4" name="Shape 2"/>
          <p:cNvSpPr/>
          <p:nvPr/>
        </p:nvSpPr>
        <p:spPr>
          <a:xfrm>
            <a:off x="320040" y="777240"/>
            <a:ext cx="4572000" cy="402336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5" name="Shape 3"/>
          <p:cNvSpPr/>
          <p:nvPr/>
        </p:nvSpPr>
        <p:spPr>
          <a:xfrm>
            <a:off x="320040" y="777240"/>
            <a:ext cx="4572000" cy="347472"/>
          </a:xfrm>
          <a:prstGeom prst="rect">
            <a:avLst/>
          </a:prstGeom>
          <a:solidFill>
            <a:srgbClr val="0A2463"/>
          </a:solidFill>
          <a:ln w="12700">
            <a:solidFill>
              <a:srgbClr val="0A2463"/>
            </a:solidFill>
            <a:prstDash val="solid"/>
          </a:ln>
        </p:spPr>
      </p:sp>
      <p:sp>
        <p:nvSpPr>
          <p:cNvPr id="6" name="Text 4"/>
          <p:cNvSpPr/>
          <p:nvPr/>
        </p:nvSpPr>
        <p:spPr>
          <a:xfrm>
            <a:off x="320040" y="777240"/>
            <a:ext cx="45720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18" charset="0"/>
                <a:cs typeface="Times New Roman" pitchFamily="18" charset="0"/>
              </a:rPr>
              <a:t>What is HIMPS?</a:t>
            </a:r>
            <a:endParaRPr lang="en-US" sz="1300" dirty="0">
              <a:latin typeface="Times New Roman" pitchFamily="18" charset="0"/>
              <a:cs typeface="Times New Roman" pitchFamily="18" charset="0"/>
            </a:endParaRPr>
          </a:p>
        </p:txBody>
      </p:sp>
      <p:sp>
        <p:nvSpPr>
          <p:cNvPr id="7" name="Text 5"/>
          <p:cNvSpPr/>
          <p:nvPr/>
        </p:nvSpPr>
        <p:spPr>
          <a:xfrm>
            <a:off x="485336" y="1234440"/>
            <a:ext cx="365760" cy="347472"/>
          </a:xfrm>
          <a:prstGeom prst="rect">
            <a:avLst/>
          </a:prstGeom>
          <a:noFill/>
          <a:ln/>
        </p:spPr>
        <p:txBody>
          <a:bodyPr wrap="square" lIns="0" tIns="0" rIns="0" bIns="0" rtlCol="0" anchor="ctr"/>
          <a:lstStyle/>
          <a:p>
            <a:pPr marL="0" indent="0" algn="ctr">
              <a:buNone/>
            </a:pPr>
            <a:r>
              <a:rPr lang="en-US" sz="1600" dirty="0">
                <a:solidFill>
                  <a:srgbClr val="000000"/>
                </a:solidFill>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
        <p:nvSpPr>
          <p:cNvPr id="8" name="Text 6"/>
          <p:cNvSpPr/>
          <p:nvPr/>
        </p:nvSpPr>
        <p:spPr>
          <a:xfrm>
            <a:off x="868680" y="1234440"/>
            <a:ext cx="3886200" cy="347472"/>
          </a:xfrm>
          <a:prstGeom prst="rect">
            <a:avLst/>
          </a:prstGeom>
          <a:noFill/>
          <a:ln/>
        </p:spPr>
        <p:txBody>
          <a:bodyPr wrap="square" lIns="0" tIns="0" rIns="0" bIns="0" rtlCol="0" anchor="ctr"/>
          <a:lstStyle/>
          <a:p>
            <a:pPr marL="0" indent="0" algn="l">
              <a:buNone/>
            </a:pPr>
            <a:r>
              <a:rPr lang="en-US" sz="1100" dirty="0">
                <a:solidFill>
                  <a:srgbClr val="334155"/>
                </a:solidFill>
                <a:latin typeface="Times New Roman" pitchFamily="18" charset="0"/>
                <a:cs typeface="Times New Roman" pitchFamily="18" charset="0"/>
              </a:rPr>
              <a:t>A web-based hospital nutrition management platform</a:t>
            </a:r>
            <a:endParaRPr lang="en-US" sz="1100" dirty="0">
              <a:latin typeface="Times New Roman" pitchFamily="18" charset="0"/>
              <a:cs typeface="Times New Roman" pitchFamily="18" charset="0"/>
            </a:endParaRPr>
          </a:p>
        </p:txBody>
      </p:sp>
      <p:sp>
        <p:nvSpPr>
          <p:cNvPr id="9" name="Text 7"/>
          <p:cNvSpPr/>
          <p:nvPr/>
        </p:nvSpPr>
        <p:spPr>
          <a:xfrm>
            <a:off x="457200" y="1627632"/>
            <a:ext cx="365760" cy="347472"/>
          </a:xfrm>
          <a:prstGeom prst="rect">
            <a:avLst/>
          </a:prstGeom>
          <a:noFill/>
          <a:ln/>
        </p:spPr>
        <p:txBody>
          <a:bodyPr wrap="square" lIns="0" tIns="0" rIns="0" bIns="0" rtlCol="0" anchor="ctr"/>
          <a:lstStyle/>
          <a:p>
            <a:pPr marL="0" indent="0" algn="ctr">
              <a:buNone/>
            </a:pPr>
            <a:r>
              <a:rPr lang="en-US" sz="1600" dirty="0">
                <a:solidFill>
                  <a:srgbClr val="000000"/>
                </a:solidFill>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
        <p:nvSpPr>
          <p:cNvPr id="10" name="Text 8"/>
          <p:cNvSpPr/>
          <p:nvPr/>
        </p:nvSpPr>
        <p:spPr>
          <a:xfrm>
            <a:off x="868680" y="1627632"/>
            <a:ext cx="3886200" cy="347472"/>
          </a:xfrm>
          <a:prstGeom prst="rect">
            <a:avLst/>
          </a:prstGeom>
          <a:noFill/>
          <a:ln/>
        </p:spPr>
        <p:txBody>
          <a:bodyPr wrap="square" lIns="0" tIns="0" rIns="0" bIns="0" rtlCol="0" anchor="ctr"/>
          <a:lstStyle/>
          <a:p>
            <a:pPr marL="0" indent="0" algn="l">
              <a:buNone/>
            </a:pPr>
            <a:r>
              <a:rPr lang="en-US" sz="1100" dirty="0">
                <a:solidFill>
                  <a:srgbClr val="334155"/>
                </a:solidFill>
                <a:latin typeface="Times New Roman" pitchFamily="18" charset="0"/>
                <a:cs typeface="Times New Roman" pitchFamily="18" charset="0"/>
              </a:rPr>
              <a:t>Manage dietary profiles with allergies &amp; restrictions</a:t>
            </a:r>
            <a:endParaRPr lang="en-US" sz="1100" dirty="0">
              <a:latin typeface="Times New Roman" pitchFamily="18" charset="0"/>
              <a:cs typeface="Times New Roman" pitchFamily="18" charset="0"/>
            </a:endParaRPr>
          </a:p>
        </p:txBody>
      </p:sp>
      <p:sp>
        <p:nvSpPr>
          <p:cNvPr id="11" name="Text 9"/>
          <p:cNvSpPr/>
          <p:nvPr/>
        </p:nvSpPr>
        <p:spPr>
          <a:xfrm>
            <a:off x="457200" y="1884366"/>
            <a:ext cx="365760" cy="347472"/>
          </a:xfrm>
          <a:prstGeom prst="rect">
            <a:avLst/>
          </a:prstGeom>
          <a:noFill/>
          <a:ln/>
        </p:spPr>
        <p:txBody>
          <a:bodyPr wrap="square" lIns="0" tIns="0" rIns="0" bIns="0" rtlCol="0" anchor="ctr"/>
          <a:lstStyle/>
          <a:p>
            <a:pPr marL="0" indent="0" algn="ctr">
              <a:buNone/>
            </a:pPr>
            <a:r>
              <a:rPr lang="en-US" sz="1600" dirty="0" smtClean="0">
                <a:solidFill>
                  <a:srgbClr val="000000"/>
                </a:solidFill>
                <a:latin typeface="Times New Roman" pitchFamily="18" charset="0"/>
                <a:cs typeface="Times New Roman" pitchFamily="18" charset="0"/>
              </a:rPr>
              <a:t> 🍽</a:t>
            </a:r>
            <a:endParaRPr lang="en-US" sz="1600" dirty="0">
              <a:latin typeface="Times New Roman" pitchFamily="18" charset="0"/>
              <a:cs typeface="Times New Roman" pitchFamily="18" charset="0"/>
            </a:endParaRPr>
          </a:p>
        </p:txBody>
      </p:sp>
      <p:sp>
        <p:nvSpPr>
          <p:cNvPr id="12" name="Text 10"/>
          <p:cNvSpPr/>
          <p:nvPr/>
        </p:nvSpPr>
        <p:spPr>
          <a:xfrm>
            <a:off x="868680" y="2020824"/>
            <a:ext cx="3886200" cy="347472"/>
          </a:xfrm>
          <a:prstGeom prst="rect">
            <a:avLst/>
          </a:prstGeom>
          <a:noFill/>
          <a:ln/>
        </p:spPr>
        <p:txBody>
          <a:bodyPr wrap="square" lIns="0" tIns="0" rIns="0" bIns="0" rtlCol="0" anchor="ctr"/>
          <a:lstStyle/>
          <a:p>
            <a:pPr marL="0" indent="0" algn="l">
              <a:buNone/>
            </a:pPr>
            <a:r>
              <a:rPr lang="en-US" sz="1100" dirty="0">
                <a:solidFill>
                  <a:srgbClr val="334155"/>
                </a:solidFill>
                <a:latin typeface="Times New Roman" pitchFamily="18" charset="0"/>
                <a:cs typeface="Times New Roman" pitchFamily="18" charset="0"/>
              </a:rPr>
              <a:t>Create daily meal plans per patient — breakfast to dinner</a:t>
            </a:r>
            <a:endParaRPr lang="en-US" sz="1100" dirty="0">
              <a:latin typeface="Times New Roman" pitchFamily="18" charset="0"/>
              <a:cs typeface="Times New Roman" pitchFamily="18" charset="0"/>
            </a:endParaRPr>
          </a:p>
        </p:txBody>
      </p:sp>
      <p:sp>
        <p:nvSpPr>
          <p:cNvPr id="13" name="Text 11"/>
          <p:cNvSpPr/>
          <p:nvPr/>
        </p:nvSpPr>
        <p:spPr>
          <a:xfrm>
            <a:off x="471268" y="2385880"/>
            <a:ext cx="365760" cy="347472"/>
          </a:xfrm>
          <a:prstGeom prst="rect">
            <a:avLst/>
          </a:prstGeom>
          <a:noFill/>
          <a:ln/>
        </p:spPr>
        <p:txBody>
          <a:bodyPr wrap="square" lIns="0" tIns="0" rIns="0" bIns="0" rtlCol="0" anchor="ctr"/>
          <a:lstStyle/>
          <a:p>
            <a:pPr marL="0" indent="0" algn="ctr">
              <a:buNone/>
            </a:pPr>
            <a:r>
              <a:rPr lang="en-US" sz="1600" dirty="0">
                <a:solidFill>
                  <a:srgbClr val="000000"/>
                </a:solidFill>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
        <p:nvSpPr>
          <p:cNvPr id="14" name="Text 12"/>
          <p:cNvSpPr/>
          <p:nvPr/>
        </p:nvSpPr>
        <p:spPr>
          <a:xfrm>
            <a:off x="868680" y="2414016"/>
            <a:ext cx="3886200" cy="347472"/>
          </a:xfrm>
          <a:prstGeom prst="rect">
            <a:avLst/>
          </a:prstGeom>
          <a:noFill/>
          <a:ln/>
        </p:spPr>
        <p:txBody>
          <a:bodyPr wrap="square" lIns="0" tIns="0" rIns="0" bIns="0" rtlCol="0" anchor="ctr"/>
          <a:lstStyle/>
          <a:p>
            <a:pPr marL="0" indent="0" algn="l">
              <a:buNone/>
            </a:pPr>
            <a:r>
              <a:rPr lang="en-US" sz="1100" dirty="0">
                <a:solidFill>
                  <a:srgbClr val="334155"/>
                </a:solidFill>
                <a:latin typeface="Times New Roman" pitchFamily="18" charset="0"/>
                <a:cs typeface="Times New Roman" pitchFamily="18" charset="0"/>
              </a:rPr>
              <a:t>Auto-compute caloric needs using BMR formula</a:t>
            </a:r>
            <a:endParaRPr lang="en-US" sz="1100" dirty="0">
              <a:latin typeface="Times New Roman" pitchFamily="18" charset="0"/>
              <a:cs typeface="Times New Roman" pitchFamily="18" charset="0"/>
            </a:endParaRPr>
          </a:p>
        </p:txBody>
      </p:sp>
      <p:sp>
        <p:nvSpPr>
          <p:cNvPr id="15" name="Text 13"/>
          <p:cNvSpPr/>
          <p:nvPr/>
        </p:nvSpPr>
        <p:spPr>
          <a:xfrm>
            <a:off x="478302" y="2793140"/>
            <a:ext cx="365760" cy="347472"/>
          </a:xfrm>
          <a:prstGeom prst="rect">
            <a:avLst/>
          </a:prstGeom>
          <a:noFill/>
          <a:ln/>
        </p:spPr>
        <p:txBody>
          <a:bodyPr wrap="square" lIns="0" tIns="0" rIns="0" bIns="0" rtlCol="0" anchor="ctr"/>
          <a:lstStyle/>
          <a:p>
            <a:pPr marL="0" indent="0" algn="ctr">
              <a:buNone/>
            </a:pPr>
            <a:r>
              <a:rPr lang="en-US" sz="1600" dirty="0" smtClean="0">
                <a:solidFill>
                  <a:srgbClr val="000000"/>
                </a:solidFill>
                <a:latin typeface="Times New Roman" pitchFamily="18" charset="0"/>
                <a:cs typeface="Times New Roman" pitchFamily="18" charset="0"/>
              </a:rPr>
              <a:t>‍🍳  </a:t>
            </a:r>
            <a:endParaRPr lang="en-US" sz="1600" dirty="0">
              <a:latin typeface="Times New Roman" pitchFamily="18" charset="0"/>
              <a:cs typeface="Times New Roman" pitchFamily="18" charset="0"/>
            </a:endParaRPr>
          </a:p>
        </p:txBody>
      </p:sp>
      <p:sp>
        <p:nvSpPr>
          <p:cNvPr id="16" name="Text 14"/>
          <p:cNvSpPr/>
          <p:nvPr/>
        </p:nvSpPr>
        <p:spPr>
          <a:xfrm>
            <a:off x="868680" y="2807208"/>
            <a:ext cx="3886200" cy="347472"/>
          </a:xfrm>
          <a:prstGeom prst="rect">
            <a:avLst/>
          </a:prstGeom>
          <a:noFill/>
          <a:ln/>
        </p:spPr>
        <p:txBody>
          <a:bodyPr wrap="square" lIns="0" tIns="0" rIns="0" bIns="0" rtlCol="0" anchor="ctr"/>
          <a:lstStyle/>
          <a:p>
            <a:pPr marL="0" indent="0" algn="l">
              <a:buNone/>
            </a:pPr>
            <a:r>
              <a:rPr lang="en-US" sz="1100" dirty="0" smtClean="0">
                <a:solidFill>
                  <a:srgbClr val="334155"/>
                </a:solidFill>
                <a:latin typeface="Times New Roman" pitchFamily="18" charset="0"/>
                <a:cs typeface="Times New Roman" pitchFamily="18" charset="0"/>
              </a:rPr>
              <a:t>  Generate </a:t>
            </a:r>
            <a:r>
              <a:rPr lang="en-US" sz="1100" dirty="0">
                <a:solidFill>
                  <a:srgbClr val="334155"/>
                </a:solidFill>
                <a:latin typeface="Times New Roman" pitchFamily="18" charset="0"/>
                <a:cs typeface="Times New Roman" pitchFamily="18" charset="0"/>
              </a:rPr>
              <a:t>and track kitchen orders in real-time</a:t>
            </a:r>
            <a:endParaRPr lang="en-US" sz="1100" dirty="0">
              <a:latin typeface="Times New Roman" pitchFamily="18" charset="0"/>
              <a:cs typeface="Times New Roman" pitchFamily="18" charset="0"/>
            </a:endParaRPr>
          </a:p>
        </p:txBody>
      </p:sp>
      <p:sp>
        <p:nvSpPr>
          <p:cNvPr id="17" name="Text 15"/>
          <p:cNvSpPr/>
          <p:nvPr/>
        </p:nvSpPr>
        <p:spPr>
          <a:xfrm>
            <a:off x="407962" y="3200400"/>
            <a:ext cx="365760" cy="347472"/>
          </a:xfrm>
          <a:prstGeom prst="rect">
            <a:avLst/>
          </a:prstGeom>
          <a:noFill/>
          <a:ln/>
        </p:spPr>
        <p:txBody>
          <a:bodyPr wrap="square" lIns="0" tIns="0" rIns="0" bIns="0" rtlCol="0" anchor="ctr"/>
          <a:lstStyle/>
          <a:p>
            <a:pPr marL="0" indent="0" algn="ctr">
              <a:buNone/>
            </a:pPr>
            <a:r>
              <a:rPr lang="en-US" sz="1600" dirty="0" smtClean="0">
                <a:solidFill>
                  <a:srgbClr val="000000"/>
                </a:solidFill>
                <a:latin typeface="Times New Roman" pitchFamily="18" charset="0"/>
                <a:cs typeface="Times New Roman" pitchFamily="18" charset="0"/>
              </a:rPr>
              <a:t>  ✅ </a:t>
            </a:r>
            <a:endParaRPr lang="en-US" sz="1600" dirty="0">
              <a:latin typeface="Times New Roman" pitchFamily="18" charset="0"/>
              <a:cs typeface="Times New Roman" pitchFamily="18" charset="0"/>
            </a:endParaRPr>
          </a:p>
        </p:txBody>
      </p:sp>
      <p:sp>
        <p:nvSpPr>
          <p:cNvPr id="18" name="Text 16"/>
          <p:cNvSpPr/>
          <p:nvPr/>
        </p:nvSpPr>
        <p:spPr>
          <a:xfrm>
            <a:off x="868680" y="3200400"/>
            <a:ext cx="3886200" cy="347472"/>
          </a:xfrm>
          <a:prstGeom prst="rect">
            <a:avLst/>
          </a:prstGeom>
          <a:noFill/>
          <a:ln/>
        </p:spPr>
        <p:txBody>
          <a:bodyPr wrap="square" lIns="0" tIns="0" rIns="0" bIns="0" rtlCol="0" anchor="ctr"/>
          <a:lstStyle/>
          <a:p>
            <a:pPr marL="0" indent="0" algn="l">
              <a:buNone/>
            </a:pPr>
            <a:r>
              <a:rPr lang="en-US" sz="1100" dirty="0">
                <a:solidFill>
                  <a:srgbClr val="334155"/>
                </a:solidFill>
                <a:latin typeface="Times New Roman" pitchFamily="18" charset="0"/>
                <a:cs typeface="Times New Roman" pitchFamily="18" charset="0"/>
              </a:rPr>
              <a:t>Approval workflow for dietitian-created meal plans</a:t>
            </a:r>
            <a:endParaRPr lang="en-US" sz="1100" dirty="0">
              <a:latin typeface="Times New Roman" pitchFamily="18" charset="0"/>
              <a:cs typeface="Times New Roman" pitchFamily="18" charset="0"/>
            </a:endParaRPr>
          </a:p>
        </p:txBody>
      </p:sp>
      <p:sp>
        <p:nvSpPr>
          <p:cNvPr id="19" name="Text 17"/>
          <p:cNvSpPr/>
          <p:nvPr/>
        </p:nvSpPr>
        <p:spPr>
          <a:xfrm>
            <a:off x="492370" y="3593592"/>
            <a:ext cx="365760" cy="347472"/>
          </a:xfrm>
          <a:prstGeom prst="rect">
            <a:avLst/>
          </a:prstGeom>
          <a:noFill/>
          <a:ln/>
        </p:spPr>
        <p:txBody>
          <a:bodyPr wrap="square" lIns="0" tIns="0" rIns="0" bIns="0" rtlCol="0" anchor="ctr"/>
          <a:lstStyle/>
          <a:p>
            <a:pPr marL="0" indent="0" algn="ctr">
              <a:buNone/>
            </a:pPr>
            <a:r>
              <a:rPr lang="en-US" sz="1600" dirty="0">
                <a:solidFill>
                  <a:srgbClr val="000000"/>
                </a:solidFill>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
        <p:nvSpPr>
          <p:cNvPr id="20" name="Text 18"/>
          <p:cNvSpPr/>
          <p:nvPr/>
        </p:nvSpPr>
        <p:spPr>
          <a:xfrm>
            <a:off x="868680" y="3593592"/>
            <a:ext cx="3886200" cy="347472"/>
          </a:xfrm>
          <a:prstGeom prst="rect">
            <a:avLst/>
          </a:prstGeom>
          <a:noFill/>
          <a:ln/>
        </p:spPr>
        <p:txBody>
          <a:bodyPr wrap="square" lIns="0" tIns="0" rIns="0" bIns="0" rtlCol="0" anchor="ctr"/>
          <a:lstStyle/>
          <a:p>
            <a:pPr marL="0" indent="0" algn="l">
              <a:buNone/>
            </a:pPr>
            <a:r>
              <a:rPr lang="en-US" sz="1100" dirty="0">
                <a:solidFill>
                  <a:srgbClr val="334155"/>
                </a:solidFill>
                <a:latin typeface="Times New Roman" pitchFamily="18" charset="0"/>
                <a:cs typeface="Times New Roman" pitchFamily="18" charset="0"/>
              </a:rPr>
              <a:t>Export reports as CSV for all modules</a:t>
            </a:r>
            <a:endParaRPr lang="en-US" sz="1100" dirty="0">
              <a:latin typeface="Times New Roman" pitchFamily="18" charset="0"/>
              <a:cs typeface="Times New Roman" pitchFamily="18" charset="0"/>
            </a:endParaRPr>
          </a:p>
        </p:txBody>
      </p:sp>
      <p:sp>
        <p:nvSpPr>
          <p:cNvPr id="21" name="Text 19"/>
          <p:cNvSpPr/>
          <p:nvPr/>
        </p:nvSpPr>
        <p:spPr>
          <a:xfrm>
            <a:off x="457200" y="3965682"/>
            <a:ext cx="365760" cy="347472"/>
          </a:xfrm>
          <a:prstGeom prst="rect">
            <a:avLst/>
          </a:prstGeom>
          <a:noFill/>
          <a:ln/>
        </p:spPr>
        <p:txBody>
          <a:bodyPr wrap="square" lIns="0" tIns="0" rIns="0" bIns="0" rtlCol="0" anchor="ctr"/>
          <a:lstStyle/>
          <a:p>
            <a:pPr marL="0" indent="0" algn="ctr">
              <a:buNone/>
            </a:pPr>
            <a:r>
              <a:rPr lang="en-US" sz="1600" dirty="0" smtClean="0">
                <a:solidFill>
                  <a:srgbClr val="000000"/>
                </a:solidFill>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
        <p:nvSpPr>
          <p:cNvPr id="22" name="Text 20"/>
          <p:cNvSpPr/>
          <p:nvPr/>
        </p:nvSpPr>
        <p:spPr>
          <a:xfrm>
            <a:off x="868680" y="3986784"/>
            <a:ext cx="3886200" cy="347472"/>
          </a:xfrm>
          <a:prstGeom prst="rect">
            <a:avLst/>
          </a:prstGeom>
          <a:noFill/>
          <a:ln/>
        </p:spPr>
        <p:txBody>
          <a:bodyPr wrap="square" lIns="0" tIns="0" rIns="0" bIns="0" rtlCol="0" anchor="ctr"/>
          <a:lstStyle/>
          <a:p>
            <a:pPr marL="0" indent="0" algn="l">
              <a:buNone/>
            </a:pPr>
            <a:r>
              <a:rPr lang="en-US" sz="1100" dirty="0">
                <a:solidFill>
                  <a:srgbClr val="334155"/>
                </a:solidFill>
                <a:latin typeface="Times New Roman" pitchFamily="18" charset="0"/>
                <a:cs typeface="Times New Roman" pitchFamily="18" charset="0"/>
              </a:rPr>
              <a:t>Admin panel to manage users, roles &amp; system settings</a:t>
            </a:r>
            <a:endParaRPr lang="en-US" sz="1100" dirty="0">
              <a:latin typeface="Times New Roman" pitchFamily="18" charset="0"/>
              <a:cs typeface="Times New Roman" pitchFamily="18" charset="0"/>
            </a:endParaRPr>
          </a:p>
        </p:txBody>
      </p:sp>
      <p:sp>
        <p:nvSpPr>
          <p:cNvPr id="23" name="Shape 21"/>
          <p:cNvSpPr/>
          <p:nvPr/>
        </p:nvSpPr>
        <p:spPr>
          <a:xfrm>
            <a:off x="5120640" y="1133856"/>
            <a:ext cx="3703320" cy="3666744"/>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4" name="Shape 22"/>
          <p:cNvSpPr/>
          <p:nvPr/>
        </p:nvSpPr>
        <p:spPr>
          <a:xfrm>
            <a:off x="5120640" y="777240"/>
            <a:ext cx="3703320" cy="347472"/>
          </a:xfrm>
          <a:prstGeom prst="rect">
            <a:avLst/>
          </a:prstGeom>
          <a:solidFill>
            <a:srgbClr val="0D9488"/>
          </a:solidFill>
          <a:ln w="12700">
            <a:solidFill>
              <a:srgbClr val="0D9488"/>
            </a:solidFill>
            <a:prstDash val="solid"/>
          </a:ln>
        </p:spPr>
      </p:sp>
      <p:sp>
        <p:nvSpPr>
          <p:cNvPr id="25" name="Text 23"/>
          <p:cNvSpPr/>
          <p:nvPr/>
        </p:nvSpPr>
        <p:spPr>
          <a:xfrm>
            <a:off x="5120640" y="777240"/>
            <a:ext cx="370332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18" charset="0"/>
                <a:cs typeface="Times New Roman" pitchFamily="18" charset="0"/>
              </a:rPr>
              <a:t>Objectives</a:t>
            </a:r>
            <a:endParaRPr lang="en-US" sz="1300" dirty="0">
              <a:latin typeface="Times New Roman" pitchFamily="18" charset="0"/>
              <a:cs typeface="Times New Roman" pitchFamily="18" charset="0"/>
            </a:endParaRPr>
          </a:p>
        </p:txBody>
      </p:sp>
      <p:sp>
        <p:nvSpPr>
          <p:cNvPr id="26" name="Shape 24"/>
          <p:cNvSpPr/>
          <p:nvPr/>
        </p:nvSpPr>
        <p:spPr>
          <a:xfrm>
            <a:off x="5212080" y="1252728"/>
            <a:ext cx="201168" cy="201168"/>
          </a:xfrm>
          <a:prstGeom prst="ellipse">
            <a:avLst/>
          </a:prstGeom>
          <a:solidFill>
            <a:srgbClr val="0D9488"/>
          </a:solidFill>
          <a:ln w="12700">
            <a:solidFill>
              <a:srgbClr val="0D9488"/>
            </a:solidFill>
            <a:prstDash val="solid"/>
          </a:ln>
        </p:spPr>
      </p:sp>
      <p:sp>
        <p:nvSpPr>
          <p:cNvPr id="27" name="Text 25"/>
          <p:cNvSpPr/>
          <p:nvPr/>
        </p:nvSpPr>
        <p:spPr>
          <a:xfrm>
            <a:off x="5486400" y="1179576"/>
            <a:ext cx="3246120" cy="347472"/>
          </a:xfrm>
          <a:prstGeom prst="rect">
            <a:avLst/>
          </a:prstGeom>
          <a:noFill/>
          <a:ln/>
        </p:spPr>
        <p:txBody>
          <a:bodyPr wrap="square" lIns="0" tIns="0" rIns="0" bIns="0" rtlCol="0" anchor="ctr"/>
          <a:lstStyle/>
          <a:p>
            <a:pPr marL="0" indent="0" algn="l">
              <a:buNone/>
            </a:pPr>
            <a:r>
              <a:rPr lang="en-US" sz="1050" dirty="0">
                <a:solidFill>
                  <a:srgbClr val="334155"/>
                </a:solidFill>
                <a:latin typeface="Times New Roman" pitchFamily="18" charset="0"/>
                <a:cs typeface="Times New Roman" pitchFamily="18" charset="0"/>
              </a:rPr>
              <a:t>Eliminate manual paper-based diet ordering</a:t>
            </a:r>
            <a:endParaRPr lang="en-US" sz="1050" dirty="0">
              <a:latin typeface="Times New Roman" pitchFamily="18" charset="0"/>
              <a:cs typeface="Times New Roman" pitchFamily="18" charset="0"/>
            </a:endParaRPr>
          </a:p>
        </p:txBody>
      </p:sp>
      <p:sp>
        <p:nvSpPr>
          <p:cNvPr id="28" name="Shape 26"/>
          <p:cNvSpPr/>
          <p:nvPr/>
        </p:nvSpPr>
        <p:spPr>
          <a:xfrm>
            <a:off x="5212080" y="1636776"/>
            <a:ext cx="201168" cy="201168"/>
          </a:xfrm>
          <a:prstGeom prst="ellipse">
            <a:avLst/>
          </a:prstGeom>
          <a:solidFill>
            <a:srgbClr val="0D9488"/>
          </a:solidFill>
          <a:ln w="12700">
            <a:solidFill>
              <a:srgbClr val="0D9488"/>
            </a:solidFill>
            <a:prstDash val="solid"/>
          </a:ln>
        </p:spPr>
      </p:sp>
      <p:sp>
        <p:nvSpPr>
          <p:cNvPr id="29" name="Text 27"/>
          <p:cNvSpPr/>
          <p:nvPr/>
        </p:nvSpPr>
        <p:spPr>
          <a:xfrm>
            <a:off x="5486400" y="1593850"/>
            <a:ext cx="3246120" cy="347472"/>
          </a:xfrm>
          <a:prstGeom prst="rect">
            <a:avLst/>
          </a:prstGeom>
          <a:noFill/>
          <a:ln/>
        </p:spPr>
        <p:txBody>
          <a:bodyPr wrap="square" lIns="0" tIns="0" rIns="0" bIns="0" rtlCol="0" anchor="ctr"/>
          <a:lstStyle/>
          <a:p>
            <a:pPr marL="0" indent="0" algn="l">
              <a:buNone/>
            </a:pPr>
            <a:r>
              <a:rPr lang="en-US" sz="1050" dirty="0">
                <a:solidFill>
                  <a:srgbClr val="334155"/>
                </a:solidFill>
                <a:latin typeface="Times New Roman" pitchFamily="18" charset="0"/>
                <a:cs typeface="Times New Roman" pitchFamily="18" charset="0"/>
              </a:rPr>
              <a:t>Implement role-based access (Admin / Dietitian / Nurse / Kitchen)</a:t>
            </a:r>
            <a:endParaRPr lang="en-US" sz="1050" dirty="0">
              <a:latin typeface="Times New Roman" pitchFamily="18" charset="0"/>
              <a:cs typeface="Times New Roman" pitchFamily="18" charset="0"/>
            </a:endParaRPr>
          </a:p>
        </p:txBody>
      </p:sp>
      <p:sp>
        <p:nvSpPr>
          <p:cNvPr id="30" name="Shape 28"/>
          <p:cNvSpPr/>
          <p:nvPr/>
        </p:nvSpPr>
        <p:spPr>
          <a:xfrm>
            <a:off x="5212080" y="2020824"/>
            <a:ext cx="201168" cy="201168"/>
          </a:xfrm>
          <a:prstGeom prst="ellipse">
            <a:avLst/>
          </a:prstGeom>
          <a:solidFill>
            <a:srgbClr val="0D9488"/>
          </a:solidFill>
          <a:ln w="12700">
            <a:solidFill>
              <a:srgbClr val="0D9488"/>
            </a:solidFill>
            <a:prstDash val="solid"/>
          </a:ln>
        </p:spPr>
      </p:sp>
      <p:sp>
        <p:nvSpPr>
          <p:cNvPr id="31" name="Text 29"/>
          <p:cNvSpPr/>
          <p:nvPr/>
        </p:nvSpPr>
        <p:spPr>
          <a:xfrm>
            <a:off x="5486400" y="1947672"/>
            <a:ext cx="3246120" cy="347472"/>
          </a:xfrm>
          <a:prstGeom prst="rect">
            <a:avLst/>
          </a:prstGeom>
          <a:noFill/>
          <a:ln/>
        </p:spPr>
        <p:txBody>
          <a:bodyPr wrap="square" lIns="0" tIns="0" rIns="0" bIns="0" rtlCol="0" anchor="ctr"/>
          <a:lstStyle/>
          <a:p>
            <a:pPr marL="0" indent="0" algn="l">
              <a:buNone/>
            </a:pPr>
            <a:r>
              <a:rPr lang="en-US" sz="1050" dirty="0">
                <a:solidFill>
                  <a:srgbClr val="334155"/>
                </a:solidFill>
                <a:latin typeface="Times New Roman" pitchFamily="18" charset="0"/>
                <a:cs typeface="Times New Roman" pitchFamily="18" charset="0"/>
              </a:rPr>
              <a:t>Automate caloric requirement calculation via BMR formula</a:t>
            </a:r>
            <a:endParaRPr lang="en-US" sz="1050" dirty="0">
              <a:latin typeface="Times New Roman" pitchFamily="18" charset="0"/>
              <a:cs typeface="Times New Roman" pitchFamily="18" charset="0"/>
            </a:endParaRPr>
          </a:p>
        </p:txBody>
      </p:sp>
      <p:sp>
        <p:nvSpPr>
          <p:cNvPr id="32" name="Shape 30"/>
          <p:cNvSpPr/>
          <p:nvPr/>
        </p:nvSpPr>
        <p:spPr>
          <a:xfrm>
            <a:off x="5212080" y="2404872"/>
            <a:ext cx="201168" cy="201168"/>
          </a:xfrm>
          <a:prstGeom prst="ellipse">
            <a:avLst/>
          </a:prstGeom>
          <a:solidFill>
            <a:srgbClr val="0D9488"/>
          </a:solidFill>
          <a:ln w="12700">
            <a:solidFill>
              <a:srgbClr val="0D9488"/>
            </a:solidFill>
            <a:prstDash val="solid"/>
          </a:ln>
        </p:spPr>
      </p:sp>
      <p:sp>
        <p:nvSpPr>
          <p:cNvPr id="33" name="Text 31"/>
          <p:cNvSpPr/>
          <p:nvPr/>
        </p:nvSpPr>
        <p:spPr>
          <a:xfrm>
            <a:off x="5486400" y="2331720"/>
            <a:ext cx="3246120" cy="347472"/>
          </a:xfrm>
          <a:prstGeom prst="rect">
            <a:avLst/>
          </a:prstGeom>
          <a:noFill/>
          <a:ln/>
        </p:spPr>
        <p:txBody>
          <a:bodyPr wrap="square" lIns="0" tIns="0" rIns="0" bIns="0" rtlCol="0" anchor="ctr"/>
          <a:lstStyle/>
          <a:p>
            <a:pPr marL="0" indent="0" algn="l">
              <a:buNone/>
            </a:pPr>
            <a:r>
              <a:rPr lang="en-US" sz="1050" dirty="0">
                <a:solidFill>
                  <a:srgbClr val="334155"/>
                </a:solidFill>
                <a:latin typeface="Times New Roman" pitchFamily="18" charset="0"/>
                <a:cs typeface="Times New Roman" pitchFamily="18" charset="0"/>
              </a:rPr>
              <a:t>Provide real-time allergy conflict detection before serving</a:t>
            </a:r>
            <a:endParaRPr lang="en-US" sz="1050" dirty="0">
              <a:latin typeface="Times New Roman" pitchFamily="18" charset="0"/>
              <a:cs typeface="Times New Roman" pitchFamily="18" charset="0"/>
            </a:endParaRPr>
          </a:p>
        </p:txBody>
      </p:sp>
      <p:sp>
        <p:nvSpPr>
          <p:cNvPr id="34" name="Shape 32"/>
          <p:cNvSpPr/>
          <p:nvPr/>
        </p:nvSpPr>
        <p:spPr>
          <a:xfrm>
            <a:off x="5212080" y="2788920"/>
            <a:ext cx="201168" cy="201168"/>
          </a:xfrm>
          <a:prstGeom prst="ellipse">
            <a:avLst/>
          </a:prstGeom>
          <a:solidFill>
            <a:srgbClr val="0D9488"/>
          </a:solidFill>
          <a:ln w="12700">
            <a:solidFill>
              <a:srgbClr val="0D9488"/>
            </a:solidFill>
            <a:prstDash val="solid"/>
          </a:ln>
        </p:spPr>
      </p:sp>
      <p:sp>
        <p:nvSpPr>
          <p:cNvPr id="35" name="Text 33"/>
          <p:cNvSpPr/>
          <p:nvPr/>
        </p:nvSpPr>
        <p:spPr>
          <a:xfrm>
            <a:off x="5486400" y="2715768"/>
            <a:ext cx="3246120" cy="347472"/>
          </a:xfrm>
          <a:prstGeom prst="rect">
            <a:avLst/>
          </a:prstGeom>
          <a:noFill/>
          <a:ln/>
        </p:spPr>
        <p:txBody>
          <a:bodyPr wrap="square" lIns="0" tIns="0" rIns="0" bIns="0" rtlCol="0" anchor="ctr"/>
          <a:lstStyle/>
          <a:p>
            <a:pPr marL="0" indent="0" algn="l">
              <a:buNone/>
            </a:pPr>
            <a:r>
              <a:rPr lang="en-US" sz="1050" dirty="0">
                <a:solidFill>
                  <a:srgbClr val="334155"/>
                </a:solidFill>
                <a:latin typeface="Times New Roman" pitchFamily="18" charset="0"/>
                <a:cs typeface="Times New Roman" pitchFamily="18" charset="0"/>
              </a:rPr>
              <a:t>Create structured meal plan approval workflow</a:t>
            </a:r>
            <a:endParaRPr lang="en-US" sz="1050" dirty="0">
              <a:latin typeface="Times New Roman" pitchFamily="18" charset="0"/>
              <a:cs typeface="Times New Roman" pitchFamily="18" charset="0"/>
            </a:endParaRPr>
          </a:p>
        </p:txBody>
      </p:sp>
      <p:sp>
        <p:nvSpPr>
          <p:cNvPr id="36" name="Shape 34"/>
          <p:cNvSpPr/>
          <p:nvPr/>
        </p:nvSpPr>
        <p:spPr>
          <a:xfrm>
            <a:off x="5212080" y="3172968"/>
            <a:ext cx="201168" cy="201168"/>
          </a:xfrm>
          <a:prstGeom prst="ellipse">
            <a:avLst/>
          </a:prstGeom>
          <a:solidFill>
            <a:srgbClr val="0D9488"/>
          </a:solidFill>
          <a:ln w="12700">
            <a:solidFill>
              <a:srgbClr val="0D9488"/>
            </a:solidFill>
            <a:prstDash val="solid"/>
          </a:ln>
        </p:spPr>
      </p:sp>
      <p:sp>
        <p:nvSpPr>
          <p:cNvPr id="37" name="Text 35"/>
          <p:cNvSpPr/>
          <p:nvPr/>
        </p:nvSpPr>
        <p:spPr>
          <a:xfrm>
            <a:off x="5486400" y="3099816"/>
            <a:ext cx="3246120" cy="347472"/>
          </a:xfrm>
          <a:prstGeom prst="rect">
            <a:avLst/>
          </a:prstGeom>
          <a:noFill/>
          <a:ln/>
        </p:spPr>
        <p:txBody>
          <a:bodyPr wrap="square" lIns="0" tIns="0" rIns="0" bIns="0" rtlCol="0" anchor="ctr"/>
          <a:lstStyle/>
          <a:p>
            <a:pPr marL="0" indent="0" algn="l">
              <a:buNone/>
            </a:pPr>
            <a:r>
              <a:rPr lang="en-US" sz="1050" dirty="0">
                <a:solidFill>
                  <a:srgbClr val="334155"/>
                </a:solidFill>
                <a:latin typeface="Times New Roman" pitchFamily="18" charset="0"/>
                <a:cs typeface="Times New Roman" pitchFamily="18" charset="0"/>
              </a:rPr>
              <a:t>Track all kitchen orders from preparation to delivery</a:t>
            </a:r>
            <a:endParaRPr lang="en-US" sz="1050" dirty="0">
              <a:latin typeface="Times New Roman" pitchFamily="18" charset="0"/>
              <a:cs typeface="Times New Roman" pitchFamily="18" charset="0"/>
            </a:endParaRPr>
          </a:p>
        </p:txBody>
      </p:sp>
      <p:sp>
        <p:nvSpPr>
          <p:cNvPr id="38" name="Shape 36"/>
          <p:cNvSpPr/>
          <p:nvPr/>
        </p:nvSpPr>
        <p:spPr>
          <a:xfrm>
            <a:off x="5212080" y="3557016"/>
            <a:ext cx="201168" cy="201168"/>
          </a:xfrm>
          <a:prstGeom prst="ellipse">
            <a:avLst/>
          </a:prstGeom>
          <a:solidFill>
            <a:srgbClr val="0D9488"/>
          </a:solidFill>
          <a:ln w="12700">
            <a:solidFill>
              <a:srgbClr val="0D9488"/>
            </a:solidFill>
            <a:prstDash val="solid"/>
          </a:ln>
        </p:spPr>
      </p:sp>
      <p:sp>
        <p:nvSpPr>
          <p:cNvPr id="39" name="Text 37"/>
          <p:cNvSpPr/>
          <p:nvPr/>
        </p:nvSpPr>
        <p:spPr>
          <a:xfrm>
            <a:off x="5486400" y="3483864"/>
            <a:ext cx="3246120" cy="347472"/>
          </a:xfrm>
          <a:prstGeom prst="rect">
            <a:avLst/>
          </a:prstGeom>
          <a:noFill/>
          <a:ln/>
        </p:spPr>
        <p:txBody>
          <a:bodyPr wrap="square" lIns="0" tIns="0" rIns="0" bIns="0" rtlCol="0" anchor="ctr"/>
          <a:lstStyle/>
          <a:p>
            <a:pPr marL="0" indent="0" algn="l">
              <a:buNone/>
            </a:pPr>
            <a:r>
              <a:rPr lang="en-US" sz="1050" dirty="0">
                <a:solidFill>
                  <a:srgbClr val="334155"/>
                </a:solidFill>
                <a:latin typeface="Times New Roman" pitchFamily="18" charset="0"/>
                <a:cs typeface="Times New Roman" pitchFamily="18" charset="0"/>
              </a:rPr>
              <a:t>Generate exportable CSV reports for all modules</a:t>
            </a:r>
            <a:endParaRPr lang="en-US" sz="1050" dirty="0">
              <a:latin typeface="Times New Roman" pitchFamily="18" charset="0"/>
              <a:cs typeface="Times New Roman" pitchFamily="18" charset="0"/>
            </a:endParaRPr>
          </a:p>
        </p:txBody>
      </p:sp>
      <p:sp>
        <p:nvSpPr>
          <p:cNvPr id="40" name="Shape 38"/>
          <p:cNvSpPr/>
          <p:nvPr/>
        </p:nvSpPr>
        <p:spPr>
          <a:xfrm>
            <a:off x="5212080" y="3941064"/>
            <a:ext cx="201168" cy="201168"/>
          </a:xfrm>
          <a:prstGeom prst="ellipse">
            <a:avLst/>
          </a:prstGeom>
          <a:solidFill>
            <a:srgbClr val="0D9488"/>
          </a:solidFill>
          <a:ln w="12700">
            <a:solidFill>
              <a:srgbClr val="0D9488"/>
            </a:solidFill>
            <a:prstDash val="solid"/>
          </a:ln>
        </p:spPr>
      </p:sp>
      <p:sp>
        <p:nvSpPr>
          <p:cNvPr id="41" name="Text 39"/>
          <p:cNvSpPr/>
          <p:nvPr/>
        </p:nvSpPr>
        <p:spPr>
          <a:xfrm>
            <a:off x="5486400" y="3867912"/>
            <a:ext cx="3246120" cy="347472"/>
          </a:xfrm>
          <a:prstGeom prst="rect">
            <a:avLst/>
          </a:prstGeom>
          <a:noFill/>
          <a:ln/>
        </p:spPr>
        <p:txBody>
          <a:bodyPr wrap="square" lIns="0" tIns="0" rIns="0" bIns="0" rtlCol="0" anchor="ctr"/>
          <a:lstStyle/>
          <a:p>
            <a:pPr marL="0" indent="0" algn="l">
              <a:buNone/>
            </a:pPr>
            <a:r>
              <a:rPr lang="en-US" sz="1050" dirty="0">
                <a:solidFill>
                  <a:srgbClr val="334155"/>
                </a:solidFill>
                <a:latin typeface="Times New Roman" pitchFamily="18" charset="0"/>
                <a:cs typeface="Times New Roman" pitchFamily="18" charset="0"/>
              </a:rPr>
              <a:t>Build zero-install, browser-only deployable system</a:t>
            </a:r>
            <a:endParaRPr lang="en-US" sz="105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6350"/>
            <a:ext cx="64008" cy="5143500"/>
          </a:xfrm>
          <a:prstGeom prst="rect">
            <a:avLst/>
          </a:prstGeom>
          <a:solidFill>
            <a:srgbClr val="0D9488"/>
          </a:solidFill>
          <a:ln w="12700">
            <a:solidFill>
              <a:srgbClr val="0D9488"/>
            </a:solidFill>
            <a:prstDash val="solid"/>
          </a:ln>
        </p:spPr>
      </p:sp>
      <p:sp>
        <p:nvSpPr>
          <p:cNvPr id="3" name="Text 1"/>
          <p:cNvSpPr/>
          <p:nvPr/>
        </p:nvSpPr>
        <p:spPr>
          <a:xfrm>
            <a:off x="292608" y="176530"/>
            <a:ext cx="8595360" cy="438912"/>
          </a:xfrm>
          <a:prstGeom prst="rect">
            <a:avLst/>
          </a:prstGeom>
          <a:noFill/>
          <a:ln/>
        </p:spPr>
        <p:txBody>
          <a:bodyPr wrap="square" lIns="0" tIns="0" rIns="0" bIns="0" rtlCol="0" anchor="ctr"/>
          <a:lstStyle/>
          <a:p>
            <a:pPr marL="0" indent="0" algn="l">
              <a:buNone/>
            </a:pPr>
            <a:r>
              <a:rPr lang="en-US" sz="2800" b="1" dirty="0">
                <a:solidFill>
                  <a:srgbClr val="0A2463"/>
                </a:solidFill>
                <a:latin typeface="Times New Roman" pitchFamily="18" charset="0"/>
                <a:cs typeface="Times New Roman" pitchFamily="18" charset="0"/>
              </a:rPr>
              <a:t>System Architecture — Entity Relationships</a:t>
            </a:r>
            <a:endParaRPr lang="en-US" sz="2800" dirty="0">
              <a:latin typeface="Times New Roman" pitchFamily="18" charset="0"/>
              <a:cs typeface="Times New Roman" pitchFamily="18" charset="0"/>
            </a:endParaRPr>
          </a:p>
        </p:txBody>
      </p:sp>
      <p:sp>
        <p:nvSpPr>
          <p:cNvPr id="4" name="Shape 2"/>
          <p:cNvSpPr/>
          <p:nvPr/>
        </p:nvSpPr>
        <p:spPr>
          <a:xfrm>
            <a:off x="292608" y="606298"/>
            <a:ext cx="8558784" cy="27432"/>
          </a:xfrm>
          <a:prstGeom prst="rect">
            <a:avLst/>
          </a:prstGeom>
          <a:solidFill>
            <a:srgbClr val="0D9488"/>
          </a:solidFill>
          <a:ln w="12700">
            <a:solidFill>
              <a:srgbClr val="0D9488"/>
            </a:solidFill>
            <a:prstDash val="solid"/>
          </a:ln>
        </p:spPr>
      </p:sp>
      <p:sp>
        <p:nvSpPr>
          <p:cNvPr id="5" name="Shape 3"/>
          <p:cNvSpPr/>
          <p:nvPr/>
        </p:nvSpPr>
        <p:spPr>
          <a:xfrm>
            <a:off x="164592" y="1081786"/>
            <a:ext cx="1920240" cy="329184"/>
          </a:xfrm>
          <a:prstGeom prst="rect">
            <a:avLst/>
          </a:prstGeom>
          <a:solidFill>
            <a:srgbClr val="0A2463"/>
          </a:solidFill>
          <a:ln w="12700">
            <a:solidFill>
              <a:srgbClr val="0A2463"/>
            </a:solidFill>
            <a:prstDash val="solid"/>
          </a:ln>
        </p:spPr>
      </p:sp>
      <p:sp>
        <p:nvSpPr>
          <p:cNvPr id="6" name="Text 4"/>
          <p:cNvSpPr/>
          <p:nvPr/>
        </p:nvSpPr>
        <p:spPr>
          <a:xfrm>
            <a:off x="164592" y="1090930"/>
            <a:ext cx="1920240" cy="329184"/>
          </a:xfrm>
          <a:prstGeom prst="rect">
            <a:avLst/>
          </a:prstGeom>
          <a:noFill/>
          <a:ln/>
        </p:spPr>
        <p:txBody>
          <a:bodyPr wrap="square" lIns="0" tIns="0" rIns="0" bIns="0" rtlCol="0" anchor="ctr"/>
          <a:lstStyle/>
          <a:p>
            <a:pPr marL="0" indent="0" algn="ctr">
              <a:buNone/>
            </a:pPr>
            <a:r>
              <a:rPr lang="en-US" sz="1050" b="1" dirty="0" smtClean="0">
                <a:solidFill>
                  <a:srgbClr val="FFFFFF"/>
                </a:solidFill>
                <a:latin typeface="Times New Roman" pitchFamily="18" charset="0"/>
                <a:cs typeface="Times New Roman" pitchFamily="18" charset="0"/>
              </a:rPr>
              <a:t>👤User</a:t>
            </a:r>
            <a:endParaRPr lang="en-US" sz="1050" dirty="0">
              <a:latin typeface="Times New Roman" pitchFamily="18" charset="0"/>
              <a:cs typeface="Times New Roman" pitchFamily="18" charset="0"/>
            </a:endParaRPr>
          </a:p>
        </p:txBody>
      </p:sp>
      <p:sp>
        <p:nvSpPr>
          <p:cNvPr id="7" name="Shape 5"/>
          <p:cNvSpPr/>
          <p:nvPr/>
        </p:nvSpPr>
        <p:spPr>
          <a:xfrm>
            <a:off x="164592" y="1420114"/>
            <a:ext cx="1920240" cy="969264"/>
          </a:xfrm>
          <a:prstGeom prst="rect">
            <a:avLst/>
          </a:prstGeom>
          <a:solidFill>
            <a:srgbClr val="FFFFFF"/>
          </a:solidFill>
          <a:ln w="12700">
            <a:solidFill>
              <a:srgbClr val="0A2463"/>
            </a:solidFill>
            <a:prstDash val="solid"/>
          </a:ln>
        </p:spPr>
      </p:sp>
      <p:sp>
        <p:nvSpPr>
          <p:cNvPr id="8" name="Text 6"/>
          <p:cNvSpPr/>
          <p:nvPr/>
        </p:nvSpPr>
        <p:spPr>
          <a:xfrm>
            <a:off x="243078" y="1560830"/>
            <a:ext cx="177393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id: String</a:t>
            </a:r>
            <a:endParaRPr lang="en-US" sz="900" dirty="0">
              <a:latin typeface="Times New Roman" pitchFamily="18" charset="0"/>
              <a:cs typeface="Times New Roman" pitchFamily="18" charset="0"/>
            </a:endParaRPr>
          </a:p>
        </p:txBody>
      </p:sp>
      <p:sp>
        <p:nvSpPr>
          <p:cNvPr id="9" name="Text 7"/>
          <p:cNvSpPr/>
          <p:nvPr/>
        </p:nvSpPr>
        <p:spPr>
          <a:xfrm>
            <a:off x="243078" y="1707896"/>
            <a:ext cx="177393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name: String</a:t>
            </a:r>
            <a:endParaRPr lang="en-US" sz="900" dirty="0">
              <a:latin typeface="Times New Roman" pitchFamily="18" charset="0"/>
              <a:cs typeface="Times New Roman" pitchFamily="18" charset="0"/>
            </a:endParaRPr>
          </a:p>
        </p:txBody>
      </p:sp>
      <p:sp>
        <p:nvSpPr>
          <p:cNvPr id="10" name="Text 8"/>
          <p:cNvSpPr/>
          <p:nvPr/>
        </p:nvSpPr>
        <p:spPr>
          <a:xfrm>
            <a:off x="243078" y="1886458"/>
            <a:ext cx="177393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email: String</a:t>
            </a:r>
            <a:endParaRPr lang="en-US" sz="900" dirty="0">
              <a:latin typeface="Times New Roman" pitchFamily="18" charset="0"/>
              <a:cs typeface="Times New Roman" pitchFamily="18" charset="0"/>
            </a:endParaRPr>
          </a:p>
        </p:txBody>
      </p:sp>
      <p:sp>
        <p:nvSpPr>
          <p:cNvPr id="11" name="Text 9"/>
          <p:cNvSpPr/>
          <p:nvPr/>
        </p:nvSpPr>
        <p:spPr>
          <a:xfrm>
            <a:off x="243078" y="2087626"/>
            <a:ext cx="177393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role: admin|dietitian|nurse|kitchen</a:t>
            </a:r>
            <a:endParaRPr lang="en-US" sz="900" dirty="0">
              <a:latin typeface="Times New Roman" pitchFamily="18" charset="0"/>
              <a:cs typeface="Times New Roman" pitchFamily="18" charset="0"/>
            </a:endParaRPr>
          </a:p>
        </p:txBody>
      </p:sp>
      <p:sp>
        <p:nvSpPr>
          <p:cNvPr id="12" name="Shape 10"/>
          <p:cNvSpPr/>
          <p:nvPr/>
        </p:nvSpPr>
        <p:spPr>
          <a:xfrm>
            <a:off x="2331720" y="910544"/>
            <a:ext cx="2011680" cy="299258"/>
          </a:xfrm>
          <a:prstGeom prst="rect">
            <a:avLst/>
          </a:prstGeom>
          <a:solidFill>
            <a:srgbClr val="0D9488"/>
          </a:solidFill>
          <a:ln w="12700">
            <a:solidFill>
              <a:srgbClr val="0D9488"/>
            </a:solidFill>
            <a:prstDash val="solid"/>
          </a:ln>
        </p:spPr>
      </p:sp>
      <p:sp>
        <p:nvSpPr>
          <p:cNvPr id="13" name="Text 11"/>
          <p:cNvSpPr/>
          <p:nvPr/>
        </p:nvSpPr>
        <p:spPr>
          <a:xfrm>
            <a:off x="2331720" y="880618"/>
            <a:ext cx="2011680" cy="329184"/>
          </a:xfrm>
          <a:prstGeom prst="rect">
            <a:avLst/>
          </a:prstGeom>
          <a:noFill/>
          <a:ln/>
        </p:spPr>
        <p:txBody>
          <a:bodyPr wrap="square" lIns="0" tIns="0" rIns="0" bIns="0" rtlCol="0" anchor="ctr"/>
          <a:lstStyle/>
          <a:p>
            <a:pPr marL="0" indent="0" algn="ctr">
              <a:buNone/>
            </a:pPr>
            <a:r>
              <a:rPr lang="en-US" sz="1050" b="1" dirty="0" smtClean="0">
                <a:solidFill>
                  <a:srgbClr val="FFFFFF"/>
                </a:solidFill>
                <a:latin typeface="Times New Roman" pitchFamily="18" charset="0"/>
                <a:cs typeface="Times New Roman" pitchFamily="18" charset="0"/>
              </a:rPr>
              <a:t>🛏  </a:t>
            </a:r>
            <a:r>
              <a:rPr lang="en-US" sz="1050" b="1" dirty="0">
                <a:solidFill>
                  <a:srgbClr val="FFFFFF"/>
                </a:solidFill>
                <a:latin typeface="Times New Roman" pitchFamily="18" charset="0"/>
                <a:cs typeface="Times New Roman" pitchFamily="18" charset="0"/>
              </a:rPr>
              <a:t>Patient</a:t>
            </a:r>
            <a:endParaRPr lang="en-US" sz="1050" dirty="0">
              <a:latin typeface="Times New Roman" pitchFamily="18" charset="0"/>
              <a:cs typeface="Times New Roman" pitchFamily="18" charset="0"/>
            </a:endParaRPr>
          </a:p>
        </p:txBody>
      </p:sp>
      <p:sp>
        <p:nvSpPr>
          <p:cNvPr id="14" name="Shape 12"/>
          <p:cNvSpPr/>
          <p:nvPr/>
        </p:nvSpPr>
        <p:spPr>
          <a:xfrm>
            <a:off x="2331720" y="1167638"/>
            <a:ext cx="2011680" cy="1188720"/>
          </a:xfrm>
          <a:prstGeom prst="rect">
            <a:avLst/>
          </a:prstGeom>
          <a:solidFill>
            <a:srgbClr val="FFFFFF"/>
          </a:solidFill>
          <a:ln w="12700">
            <a:solidFill>
              <a:srgbClr val="0D9488"/>
            </a:solidFill>
            <a:prstDash val="solid"/>
          </a:ln>
        </p:spPr>
      </p:sp>
      <p:sp>
        <p:nvSpPr>
          <p:cNvPr id="15" name="Text 13"/>
          <p:cNvSpPr/>
          <p:nvPr/>
        </p:nvSpPr>
        <p:spPr>
          <a:xfrm>
            <a:off x="2391410" y="1264666"/>
            <a:ext cx="186537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id: String</a:t>
            </a:r>
            <a:endParaRPr lang="en-US" sz="900" dirty="0">
              <a:latin typeface="Times New Roman" pitchFamily="18" charset="0"/>
              <a:cs typeface="Times New Roman" pitchFamily="18" charset="0"/>
            </a:endParaRPr>
          </a:p>
        </p:txBody>
      </p:sp>
      <p:sp>
        <p:nvSpPr>
          <p:cNvPr id="16" name="Text 14"/>
          <p:cNvSpPr/>
          <p:nvPr/>
        </p:nvSpPr>
        <p:spPr>
          <a:xfrm>
            <a:off x="2393188" y="1465834"/>
            <a:ext cx="186537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name: String</a:t>
            </a:r>
            <a:endParaRPr lang="en-US" sz="900" dirty="0">
              <a:latin typeface="Times New Roman" pitchFamily="18" charset="0"/>
              <a:cs typeface="Times New Roman" pitchFamily="18" charset="0"/>
            </a:endParaRPr>
          </a:p>
        </p:txBody>
      </p:sp>
      <p:sp>
        <p:nvSpPr>
          <p:cNvPr id="17" name="Text 15"/>
          <p:cNvSpPr/>
          <p:nvPr/>
        </p:nvSpPr>
        <p:spPr>
          <a:xfrm>
            <a:off x="2391410" y="1685036"/>
            <a:ext cx="186537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ward: String</a:t>
            </a:r>
            <a:endParaRPr lang="en-US" sz="900" dirty="0">
              <a:latin typeface="Times New Roman" pitchFamily="18" charset="0"/>
              <a:cs typeface="Times New Roman" pitchFamily="18" charset="0"/>
            </a:endParaRPr>
          </a:p>
        </p:txBody>
      </p:sp>
      <p:sp>
        <p:nvSpPr>
          <p:cNvPr id="18" name="Text 16"/>
          <p:cNvSpPr/>
          <p:nvPr/>
        </p:nvSpPr>
        <p:spPr>
          <a:xfrm>
            <a:off x="2404872" y="1878838"/>
            <a:ext cx="186537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bed: String</a:t>
            </a:r>
            <a:endParaRPr lang="en-US" sz="900" dirty="0">
              <a:latin typeface="Times New Roman" pitchFamily="18" charset="0"/>
              <a:cs typeface="Times New Roman" pitchFamily="18" charset="0"/>
            </a:endParaRPr>
          </a:p>
        </p:txBody>
      </p:sp>
      <p:sp>
        <p:nvSpPr>
          <p:cNvPr id="19" name="Text 17"/>
          <p:cNvSpPr/>
          <p:nvPr/>
        </p:nvSpPr>
        <p:spPr>
          <a:xfrm>
            <a:off x="2404872" y="2089912"/>
            <a:ext cx="186537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condition: String</a:t>
            </a:r>
            <a:endParaRPr lang="en-US" sz="900" dirty="0">
              <a:latin typeface="Times New Roman" pitchFamily="18" charset="0"/>
              <a:cs typeface="Times New Roman" pitchFamily="18" charset="0"/>
            </a:endParaRPr>
          </a:p>
        </p:txBody>
      </p:sp>
      <p:sp>
        <p:nvSpPr>
          <p:cNvPr id="20" name="Shape 18"/>
          <p:cNvSpPr/>
          <p:nvPr/>
        </p:nvSpPr>
        <p:spPr>
          <a:xfrm>
            <a:off x="4562856" y="834136"/>
            <a:ext cx="2011680" cy="329184"/>
          </a:xfrm>
          <a:prstGeom prst="rect">
            <a:avLst/>
          </a:prstGeom>
          <a:solidFill>
            <a:srgbClr val="7C3AED"/>
          </a:solidFill>
          <a:ln w="12700">
            <a:solidFill>
              <a:srgbClr val="7C3AED"/>
            </a:solidFill>
            <a:prstDash val="solid"/>
          </a:ln>
        </p:spPr>
      </p:sp>
      <p:sp>
        <p:nvSpPr>
          <p:cNvPr id="21" name="Text 19"/>
          <p:cNvSpPr/>
          <p:nvPr/>
        </p:nvSpPr>
        <p:spPr>
          <a:xfrm>
            <a:off x="4562856" y="838454"/>
            <a:ext cx="201168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18" charset="0"/>
                <a:cs typeface="Times New Roman" pitchFamily="18" charset="0"/>
              </a:rPr>
              <a:t>📋 </a:t>
            </a:r>
            <a:r>
              <a:rPr lang="en-US" sz="1050" b="1" dirty="0" smtClean="0">
                <a:solidFill>
                  <a:srgbClr val="FFFFFF"/>
                </a:solidFill>
                <a:latin typeface="Times New Roman" pitchFamily="18" charset="0"/>
                <a:cs typeface="Times New Roman" pitchFamily="18" charset="0"/>
              </a:rPr>
              <a:t> </a:t>
            </a:r>
            <a:r>
              <a:rPr lang="en-US" sz="1050" b="1" dirty="0" err="1" smtClean="0">
                <a:solidFill>
                  <a:srgbClr val="FFFFFF"/>
                </a:solidFill>
                <a:latin typeface="Times New Roman" pitchFamily="18" charset="0"/>
                <a:cs typeface="Times New Roman" pitchFamily="18" charset="0"/>
              </a:rPr>
              <a:t>DietaryProfile</a:t>
            </a:r>
            <a:endParaRPr lang="en-US" sz="1050" dirty="0">
              <a:latin typeface="Times New Roman" pitchFamily="18" charset="0"/>
              <a:cs typeface="Times New Roman" pitchFamily="18" charset="0"/>
            </a:endParaRPr>
          </a:p>
        </p:txBody>
      </p:sp>
      <p:sp>
        <p:nvSpPr>
          <p:cNvPr id="22" name="Shape 20"/>
          <p:cNvSpPr/>
          <p:nvPr/>
        </p:nvSpPr>
        <p:spPr>
          <a:xfrm>
            <a:off x="4562856" y="1183132"/>
            <a:ext cx="2011680" cy="1188720"/>
          </a:xfrm>
          <a:prstGeom prst="rect">
            <a:avLst/>
          </a:prstGeom>
          <a:solidFill>
            <a:srgbClr val="FFFFFF"/>
          </a:solidFill>
          <a:ln w="12700">
            <a:solidFill>
              <a:srgbClr val="7C3AED"/>
            </a:solidFill>
            <a:prstDash val="solid"/>
          </a:ln>
        </p:spPr>
      </p:sp>
      <p:sp>
        <p:nvSpPr>
          <p:cNvPr id="23" name="Text 21"/>
          <p:cNvSpPr/>
          <p:nvPr/>
        </p:nvSpPr>
        <p:spPr>
          <a:xfrm>
            <a:off x="4645152" y="1145794"/>
            <a:ext cx="186537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patientId: String</a:t>
            </a:r>
            <a:endParaRPr lang="en-US" sz="900" dirty="0">
              <a:latin typeface="Times New Roman" pitchFamily="18" charset="0"/>
              <a:cs typeface="Times New Roman" pitchFamily="18" charset="0"/>
            </a:endParaRPr>
          </a:p>
        </p:txBody>
      </p:sp>
      <p:sp>
        <p:nvSpPr>
          <p:cNvPr id="24" name="Text 22"/>
          <p:cNvSpPr/>
          <p:nvPr/>
        </p:nvSpPr>
        <p:spPr>
          <a:xfrm>
            <a:off x="4645152" y="1365250"/>
            <a:ext cx="186537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dietType: String</a:t>
            </a:r>
            <a:endParaRPr lang="en-US" sz="900" dirty="0">
              <a:latin typeface="Times New Roman" pitchFamily="18" charset="0"/>
              <a:cs typeface="Times New Roman" pitchFamily="18" charset="0"/>
            </a:endParaRPr>
          </a:p>
        </p:txBody>
      </p:sp>
      <p:sp>
        <p:nvSpPr>
          <p:cNvPr id="25" name="Text 23"/>
          <p:cNvSpPr/>
          <p:nvPr/>
        </p:nvSpPr>
        <p:spPr>
          <a:xfrm>
            <a:off x="4645152" y="1584706"/>
            <a:ext cx="186537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caloricNeeds: Number</a:t>
            </a:r>
            <a:endParaRPr lang="en-US" sz="900" dirty="0">
              <a:latin typeface="Times New Roman" pitchFamily="18" charset="0"/>
              <a:cs typeface="Times New Roman" pitchFamily="18" charset="0"/>
            </a:endParaRPr>
          </a:p>
        </p:txBody>
      </p:sp>
      <p:sp>
        <p:nvSpPr>
          <p:cNvPr id="26" name="Text 24"/>
          <p:cNvSpPr/>
          <p:nvPr/>
        </p:nvSpPr>
        <p:spPr>
          <a:xfrm>
            <a:off x="4645152" y="1804162"/>
            <a:ext cx="186537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allergies: String[]</a:t>
            </a:r>
            <a:endParaRPr lang="en-US" sz="900" dirty="0">
              <a:latin typeface="Times New Roman" pitchFamily="18" charset="0"/>
              <a:cs typeface="Times New Roman" pitchFamily="18" charset="0"/>
            </a:endParaRPr>
          </a:p>
        </p:txBody>
      </p:sp>
      <p:sp>
        <p:nvSpPr>
          <p:cNvPr id="27" name="Text 25"/>
          <p:cNvSpPr/>
          <p:nvPr/>
        </p:nvSpPr>
        <p:spPr>
          <a:xfrm>
            <a:off x="4645152" y="2023618"/>
            <a:ext cx="186537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restrictions: String[]</a:t>
            </a:r>
            <a:endParaRPr lang="en-US" sz="900" dirty="0">
              <a:latin typeface="Times New Roman" pitchFamily="18" charset="0"/>
              <a:cs typeface="Times New Roman" pitchFamily="18" charset="0"/>
            </a:endParaRPr>
          </a:p>
        </p:txBody>
      </p:sp>
      <p:sp>
        <p:nvSpPr>
          <p:cNvPr id="28" name="Shape 26"/>
          <p:cNvSpPr/>
          <p:nvPr/>
        </p:nvSpPr>
        <p:spPr>
          <a:xfrm>
            <a:off x="6830568" y="812546"/>
            <a:ext cx="2103120" cy="329184"/>
          </a:xfrm>
          <a:prstGeom prst="rect">
            <a:avLst/>
          </a:prstGeom>
          <a:solidFill>
            <a:srgbClr val="0369A1"/>
          </a:solidFill>
          <a:ln w="12700">
            <a:solidFill>
              <a:srgbClr val="0369A1"/>
            </a:solidFill>
            <a:prstDash val="solid"/>
          </a:ln>
        </p:spPr>
      </p:sp>
      <p:sp>
        <p:nvSpPr>
          <p:cNvPr id="29" name="Text 27"/>
          <p:cNvSpPr/>
          <p:nvPr/>
        </p:nvSpPr>
        <p:spPr>
          <a:xfrm>
            <a:off x="6830568" y="821436"/>
            <a:ext cx="2103120" cy="329184"/>
          </a:xfrm>
          <a:prstGeom prst="rect">
            <a:avLst/>
          </a:prstGeom>
          <a:noFill/>
          <a:ln/>
        </p:spPr>
        <p:txBody>
          <a:bodyPr wrap="square" lIns="0" tIns="0" rIns="0" bIns="0" rtlCol="0" anchor="ctr"/>
          <a:lstStyle/>
          <a:p>
            <a:pPr marL="0" indent="0" algn="ctr">
              <a:buNone/>
            </a:pPr>
            <a:r>
              <a:rPr lang="en-US" sz="1050" b="1" dirty="0" smtClean="0">
                <a:solidFill>
                  <a:srgbClr val="FFFFFF"/>
                </a:solidFill>
                <a:latin typeface="Times New Roman" pitchFamily="18" charset="0"/>
                <a:cs typeface="Times New Roman" pitchFamily="18" charset="0"/>
              </a:rPr>
              <a:t>🍽 </a:t>
            </a:r>
            <a:r>
              <a:rPr lang="en-US" sz="1050" b="1" dirty="0">
                <a:solidFill>
                  <a:srgbClr val="FFFFFF"/>
                </a:solidFill>
                <a:latin typeface="Times New Roman" pitchFamily="18" charset="0"/>
                <a:cs typeface="Times New Roman" pitchFamily="18" charset="0"/>
              </a:rPr>
              <a:t>Meal</a:t>
            </a:r>
            <a:endParaRPr lang="en-US" sz="1050" dirty="0">
              <a:latin typeface="Times New Roman" pitchFamily="18" charset="0"/>
              <a:cs typeface="Times New Roman" pitchFamily="18" charset="0"/>
            </a:endParaRPr>
          </a:p>
        </p:txBody>
      </p:sp>
      <p:sp>
        <p:nvSpPr>
          <p:cNvPr id="30" name="Shape 28"/>
          <p:cNvSpPr/>
          <p:nvPr/>
        </p:nvSpPr>
        <p:spPr>
          <a:xfrm>
            <a:off x="6830568" y="1145794"/>
            <a:ext cx="2103120" cy="1188720"/>
          </a:xfrm>
          <a:prstGeom prst="rect">
            <a:avLst/>
          </a:prstGeom>
          <a:solidFill>
            <a:srgbClr val="FFFFFF"/>
          </a:solidFill>
          <a:ln w="12700">
            <a:solidFill>
              <a:srgbClr val="0369A1"/>
            </a:solidFill>
            <a:prstDash val="solid"/>
          </a:ln>
        </p:spPr>
      </p:sp>
      <p:sp>
        <p:nvSpPr>
          <p:cNvPr id="31" name="Text 29"/>
          <p:cNvSpPr/>
          <p:nvPr/>
        </p:nvSpPr>
        <p:spPr>
          <a:xfrm>
            <a:off x="6912864" y="1145794"/>
            <a:ext cx="195681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id: String</a:t>
            </a:r>
            <a:endParaRPr lang="en-US" sz="900" dirty="0">
              <a:latin typeface="Times New Roman" pitchFamily="18" charset="0"/>
              <a:cs typeface="Times New Roman" pitchFamily="18" charset="0"/>
            </a:endParaRPr>
          </a:p>
        </p:txBody>
      </p:sp>
      <p:sp>
        <p:nvSpPr>
          <p:cNvPr id="32" name="Text 30"/>
          <p:cNvSpPr/>
          <p:nvPr/>
        </p:nvSpPr>
        <p:spPr>
          <a:xfrm>
            <a:off x="6912864" y="1365250"/>
            <a:ext cx="195681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name: String</a:t>
            </a:r>
            <a:endParaRPr lang="en-US" sz="900" dirty="0">
              <a:latin typeface="Times New Roman" pitchFamily="18" charset="0"/>
              <a:cs typeface="Times New Roman" pitchFamily="18" charset="0"/>
            </a:endParaRPr>
          </a:p>
        </p:txBody>
      </p:sp>
      <p:sp>
        <p:nvSpPr>
          <p:cNvPr id="33" name="Text 31"/>
          <p:cNvSpPr/>
          <p:nvPr/>
        </p:nvSpPr>
        <p:spPr>
          <a:xfrm>
            <a:off x="6912864" y="1584706"/>
            <a:ext cx="195681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type: Breakfast|Lunch…</a:t>
            </a:r>
            <a:endParaRPr lang="en-US" sz="900" dirty="0">
              <a:latin typeface="Times New Roman" pitchFamily="18" charset="0"/>
              <a:cs typeface="Times New Roman" pitchFamily="18" charset="0"/>
            </a:endParaRPr>
          </a:p>
        </p:txBody>
      </p:sp>
      <p:sp>
        <p:nvSpPr>
          <p:cNvPr id="34" name="Text 32"/>
          <p:cNvSpPr/>
          <p:nvPr/>
        </p:nvSpPr>
        <p:spPr>
          <a:xfrm>
            <a:off x="6912864" y="1804162"/>
            <a:ext cx="195681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calories: Number</a:t>
            </a:r>
            <a:endParaRPr lang="en-US" sz="900" dirty="0">
              <a:latin typeface="Times New Roman" pitchFamily="18" charset="0"/>
              <a:cs typeface="Times New Roman" pitchFamily="18" charset="0"/>
            </a:endParaRPr>
          </a:p>
        </p:txBody>
      </p:sp>
      <p:sp>
        <p:nvSpPr>
          <p:cNvPr id="35" name="Text 33"/>
          <p:cNvSpPr/>
          <p:nvPr/>
        </p:nvSpPr>
        <p:spPr>
          <a:xfrm>
            <a:off x="6912864" y="2023618"/>
            <a:ext cx="195681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allergens: String[]</a:t>
            </a:r>
            <a:endParaRPr lang="en-US" sz="900" dirty="0">
              <a:latin typeface="Times New Roman" pitchFamily="18" charset="0"/>
              <a:cs typeface="Times New Roman" pitchFamily="18" charset="0"/>
            </a:endParaRPr>
          </a:p>
        </p:txBody>
      </p:sp>
      <p:sp>
        <p:nvSpPr>
          <p:cNvPr id="36" name="Shape 34"/>
          <p:cNvSpPr/>
          <p:nvPr/>
        </p:nvSpPr>
        <p:spPr>
          <a:xfrm>
            <a:off x="164592" y="2932430"/>
            <a:ext cx="2103120" cy="329184"/>
          </a:xfrm>
          <a:prstGeom prst="rect">
            <a:avLst/>
          </a:prstGeom>
          <a:solidFill>
            <a:srgbClr val="0D9488"/>
          </a:solidFill>
          <a:ln w="12700">
            <a:solidFill>
              <a:srgbClr val="0D9488"/>
            </a:solidFill>
            <a:prstDash val="solid"/>
          </a:ln>
        </p:spPr>
      </p:sp>
      <p:sp>
        <p:nvSpPr>
          <p:cNvPr id="37" name="Text 35"/>
          <p:cNvSpPr/>
          <p:nvPr/>
        </p:nvSpPr>
        <p:spPr>
          <a:xfrm>
            <a:off x="164592" y="2936494"/>
            <a:ext cx="21031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18" charset="0"/>
                <a:cs typeface="Times New Roman" pitchFamily="18" charset="0"/>
              </a:rPr>
              <a:t>📅 </a:t>
            </a:r>
            <a:r>
              <a:rPr lang="en-US" sz="1050" b="1" dirty="0" smtClean="0">
                <a:solidFill>
                  <a:srgbClr val="FFFFFF"/>
                </a:solidFill>
                <a:latin typeface="Times New Roman" pitchFamily="18" charset="0"/>
                <a:cs typeface="Times New Roman" pitchFamily="18" charset="0"/>
              </a:rPr>
              <a:t> </a:t>
            </a:r>
            <a:r>
              <a:rPr lang="en-US" sz="1050" b="1" dirty="0" err="1" smtClean="0">
                <a:solidFill>
                  <a:srgbClr val="FFFFFF"/>
                </a:solidFill>
                <a:latin typeface="Times New Roman" pitchFamily="18" charset="0"/>
                <a:cs typeface="Times New Roman" pitchFamily="18" charset="0"/>
              </a:rPr>
              <a:t>MealPlan</a:t>
            </a:r>
            <a:endParaRPr lang="en-US" sz="1050" dirty="0">
              <a:latin typeface="Times New Roman" pitchFamily="18" charset="0"/>
              <a:cs typeface="Times New Roman" pitchFamily="18" charset="0"/>
            </a:endParaRPr>
          </a:p>
        </p:txBody>
      </p:sp>
      <p:sp>
        <p:nvSpPr>
          <p:cNvPr id="38" name="Shape 36"/>
          <p:cNvSpPr/>
          <p:nvPr/>
        </p:nvSpPr>
        <p:spPr>
          <a:xfrm>
            <a:off x="164592" y="3258058"/>
            <a:ext cx="2103120" cy="1188720"/>
          </a:xfrm>
          <a:prstGeom prst="rect">
            <a:avLst/>
          </a:prstGeom>
          <a:solidFill>
            <a:srgbClr val="FFFFFF"/>
          </a:solidFill>
          <a:ln w="12700">
            <a:solidFill>
              <a:srgbClr val="0D9488"/>
            </a:solidFill>
            <a:prstDash val="solid"/>
          </a:ln>
        </p:spPr>
      </p:sp>
      <p:sp>
        <p:nvSpPr>
          <p:cNvPr id="39" name="Text 37"/>
          <p:cNvSpPr/>
          <p:nvPr/>
        </p:nvSpPr>
        <p:spPr>
          <a:xfrm>
            <a:off x="237744" y="3367786"/>
            <a:ext cx="195681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id: String</a:t>
            </a:r>
            <a:endParaRPr lang="en-US" sz="900" dirty="0">
              <a:latin typeface="Times New Roman" pitchFamily="18" charset="0"/>
              <a:cs typeface="Times New Roman" pitchFamily="18" charset="0"/>
            </a:endParaRPr>
          </a:p>
        </p:txBody>
      </p:sp>
      <p:sp>
        <p:nvSpPr>
          <p:cNvPr id="40" name="Text 38"/>
          <p:cNvSpPr/>
          <p:nvPr/>
        </p:nvSpPr>
        <p:spPr>
          <a:xfrm>
            <a:off x="237744" y="3587242"/>
            <a:ext cx="195681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patientId: String</a:t>
            </a:r>
            <a:endParaRPr lang="en-US" sz="900" dirty="0">
              <a:latin typeface="Times New Roman" pitchFamily="18" charset="0"/>
              <a:cs typeface="Times New Roman" pitchFamily="18" charset="0"/>
            </a:endParaRPr>
          </a:p>
        </p:txBody>
      </p:sp>
      <p:sp>
        <p:nvSpPr>
          <p:cNvPr id="41" name="Text 39"/>
          <p:cNvSpPr/>
          <p:nvPr/>
        </p:nvSpPr>
        <p:spPr>
          <a:xfrm>
            <a:off x="237744" y="3806698"/>
            <a:ext cx="195681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date: String</a:t>
            </a:r>
            <a:endParaRPr lang="en-US" sz="900" dirty="0">
              <a:latin typeface="Times New Roman" pitchFamily="18" charset="0"/>
              <a:cs typeface="Times New Roman" pitchFamily="18" charset="0"/>
            </a:endParaRPr>
          </a:p>
        </p:txBody>
      </p:sp>
      <p:sp>
        <p:nvSpPr>
          <p:cNvPr id="42" name="Text 40"/>
          <p:cNvSpPr/>
          <p:nvPr/>
        </p:nvSpPr>
        <p:spPr>
          <a:xfrm>
            <a:off x="237744" y="4026154"/>
            <a:ext cx="195681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breakfast|lunch|dinner: MealId</a:t>
            </a:r>
            <a:endParaRPr lang="en-US" sz="900" dirty="0">
              <a:latin typeface="Times New Roman" pitchFamily="18" charset="0"/>
              <a:cs typeface="Times New Roman" pitchFamily="18" charset="0"/>
            </a:endParaRPr>
          </a:p>
        </p:txBody>
      </p:sp>
      <p:sp>
        <p:nvSpPr>
          <p:cNvPr id="43" name="Text 41"/>
          <p:cNvSpPr/>
          <p:nvPr/>
        </p:nvSpPr>
        <p:spPr>
          <a:xfrm>
            <a:off x="237744" y="4245610"/>
            <a:ext cx="195681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status: pending|approved</a:t>
            </a:r>
            <a:endParaRPr lang="en-US" sz="900" dirty="0">
              <a:latin typeface="Times New Roman" pitchFamily="18" charset="0"/>
              <a:cs typeface="Times New Roman" pitchFamily="18" charset="0"/>
            </a:endParaRPr>
          </a:p>
        </p:txBody>
      </p:sp>
      <p:sp>
        <p:nvSpPr>
          <p:cNvPr id="44" name="Shape 42"/>
          <p:cNvSpPr/>
          <p:nvPr/>
        </p:nvSpPr>
        <p:spPr>
          <a:xfrm>
            <a:off x="2492248" y="2932430"/>
            <a:ext cx="2057400" cy="329184"/>
          </a:xfrm>
          <a:prstGeom prst="rect">
            <a:avLst/>
          </a:prstGeom>
          <a:solidFill>
            <a:srgbClr val="F59E0B"/>
          </a:solidFill>
          <a:ln w="12700">
            <a:solidFill>
              <a:srgbClr val="F59E0B"/>
            </a:solidFill>
            <a:prstDash val="solid"/>
          </a:ln>
        </p:spPr>
      </p:sp>
      <p:sp>
        <p:nvSpPr>
          <p:cNvPr id="45" name="Text 43"/>
          <p:cNvSpPr/>
          <p:nvPr/>
        </p:nvSpPr>
        <p:spPr>
          <a:xfrm>
            <a:off x="2492248" y="2947162"/>
            <a:ext cx="20574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18" charset="0"/>
                <a:cs typeface="Times New Roman" pitchFamily="18" charset="0"/>
              </a:rPr>
              <a:t>👨‍🍳 </a:t>
            </a:r>
            <a:r>
              <a:rPr lang="en-US" sz="1050" b="1" dirty="0" smtClean="0">
                <a:solidFill>
                  <a:srgbClr val="FFFFFF"/>
                </a:solidFill>
                <a:latin typeface="Times New Roman" pitchFamily="18" charset="0"/>
                <a:cs typeface="Times New Roman" pitchFamily="18" charset="0"/>
              </a:rPr>
              <a:t> </a:t>
            </a:r>
            <a:r>
              <a:rPr lang="en-US" sz="1050" b="1" dirty="0" err="1" smtClean="0">
                <a:solidFill>
                  <a:srgbClr val="FFFFFF"/>
                </a:solidFill>
                <a:latin typeface="Times New Roman" pitchFamily="18" charset="0"/>
                <a:cs typeface="Times New Roman" pitchFamily="18" charset="0"/>
              </a:rPr>
              <a:t>KitchenOrder</a:t>
            </a:r>
            <a:endParaRPr lang="en-US" sz="1050" dirty="0">
              <a:latin typeface="Times New Roman" pitchFamily="18" charset="0"/>
              <a:cs typeface="Times New Roman" pitchFamily="18" charset="0"/>
            </a:endParaRPr>
          </a:p>
        </p:txBody>
      </p:sp>
      <p:sp>
        <p:nvSpPr>
          <p:cNvPr id="46" name="Shape 44"/>
          <p:cNvSpPr/>
          <p:nvPr/>
        </p:nvSpPr>
        <p:spPr>
          <a:xfrm>
            <a:off x="2487168" y="3261614"/>
            <a:ext cx="2057400" cy="1188720"/>
          </a:xfrm>
          <a:prstGeom prst="rect">
            <a:avLst/>
          </a:prstGeom>
          <a:solidFill>
            <a:srgbClr val="FFFFFF"/>
          </a:solidFill>
          <a:ln w="12700">
            <a:solidFill>
              <a:srgbClr val="F59E0B"/>
            </a:solidFill>
            <a:prstDash val="solid"/>
          </a:ln>
        </p:spPr>
      </p:sp>
      <p:sp>
        <p:nvSpPr>
          <p:cNvPr id="47" name="Text 45"/>
          <p:cNvSpPr/>
          <p:nvPr/>
        </p:nvSpPr>
        <p:spPr>
          <a:xfrm>
            <a:off x="2560320" y="3367786"/>
            <a:ext cx="191109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planId: String</a:t>
            </a:r>
            <a:endParaRPr lang="en-US" sz="900" dirty="0">
              <a:latin typeface="Times New Roman" pitchFamily="18" charset="0"/>
              <a:cs typeface="Times New Roman" pitchFamily="18" charset="0"/>
            </a:endParaRPr>
          </a:p>
        </p:txBody>
      </p:sp>
      <p:sp>
        <p:nvSpPr>
          <p:cNvPr id="48" name="Text 46"/>
          <p:cNvSpPr/>
          <p:nvPr/>
        </p:nvSpPr>
        <p:spPr>
          <a:xfrm>
            <a:off x="2560320" y="3587242"/>
            <a:ext cx="191109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patientId: String</a:t>
            </a:r>
            <a:endParaRPr lang="en-US" sz="900" dirty="0">
              <a:latin typeface="Times New Roman" pitchFamily="18" charset="0"/>
              <a:cs typeface="Times New Roman" pitchFamily="18" charset="0"/>
            </a:endParaRPr>
          </a:p>
        </p:txBody>
      </p:sp>
      <p:sp>
        <p:nvSpPr>
          <p:cNvPr id="49" name="Text 47"/>
          <p:cNvSpPr/>
          <p:nvPr/>
        </p:nvSpPr>
        <p:spPr>
          <a:xfrm>
            <a:off x="2560320" y="3806698"/>
            <a:ext cx="191109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mealName: String</a:t>
            </a:r>
            <a:endParaRPr lang="en-US" sz="900" dirty="0">
              <a:latin typeface="Times New Roman" pitchFamily="18" charset="0"/>
              <a:cs typeface="Times New Roman" pitchFamily="18" charset="0"/>
            </a:endParaRPr>
          </a:p>
        </p:txBody>
      </p:sp>
      <p:sp>
        <p:nvSpPr>
          <p:cNvPr id="50" name="Text 48"/>
          <p:cNvSpPr/>
          <p:nvPr/>
        </p:nvSpPr>
        <p:spPr>
          <a:xfrm>
            <a:off x="2560320" y="4026154"/>
            <a:ext cx="191109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ward, bed: String</a:t>
            </a:r>
            <a:endParaRPr lang="en-US" sz="900" dirty="0">
              <a:latin typeface="Times New Roman" pitchFamily="18" charset="0"/>
              <a:cs typeface="Times New Roman" pitchFamily="18" charset="0"/>
            </a:endParaRPr>
          </a:p>
        </p:txBody>
      </p:sp>
      <p:sp>
        <p:nvSpPr>
          <p:cNvPr id="51" name="Text 49"/>
          <p:cNvSpPr/>
          <p:nvPr/>
        </p:nvSpPr>
        <p:spPr>
          <a:xfrm>
            <a:off x="2560320" y="4245610"/>
            <a:ext cx="191109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status: pending→delivered</a:t>
            </a:r>
            <a:endParaRPr lang="en-US" sz="900" dirty="0">
              <a:latin typeface="Times New Roman" pitchFamily="18" charset="0"/>
              <a:cs typeface="Times New Roman" pitchFamily="18" charset="0"/>
            </a:endParaRPr>
          </a:p>
        </p:txBody>
      </p:sp>
      <p:sp>
        <p:nvSpPr>
          <p:cNvPr id="52" name="Shape 50"/>
          <p:cNvSpPr/>
          <p:nvPr/>
        </p:nvSpPr>
        <p:spPr>
          <a:xfrm>
            <a:off x="4736592" y="2992882"/>
            <a:ext cx="1938528" cy="329184"/>
          </a:xfrm>
          <a:prstGeom prst="rect">
            <a:avLst/>
          </a:prstGeom>
          <a:solidFill>
            <a:srgbClr val="EF4444"/>
          </a:solidFill>
          <a:ln w="12700">
            <a:solidFill>
              <a:srgbClr val="EF4444"/>
            </a:solidFill>
            <a:prstDash val="solid"/>
          </a:ln>
        </p:spPr>
      </p:sp>
      <p:sp>
        <p:nvSpPr>
          <p:cNvPr id="53" name="Text 51"/>
          <p:cNvSpPr/>
          <p:nvPr/>
        </p:nvSpPr>
        <p:spPr>
          <a:xfrm>
            <a:off x="4736592" y="2992882"/>
            <a:ext cx="1938528"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18" charset="0"/>
                <a:cs typeface="Times New Roman" pitchFamily="18" charset="0"/>
              </a:rPr>
              <a:t>🔔 </a:t>
            </a:r>
            <a:r>
              <a:rPr lang="en-US" sz="1050" b="1" dirty="0" smtClean="0">
                <a:solidFill>
                  <a:srgbClr val="FFFFFF"/>
                </a:solidFill>
                <a:latin typeface="Times New Roman" pitchFamily="18" charset="0"/>
                <a:cs typeface="Times New Roman" pitchFamily="18" charset="0"/>
              </a:rPr>
              <a:t> Notification</a:t>
            </a:r>
            <a:endParaRPr lang="en-US" sz="1050" dirty="0">
              <a:latin typeface="Times New Roman" pitchFamily="18" charset="0"/>
              <a:cs typeface="Times New Roman" pitchFamily="18" charset="0"/>
            </a:endParaRPr>
          </a:p>
        </p:txBody>
      </p:sp>
      <p:sp>
        <p:nvSpPr>
          <p:cNvPr id="54" name="Shape 52"/>
          <p:cNvSpPr/>
          <p:nvPr/>
        </p:nvSpPr>
        <p:spPr>
          <a:xfrm>
            <a:off x="4736592" y="3322066"/>
            <a:ext cx="1938528" cy="969264"/>
          </a:xfrm>
          <a:prstGeom prst="rect">
            <a:avLst/>
          </a:prstGeom>
          <a:solidFill>
            <a:srgbClr val="FFFFFF"/>
          </a:solidFill>
          <a:ln w="12700">
            <a:solidFill>
              <a:srgbClr val="EF4444"/>
            </a:solidFill>
            <a:prstDash val="solid"/>
          </a:ln>
        </p:spPr>
      </p:sp>
      <p:sp>
        <p:nvSpPr>
          <p:cNvPr id="55" name="Text 53"/>
          <p:cNvSpPr/>
          <p:nvPr/>
        </p:nvSpPr>
        <p:spPr>
          <a:xfrm>
            <a:off x="4809744" y="3367786"/>
            <a:ext cx="1792224"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id: String</a:t>
            </a:r>
            <a:endParaRPr lang="en-US" sz="900" dirty="0">
              <a:latin typeface="Times New Roman" pitchFamily="18" charset="0"/>
              <a:cs typeface="Times New Roman" pitchFamily="18" charset="0"/>
            </a:endParaRPr>
          </a:p>
        </p:txBody>
      </p:sp>
      <p:sp>
        <p:nvSpPr>
          <p:cNvPr id="56" name="Text 54"/>
          <p:cNvSpPr/>
          <p:nvPr/>
        </p:nvSpPr>
        <p:spPr>
          <a:xfrm>
            <a:off x="4809744" y="3587242"/>
            <a:ext cx="1792224"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type: allergy|approval</a:t>
            </a:r>
            <a:endParaRPr lang="en-US" sz="900" dirty="0">
              <a:latin typeface="Times New Roman" pitchFamily="18" charset="0"/>
              <a:cs typeface="Times New Roman" pitchFamily="18" charset="0"/>
            </a:endParaRPr>
          </a:p>
        </p:txBody>
      </p:sp>
      <p:sp>
        <p:nvSpPr>
          <p:cNvPr id="57" name="Text 55"/>
          <p:cNvSpPr/>
          <p:nvPr/>
        </p:nvSpPr>
        <p:spPr>
          <a:xfrm>
            <a:off x="4809744" y="3806698"/>
            <a:ext cx="1792224"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message: String</a:t>
            </a:r>
            <a:endParaRPr lang="en-US" sz="900" dirty="0">
              <a:latin typeface="Times New Roman" pitchFamily="18" charset="0"/>
              <a:cs typeface="Times New Roman" pitchFamily="18" charset="0"/>
            </a:endParaRPr>
          </a:p>
        </p:txBody>
      </p:sp>
      <p:sp>
        <p:nvSpPr>
          <p:cNvPr id="58" name="Text 56"/>
          <p:cNvSpPr/>
          <p:nvPr/>
        </p:nvSpPr>
        <p:spPr>
          <a:xfrm>
            <a:off x="4809744" y="4026154"/>
            <a:ext cx="1792224"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read: Boolean</a:t>
            </a:r>
            <a:endParaRPr lang="en-US" sz="900" dirty="0">
              <a:latin typeface="Times New Roman" pitchFamily="18" charset="0"/>
              <a:cs typeface="Times New Roman" pitchFamily="18" charset="0"/>
            </a:endParaRPr>
          </a:p>
        </p:txBody>
      </p:sp>
      <p:sp>
        <p:nvSpPr>
          <p:cNvPr id="59" name="Shape 57"/>
          <p:cNvSpPr/>
          <p:nvPr/>
        </p:nvSpPr>
        <p:spPr>
          <a:xfrm>
            <a:off x="6876288" y="2992882"/>
            <a:ext cx="2057400" cy="329184"/>
          </a:xfrm>
          <a:prstGeom prst="rect">
            <a:avLst/>
          </a:prstGeom>
          <a:solidFill>
            <a:srgbClr val="64748B"/>
          </a:solidFill>
          <a:ln w="12700">
            <a:solidFill>
              <a:srgbClr val="64748B"/>
            </a:solidFill>
            <a:prstDash val="solid"/>
          </a:ln>
        </p:spPr>
      </p:sp>
      <p:sp>
        <p:nvSpPr>
          <p:cNvPr id="60" name="Text 58"/>
          <p:cNvSpPr/>
          <p:nvPr/>
        </p:nvSpPr>
        <p:spPr>
          <a:xfrm>
            <a:off x="6876288" y="2992882"/>
            <a:ext cx="2057400" cy="329184"/>
          </a:xfrm>
          <a:prstGeom prst="rect">
            <a:avLst/>
          </a:prstGeom>
          <a:noFill/>
          <a:ln/>
        </p:spPr>
        <p:txBody>
          <a:bodyPr wrap="square" lIns="0" tIns="0" rIns="0" bIns="0" rtlCol="0" anchor="ctr"/>
          <a:lstStyle/>
          <a:p>
            <a:pPr marL="0" indent="0" algn="ctr">
              <a:buNone/>
            </a:pPr>
            <a:r>
              <a:rPr lang="en-US" sz="1050" b="1" dirty="0" smtClean="0">
                <a:solidFill>
                  <a:srgbClr val="FFFFFF"/>
                </a:solidFill>
                <a:latin typeface="Times New Roman" pitchFamily="18" charset="0"/>
                <a:cs typeface="Times New Roman" pitchFamily="18" charset="0"/>
              </a:rPr>
              <a:t>📜 </a:t>
            </a:r>
            <a:r>
              <a:rPr lang="en-US" sz="1050" b="1" dirty="0" err="1" smtClean="0">
                <a:solidFill>
                  <a:srgbClr val="FFFFFF"/>
                </a:solidFill>
                <a:latin typeface="Times New Roman" pitchFamily="18" charset="0"/>
                <a:cs typeface="Times New Roman" pitchFamily="18" charset="0"/>
              </a:rPr>
              <a:t>AuditLog</a:t>
            </a:r>
            <a:endParaRPr lang="en-US" sz="1050" dirty="0">
              <a:latin typeface="Times New Roman" pitchFamily="18" charset="0"/>
              <a:cs typeface="Times New Roman" pitchFamily="18" charset="0"/>
            </a:endParaRPr>
          </a:p>
        </p:txBody>
      </p:sp>
      <p:sp>
        <p:nvSpPr>
          <p:cNvPr id="61" name="Shape 59"/>
          <p:cNvSpPr/>
          <p:nvPr/>
        </p:nvSpPr>
        <p:spPr>
          <a:xfrm>
            <a:off x="6876288" y="3322066"/>
            <a:ext cx="2057400" cy="969264"/>
          </a:xfrm>
          <a:prstGeom prst="rect">
            <a:avLst/>
          </a:prstGeom>
          <a:solidFill>
            <a:srgbClr val="FFFFFF"/>
          </a:solidFill>
          <a:ln w="12700">
            <a:solidFill>
              <a:srgbClr val="64748B"/>
            </a:solidFill>
            <a:prstDash val="solid"/>
          </a:ln>
        </p:spPr>
      </p:sp>
      <p:sp>
        <p:nvSpPr>
          <p:cNvPr id="62" name="Text 60"/>
          <p:cNvSpPr/>
          <p:nvPr/>
        </p:nvSpPr>
        <p:spPr>
          <a:xfrm>
            <a:off x="6949440" y="3367786"/>
            <a:ext cx="191109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id: String</a:t>
            </a:r>
            <a:endParaRPr lang="en-US" sz="900" dirty="0">
              <a:latin typeface="Times New Roman" pitchFamily="18" charset="0"/>
              <a:cs typeface="Times New Roman" pitchFamily="18" charset="0"/>
            </a:endParaRPr>
          </a:p>
        </p:txBody>
      </p:sp>
      <p:sp>
        <p:nvSpPr>
          <p:cNvPr id="63" name="Text 61"/>
          <p:cNvSpPr/>
          <p:nvPr/>
        </p:nvSpPr>
        <p:spPr>
          <a:xfrm>
            <a:off x="6949440" y="3587242"/>
            <a:ext cx="191109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action: String</a:t>
            </a:r>
            <a:endParaRPr lang="en-US" sz="900" dirty="0">
              <a:latin typeface="Times New Roman" pitchFamily="18" charset="0"/>
              <a:cs typeface="Times New Roman" pitchFamily="18" charset="0"/>
            </a:endParaRPr>
          </a:p>
        </p:txBody>
      </p:sp>
      <p:sp>
        <p:nvSpPr>
          <p:cNvPr id="64" name="Text 62"/>
          <p:cNvSpPr/>
          <p:nvPr/>
        </p:nvSpPr>
        <p:spPr>
          <a:xfrm>
            <a:off x="6949440" y="3806698"/>
            <a:ext cx="191109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userId: String</a:t>
            </a:r>
            <a:endParaRPr lang="en-US" sz="900" dirty="0">
              <a:latin typeface="Times New Roman" pitchFamily="18" charset="0"/>
              <a:cs typeface="Times New Roman" pitchFamily="18" charset="0"/>
            </a:endParaRPr>
          </a:p>
        </p:txBody>
      </p:sp>
      <p:sp>
        <p:nvSpPr>
          <p:cNvPr id="65" name="Text 63"/>
          <p:cNvSpPr/>
          <p:nvPr/>
        </p:nvSpPr>
        <p:spPr>
          <a:xfrm>
            <a:off x="6949440" y="4026154"/>
            <a:ext cx="1911096" cy="201168"/>
          </a:xfrm>
          <a:prstGeom prst="rect">
            <a:avLst/>
          </a:prstGeom>
          <a:noFill/>
          <a:ln/>
        </p:spPr>
        <p:txBody>
          <a:bodyPr wrap="square" lIns="0" tIns="0" rIns="0" bIns="0" rtlCol="0" anchor="ctr"/>
          <a:lstStyle/>
          <a:p>
            <a:pPr marL="0" indent="0" algn="l">
              <a:buNone/>
            </a:pPr>
            <a:r>
              <a:rPr lang="en-US" sz="900" dirty="0">
                <a:solidFill>
                  <a:srgbClr val="334155"/>
                </a:solidFill>
                <a:latin typeface="Times New Roman" pitchFamily="18" charset="0"/>
                <a:cs typeface="Times New Roman" pitchFamily="18" charset="0"/>
              </a:rPr>
              <a:t>• details: String</a:t>
            </a:r>
            <a:endParaRPr lang="en-US" sz="900" dirty="0">
              <a:latin typeface="Times New Roman" pitchFamily="18" charset="0"/>
              <a:cs typeface="Times New Roman" pitchFamily="18" charset="0"/>
            </a:endParaRPr>
          </a:p>
        </p:txBody>
      </p:sp>
      <p:sp>
        <p:nvSpPr>
          <p:cNvPr id="66" name="Shape 64"/>
          <p:cNvSpPr/>
          <p:nvPr/>
        </p:nvSpPr>
        <p:spPr>
          <a:xfrm>
            <a:off x="2076958" y="1685290"/>
            <a:ext cx="246888" cy="0"/>
          </a:xfrm>
          <a:prstGeom prst="line">
            <a:avLst/>
          </a:prstGeom>
          <a:noFill/>
          <a:ln w="15240">
            <a:solidFill>
              <a:srgbClr val="94A3B8"/>
            </a:solidFill>
            <a:prstDash val="solid"/>
          </a:ln>
        </p:spPr>
      </p:sp>
      <p:sp>
        <p:nvSpPr>
          <p:cNvPr id="68" name="Shape 66"/>
          <p:cNvSpPr/>
          <p:nvPr/>
        </p:nvSpPr>
        <p:spPr>
          <a:xfrm>
            <a:off x="4343400" y="1584706"/>
            <a:ext cx="228600" cy="0"/>
          </a:xfrm>
          <a:prstGeom prst="line">
            <a:avLst/>
          </a:prstGeom>
          <a:noFill/>
          <a:ln w="15240">
            <a:solidFill>
              <a:srgbClr val="94A3B8"/>
            </a:solidFill>
            <a:prstDash val="solid"/>
          </a:ln>
        </p:spPr>
      </p:sp>
      <p:sp>
        <p:nvSpPr>
          <p:cNvPr id="70" name="Shape 68"/>
          <p:cNvSpPr/>
          <p:nvPr/>
        </p:nvSpPr>
        <p:spPr>
          <a:xfrm>
            <a:off x="6583680" y="1584706"/>
            <a:ext cx="256032" cy="0"/>
          </a:xfrm>
          <a:prstGeom prst="line">
            <a:avLst/>
          </a:prstGeom>
          <a:noFill/>
          <a:ln w="15240">
            <a:solidFill>
              <a:srgbClr val="94A3B8"/>
            </a:solidFill>
            <a:prstDash val="solid"/>
          </a:ln>
        </p:spPr>
      </p:sp>
      <p:sp>
        <p:nvSpPr>
          <p:cNvPr id="72" name="Shape 70"/>
          <p:cNvSpPr/>
          <p:nvPr/>
        </p:nvSpPr>
        <p:spPr>
          <a:xfrm>
            <a:off x="3429000" y="2356358"/>
            <a:ext cx="0" cy="576072"/>
          </a:xfrm>
          <a:prstGeom prst="line">
            <a:avLst/>
          </a:prstGeom>
          <a:noFill/>
          <a:ln w="15240">
            <a:solidFill>
              <a:srgbClr val="94A3B8"/>
            </a:solidFill>
            <a:prstDash val="solid"/>
          </a:ln>
        </p:spPr>
      </p:sp>
      <p:sp>
        <p:nvSpPr>
          <p:cNvPr id="74" name="Shape 72"/>
          <p:cNvSpPr/>
          <p:nvPr/>
        </p:nvSpPr>
        <p:spPr>
          <a:xfrm>
            <a:off x="1216152" y="4510786"/>
            <a:ext cx="0" cy="0"/>
          </a:xfrm>
          <a:prstGeom prst="line">
            <a:avLst/>
          </a:prstGeom>
          <a:noFill/>
          <a:ln w="15240">
            <a:solidFill>
              <a:srgbClr val="94A3B8"/>
            </a:solidFill>
            <a:prstDash val="solid"/>
          </a:ln>
        </p:spPr>
      </p:sp>
      <p:sp>
        <p:nvSpPr>
          <p:cNvPr id="76" name="Shape 74"/>
          <p:cNvSpPr/>
          <p:nvPr/>
        </p:nvSpPr>
        <p:spPr>
          <a:xfrm>
            <a:off x="1124712" y="2389378"/>
            <a:ext cx="5334" cy="547116"/>
          </a:xfrm>
          <a:prstGeom prst="line">
            <a:avLst/>
          </a:prstGeom>
          <a:noFill/>
          <a:ln w="15240">
            <a:solidFill>
              <a:srgbClr val="94A3B8"/>
            </a:solidFill>
            <a:prstDash val="solid"/>
          </a:ln>
        </p:spPr>
      </p:sp>
      <p:sp>
        <p:nvSpPr>
          <p:cNvPr id="78" name="Shape 76"/>
          <p:cNvSpPr/>
          <p:nvPr/>
        </p:nvSpPr>
        <p:spPr>
          <a:xfrm>
            <a:off x="2267712" y="3559810"/>
            <a:ext cx="219456" cy="0"/>
          </a:xfrm>
          <a:prstGeom prst="line">
            <a:avLst/>
          </a:prstGeom>
          <a:noFill/>
          <a:ln w="15240">
            <a:solidFill>
              <a:srgbClr val="94A3B8"/>
            </a:solidFill>
            <a:prstDash val="solid"/>
          </a:ln>
        </p:spPr>
      </p:sp>
      <p:sp>
        <p:nvSpPr>
          <p:cNvPr id="80" name="Shape 78"/>
          <p:cNvSpPr/>
          <p:nvPr/>
        </p:nvSpPr>
        <p:spPr>
          <a:xfrm>
            <a:off x="155448" y="4657598"/>
            <a:ext cx="8778240" cy="0"/>
          </a:xfrm>
          <a:prstGeom prst="line">
            <a:avLst/>
          </a:prstGeom>
          <a:noFill/>
          <a:ln w="6350">
            <a:solidFill>
              <a:srgbClr val="E2E8F0"/>
            </a:solidFill>
            <a:prstDash val="solid"/>
          </a:ln>
        </p:spPr>
      </p:sp>
      <p:sp>
        <p:nvSpPr>
          <p:cNvPr id="81" name="Shape 79"/>
          <p:cNvSpPr/>
          <p:nvPr/>
        </p:nvSpPr>
        <p:spPr>
          <a:xfrm>
            <a:off x="330594" y="4766818"/>
            <a:ext cx="164592" cy="164592"/>
          </a:xfrm>
          <a:prstGeom prst="rect">
            <a:avLst/>
          </a:prstGeom>
          <a:solidFill>
            <a:srgbClr val="0A2463"/>
          </a:solidFill>
          <a:ln w="12700">
            <a:solidFill>
              <a:srgbClr val="0A2463"/>
            </a:solidFill>
            <a:prstDash val="solid"/>
          </a:ln>
        </p:spPr>
      </p:sp>
      <p:sp>
        <p:nvSpPr>
          <p:cNvPr id="82" name="Text 80"/>
          <p:cNvSpPr/>
          <p:nvPr/>
        </p:nvSpPr>
        <p:spPr>
          <a:xfrm>
            <a:off x="543016" y="4766818"/>
            <a:ext cx="1005840" cy="182880"/>
          </a:xfrm>
          <a:prstGeom prst="rect">
            <a:avLst/>
          </a:prstGeom>
          <a:noFill/>
          <a:ln/>
        </p:spPr>
        <p:txBody>
          <a:bodyPr wrap="square" lIns="0" tIns="0" rIns="0" bIns="0" rtlCol="0" anchor="ctr"/>
          <a:lstStyle/>
          <a:p>
            <a:pPr marL="0" indent="0">
              <a:buNone/>
            </a:pPr>
            <a:r>
              <a:rPr lang="en-US" sz="900" dirty="0">
                <a:solidFill>
                  <a:srgbClr val="64748B"/>
                </a:solidFill>
                <a:latin typeface="Times New Roman" pitchFamily="18" charset="0"/>
                <a:cs typeface="Times New Roman" pitchFamily="18" charset="0"/>
              </a:rPr>
              <a:t>User/Auth</a:t>
            </a:r>
            <a:endParaRPr lang="en-US" sz="900" dirty="0">
              <a:latin typeface="Times New Roman" pitchFamily="18" charset="0"/>
              <a:cs typeface="Times New Roman" pitchFamily="18" charset="0"/>
            </a:endParaRPr>
          </a:p>
        </p:txBody>
      </p:sp>
      <p:sp>
        <p:nvSpPr>
          <p:cNvPr id="83" name="Shape 81"/>
          <p:cNvSpPr/>
          <p:nvPr/>
        </p:nvSpPr>
        <p:spPr>
          <a:xfrm>
            <a:off x="1501024" y="4766818"/>
            <a:ext cx="164592" cy="164592"/>
          </a:xfrm>
          <a:prstGeom prst="rect">
            <a:avLst/>
          </a:prstGeom>
          <a:solidFill>
            <a:srgbClr val="0D9488"/>
          </a:solidFill>
          <a:ln w="12700">
            <a:solidFill>
              <a:srgbClr val="0D9488"/>
            </a:solidFill>
            <a:prstDash val="solid"/>
          </a:ln>
        </p:spPr>
      </p:sp>
      <p:sp>
        <p:nvSpPr>
          <p:cNvPr id="84" name="Text 82"/>
          <p:cNvSpPr/>
          <p:nvPr/>
        </p:nvSpPr>
        <p:spPr>
          <a:xfrm>
            <a:off x="1720480" y="4766818"/>
            <a:ext cx="1005840" cy="182880"/>
          </a:xfrm>
          <a:prstGeom prst="rect">
            <a:avLst/>
          </a:prstGeom>
          <a:noFill/>
          <a:ln/>
        </p:spPr>
        <p:txBody>
          <a:bodyPr wrap="square" lIns="0" tIns="0" rIns="0" bIns="0" rtlCol="0" anchor="ctr"/>
          <a:lstStyle/>
          <a:p>
            <a:pPr marL="0" indent="0">
              <a:buNone/>
            </a:pPr>
            <a:r>
              <a:rPr lang="en-US" sz="900" dirty="0">
                <a:solidFill>
                  <a:srgbClr val="64748B"/>
                </a:solidFill>
                <a:latin typeface="Times New Roman" pitchFamily="18" charset="0"/>
                <a:cs typeface="Times New Roman" pitchFamily="18" charset="0"/>
              </a:rPr>
              <a:t>Patient/Plan</a:t>
            </a:r>
            <a:endParaRPr lang="en-US" sz="900" dirty="0">
              <a:latin typeface="Times New Roman" pitchFamily="18" charset="0"/>
              <a:cs typeface="Times New Roman" pitchFamily="18" charset="0"/>
            </a:endParaRPr>
          </a:p>
        </p:txBody>
      </p:sp>
      <p:sp>
        <p:nvSpPr>
          <p:cNvPr id="85" name="Shape 83"/>
          <p:cNvSpPr/>
          <p:nvPr/>
        </p:nvSpPr>
        <p:spPr>
          <a:xfrm>
            <a:off x="2805100" y="4766818"/>
            <a:ext cx="164592" cy="164592"/>
          </a:xfrm>
          <a:prstGeom prst="rect">
            <a:avLst/>
          </a:prstGeom>
          <a:solidFill>
            <a:srgbClr val="7C3AED"/>
          </a:solidFill>
          <a:ln w="12700">
            <a:solidFill>
              <a:srgbClr val="7C3AED"/>
            </a:solidFill>
            <a:prstDash val="solid"/>
          </a:ln>
        </p:spPr>
      </p:sp>
      <p:sp>
        <p:nvSpPr>
          <p:cNvPr id="86" name="Text 84"/>
          <p:cNvSpPr/>
          <p:nvPr/>
        </p:nvSpPr>
        <p:spPr>
          <a:xfrm>
            <a:off x="3031590" y="4766818"/>
            <a:ext cx="1005840" cy="182880"/>
          </a:xfrm>
          <a:prstGeom prst="rect">
            <a:avLst/>
          </a:prstGeom>
          <a:noFill/>
          <a:ln/>
        </p:spPr>
        <p:txBody>
          <a:bodyPr wrap="square" lIns="0" tIns="0" rIns="0" bIns="0" rtlCol="0" anchor="ctr"/>
          <a:lstStyle/>
          <a:p>
            <a:pPr marL="0" indent="0">
              <a:buNone/>
            </a:pPr>
            <a:r>
              <a:rPr lang="en-US" sz="900" dirty="0">
                <a:solidFill>
                  <a:srgbClr val="64748B"/>
                </a:solidFill>
                <a:latin typeface="Times New Roman" pitchFamily="18" charset="0"/>
                <a:cs typeface="Times New Roman" pitchFamily="18" charset="0"/>
              </a:rPr>
              <a:t>Dietary Profile</a:t>
            </a:r>
            <a:endParaRPr lang="en-US" sz="900" dirty="0">
              <a:latin typeface="Times New Roman" pitchFamily="18" charset="0"/>
              <a:cs typeface="Times New Roman" pitchFamily="18" charset="0"/>
            </a:endParaRPr>
          </a:p>
        </p:txBody>
      </p:sp>
      <p:sp>
        <p:nvSpPr>
          <p:cNvPr id="87" name="Shape 85"/>
          <p:cNvSpPr/>
          <p:nvPr/>
        </p:nvSpPr>
        <p:spPr>
          <a:xfrm>
            <a:off x="4102142" y="4766818"/>
            <a:ext cx="164592" cy="164592"/>
          </a:xfrm>
          <a:prstGeom prst="rect">
            <a:avLst/>
          </a:prstGeom>
          <a:solidFill>
            <a:srgbClr val="0369A1"/>
          </a:solidFill>
          <a:ln w="12700">
            <a:solidFill>
              <a:srgbClr val="0369A1"/>
            </a:solidFill>
            <a:prstDash val="solid"/>
          </a:ln>
        </p:spPr>
      </p:sp>
      <p:sp>
        <p:nvSpPr>
          <p:cNvPr id="88" name="Text 86"/>
          <p:cNvSpPr/>
          <p:nvPr/>
        </p:nvSpPr>
        <p:spPr>
          <a:xfrm>
            <a:off x="4328632" y="4766818"/>
            <a:ext cx="1005840" cy="182880"/>
          </a:xfrm>
          <a:prstGeom prst="rect">
            <a:avLst/>
          </a:prstGeom>
          <a:noFill/>
          <a:ln/>
        </p:spPr>
        <p:txBody>
          <a:bodyPr wrap="square" lIns="0" tIns="0" rIns="0" bIns="0" rtlCol="0" anchor="ctr"/>
          <a:lstStyle/>
          <a:p>
            <a:pPr marL="0" indent="0">
              <a:buNone/>
            </a:pPr>
            <a:r>
              <a:rPr lang="en-US" sz="900" dirty="0">
                <a:solidFill>
                  <a:srgbClr val="64748B"/>
                </a:solidFill>
                <a:latin typeface="Times New Roman" pitchFamily="18" charset="0"/>
                <a:cs typeface="Times New Roman" pitchFamily="18" charset="0"/>
              </a:rPr>
              <a:t>Meal</a:t>
            </a:r>
            <a:endParaRPr lang="en-US" sz="900" dirty="0">
              <a:latin typeface="Times New Roman" pitchFamily="18" charset="0"/>
              <a:cs typeface="Times New Roman" pitchFamily="18" charset="0"/>
            </a:endParaRPr>
          </a:p>
        </p:txBody>
      </p:sp>
      <p:sp>
        <p:nvSpPr>
          <p:cNvPr id="89" name="Shape 87"/>
          <p:cNvSpPr/>
          <p:nvPr/>
        </p:nvSpPr>
        <p:spPr>
          <a:xfrm>
            <a:off x="5230368" y="4766818"/>
            <a:ext cx="164592" cy="164592"/>
          </a:xfrm>
          <a:prstGeom prst="rect">
            <a:avLst/>
          </a:prstGeom>
          <a:solidFill>
            <a:srgbClr val="F59E0B"/>
          </a:solidFill>
          <a:ln w="12700">
            <a:solidFill>
              <a:srgbClr val="F59E0B"/>
            </a:solidFill>
            <a:prstDash val="solid"/>
          </a:ln>
        </p:spPr>
      </p:sp>
      <p:sp>
        <p:nvSpPr>
          <p:cNvPr id="90" name="Text 88"/>
          <p:cNvSpPr/>
          <p:nvPr/>
        </p:nvSpPr>
        <p:spPr>
          <a:xfrm>
            <a:off x="5449824" y="4766818"/>
            <a:ext cx="1005840" cy="182880"/>
          </a:xfrm>
          <a:prstGeom prst="rect">
            <a:avLst/>
          </a:prstGeom>
          <a:noFill/>
          <a:ln/>
        </p:spPr>
        <p:txBody>
          <a:bodyPr wrap="square" lIns="0" tIns="0" rIns="0" bIns="0" rtlCol="0" anchor="ctr"/>
          <a:lstStyle/>
          <a:p>
            <a:pPr marL="0" indent="0">
              <a:buNone/>
            </a:pPr>
            <a:r>
              <a:rPr lang="en-US" sz="900" dirty="0">
                <a:solidFill>
                  <a:srgbClr val="64748B"/>
                </a:solidFill>
                <a:latin typeface="Times New Roman" pitchFamily="18" charset="0"/>
                <a:cs typeface="Times New Roman" pitchFamily="18" charset="0"/>
              </a:rPr>
              <a:t>Kitchen</a:t>
            </a:r>
            <a:endParaRPr lang="en-US" sz="900" dirty="0">
              <a:latin typeface="Times New Roman" pitchFamily="18" charset="0"/>
              <a:cs typeface="Times New Roman" pitchFamily="18" charset="0"/>
            </a:endParaRPr>
          </a:p>
        </p:txBody>
      </p:sp>
      <p:sp>
        <p:nvSpPr>
          <p:cNvPr id="91" name="Shape 89"/>
          <p:cNvSpPr/>
          <p:nvPr/>
        </p:nvSpPr>
        <p:spPr>
          <a:xfrm>
            <a:off x="6492240" y="4766818"/>
            <a:ext cx="164592" cy="164592"/>
          </a:xfrm>
          <a:prstGeom prst="rect">
            <a:avLst/>
          </a:prstGeom>
          <a:solidFill>
            <a:srgbClr val="EF4444"/>
          </a:solidFill>
          <a:ln w="12700">
            <a:solidFill>
              <a:srgbClr val="EF4444"/>
            </a:solidFill>
            <a:prstDash val="solid"/>
          </a:ln>
        </p:spPr>
      </p:sp>
      <p:sp>
        <p:nvSpPr>
          <p:cNvPr id="92" name="Text 90"/>
          <p:cNvSpPr/>
          <p:nvPr/>
        </p:nvSpPr>
        <p:spPr>
          <a:xfrm>
            <a:off x="6711696" y="4766818"/>
            <a:ext cx="1005840" cy="182880"/>
          </a:xfrm>
          <a:prstGeom prst="rect">
            <a:avLst/>
          </a:prstGeom>
          <a:noFill/>
          <a:ln/>
        </p:spPr>
        <p:txBody>
          <a:bodyPr wrap="square" lIns="0" tIns="0" rIns="0" bIns="0" rtlCol="0" anchor="ctr"/>
          <a:lstStyle/>
          <a:p>
            <a:pPr marL="0" indent="0">
              <a:buNone/>
            </a:pPr>
            <a:r>
              <a:rPr lang="en-US" sz="900" dirty="0">
                <a:solidFill>
                  <a:srgbClr val="64748B"/>
                </a:solidFill>
                <a:latin typeface="Times New Roman" pitchFamily="18" charset="0"/>
                <a:cs typeface="Times New Roman" pitchFamily="18" charset="0"/>
              </a:rPr>
              <a:t>Alerts</a:t>
            </a:r>
            <a:endParaRPr lang="en-US" sz="900" dirty="0">
              <a:latin typeface="Times New Roman" pitchFamily="18" charset="0"/>
              <a:cs typeface="Times New Roman" pitchFamily="18" charset="0"/>
            </a:endParaRPr>
          </a:p>
        </p:txBody>
      </p:sp>
      <p:sp>
        <p:nvSpPr>
          <p:cNvPr id="93" name="Shape 91"/>
          <p:cNvSpPr/>
          <p:nvPr/>
        </p:nvSpPr>
        <p:spPr>
          <a:xfrm>
            <a:off x="7754112" y="4766818"/>
            <a:ext cx="164592" cy="164592"/>
          </a:xfrm>
          <a:prstGeom prst="rect">
            <a:avLst/>
          </a:prstGeom>
          <a:solidFill>
            <a:srgbClr val="64748B"/>
          </a:solidFill>
          <a:ln w="12700">
            <a:solidFill>
              <a:srgbClr val="64748B"/>
            </a:solidFill>
            <a:prstDash val="solid"/>
          </a:ln>
        </p:spPr>
      </p:sp>
      <p:sp>
        <p:nvSpPr>
          <p:cNvPr id="94" name="Text 92"/>
          <p:cNvSpPr/>
          <p:nvPr/>
        </p:nvSpPr>
        <p:spPr>
          <a:xfrm>
            <a:off x="7973568" y="4766818"/>
            <a:ext cx="1005840" cy="182880"/>
          </a:xfrm>
          <a:prstGeom prst="rect">
            <a:avLst/>
          </a:prstGeom>
          <a:noFill/>
          <a:ln/>
        </p:spPr>
        <p:txBody>
          <a:bodyPr wrap="square" lIns="0" tIns="0" rIns="0" bIns="0" rtlCol="0" anchor="ctr"/>
          <a:lstStyle/>
          <a:p>
            <a:pPr marL="0" indent="0">
              <a:buNone/>
            </a:pPr>
            <a:r>
              <a:rPr lang="en-US" sz="900" dirty="0">
                <a:solidFill>
                  <a:srgbClr val="64748B"/>
                </a:solidFill>
                <a:latin typeface="Times New Roman" pitchFamily="18" charset="0"/>
                <a:cs typeface="Times New Roman" pitchFamily="18" charset="0"/>
              </a:rPr>
              <a:t>Audit</a:t>
            </a:r>
            <a:endParaRPr lang="en-US" sz="9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w="12700">
            <a:solidFill>
              <a:srgbClr val="0D9488"/>
            </a:solidFill>
            <a:prstDash val="solid"/>
          </a:ln>
        </p:spPr>
      </p:sp>
      <p:sp>
        <p:nvSpPr>
          <p:cNvPr id="3" name="Text 1"/>
          <p:cNvSpPr/>
          <p:nvPr/>
        </p:nvSpPr>
        <p:spPr>
          <a:xfrm>
            <a:off x="292608" y="182880"/>
            <a:ext cx="8595360" cy="438912"/>
          </a:xfrm>
          <a:prstGeom prst="rect">
            <a:avLst/>
          </a:prstGeom>
          <a:noFill/>
          <a:ln/>
        </p:spPr>
        <p:txBody>
          <a:bodyPr wrap="square" lIns="0" tIns="0" rIns="0" bIns="0" rtlCol="0" anchor="ctr"/>
          <a:lstStyle/>
          <a:p>
            <a:pPr marL="0" indent="0" algn="l">
              <a:buNone/>
            </a:pPr>
            <a:r>
              <a:rPr lang="en-US" sz="2200" b="1" dirty="0">
                <a:solidFill>
                  <a:srgbClr val="0A2463"/>
                </a:solidFill>
                <a:latin typeface="Times New Roman" pitchFamily="18" charset="0"/>
                <a:cs typeface="Times New Roman" pitchFamily="18" charset="0"/>
              </a:rPr>
              <a:t>Key Features &amp; Modules</a:t>
            </a:r>
            <a:endParaRPr lang="en-US" sz="2200" dirty="0">
              <a:latin typeface="Times New Roman" pitchFamily="18" charset="0"/>
              <a:cs typeface="Times New Roman" pitchFamily="18" charset="0"/>
            </a:endParaRPr>
          </a:p>
        </p:txBody>
      </p:sp>
      <p:sp>
        <p:nvSpPr>
          <p:cNvPr id="4" name="Shape 2"/>
          <p:cNvSpPr/>
          <p:nvPr/>
        </p:nvSpPr>
        <p:spPr>
          <a:xfrm>
            <a:off x="292608" y="612648"/>
            <a:ext cx="8558784" cy="27432"/>
          </a:xfrm>
          <a:prstGeom prst="rect">
            <a:avLst/>
          </a:prstGeom>
          <a:solidFill>
            <a:srgbClr val="0D9488"/>
          </a:solidFill>
          <a:ln w="12700">
            <a:solidFill>
              <a:srgbClr val="0D9488"/>
            </a:solidFill>
            <a:prstDash val="solid"/>
          </a:ln>
        </p:spPr>
      </p:sp>
      <p:sp>
        <p:nvSpPr>
          <p:cNvPr id="5" name="Shape 3"/>
          <p:cNvSpPr/>
          <p:nvPr/>
        </p:nvSpPr>
        <p:spPr>
          <a:xfrm>
            <a:off x="201168" y="749808"/>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6" name="Shape 4"/>
          <p:cNvSpPr/>
          <p:nvPr/>
        </p:nvSpPr>
        <p:spPr>
          <a:xfrm>
            <a:off x="201168" y="749808"/>
            <a:ext cx="457200" cy="530352"/>
          </a:xfrm>
          <a:prstGeom prst="rect">
            <a:avLst/>
          </a:prstGeom>
          <a:solidFill>
            <a:srgbClr val="0A2463"/>
          </a:solidFill>
          <a:ln w="12700">
            <a:solidFill>
              <a:srgbClr val="0A2463"/>
            </a:solidFill>
            <a:prstDash val="solid"/>
          </a:ln>
        </p:spPr>
      </p:sp>
      <p:sp>
        <p:nvSpPr>
          <p:cNvPr id="7" name="Text 5"/>
          <p:cNvSpPr/>
          <p:nvPr/>
        </p:nvSpPr>
        <p:spPr>
          <a:xfrm>
            <a:off x="201168" y="749808"/>
            <a:ext cx="457200" cy="530352"/>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8" name="Text 6"/>
          <p:cNvSpPr/>
          <p:nvPr/>
        </p:nvSpPr>
        <p:spPr>
          <a:xfrm>
            <a:off x="731520" y="795528"/>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Dashboard</a:t>
            </a:r>
            <a:endParaRPr lang="en-US" sz="1050" dirty="0"/>
          </a:p>
        </p:txBody>
      </p:sp>
      <p:sp>
        <p:nvSpPr>
          <p:cNvPr id="9" name="Text 7"/>
          <p:cNvSpPr/>
          <p:nvPr/>
        </p:nvSpPr>
        <p:spPr>
          <a:xfrm>
            <a:off x="731520" y="1014984"/>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KPI cards, pending approvals, kitchen status, allergy alerts</a:t>
            </a:r>
            <a:endParaRPr lang="en-US" sz="880" dirty="0"/>
          </a:p>
        </p:txBody>
      </p:sp>
      <p:sp>
        <p:nvSpPr>
          <p:cNvPr id="10" name="Shape 8"/>
          <p:cNvSpPr/>
          <p:nvPr/>
        </p:nvSpPr>
        <p:spPr>
          <a:xfrm>
            <a:off x="201168" y="1362456"/>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1" name="Shape 9"/>
          <p:cNvSpPr/>
          <p:nvPr/>
        </p:nvSpPr>
        <p:spPr>
          <a:xfrm>
            <a:off x="201168" y="1362456"/>
            <a:ext cx="457200" cy="530352"/>
          </a:xfrm>
          <a:prstGeom prst="rect">
            <a:avLst/>
          </a:prstGeom>
          <a:solidFill>
            <a:srgbClr val="0D9488"/>
          </a:solidFill>
          <a:ln w="12700">
            <a:solidFill>
              <a:srgbClr val="0D9488"/>
            </a:solidFill>
            <a:prstDash val="solid"/>
          </a:ln>
        </p:spPr>
      </p:sp>
      <p:sp>
        <p:nvSpPr>
          <p:cNvPr id="12" name="Text 10"/>
          <p:cNvSpPr/>
          <p:nvPr/>
        </p:nvSpPr>
        <p:spPr>
          <a:xfrm>
            <a:off x="201168" y="1362456"/>
            <a:ext cx="457200" cy="530352"/>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3" name="Text 11"/>
          <p:cNvSpPr/>
          <p:nvPr/>
        </p:nvSpPr>
        <p:spPr>
          <a:xfrm>
            <a:off x="731520" y="1408176"/>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Patients</a:t>
            </a:r>
            <a:endParaRPr lang="en-US" sz="1050" dirty="0"/>
          </a:p>
        </p:txBody>
      </p:sp>
      <p:sp>
        <p:nvSpPr>
          <p:cNvPr id="14" name="Text 12"/>
          <p:cNvSpPr/>
          <p:nvPr/>
        </p:nvSpPr>
        <p:spPr>
          <a:xfrm>
            <a:off x="731520" y="1627632"/>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CRUD operations, auto-generated IDs, ward &amp; bed management</a:t>
            </a:r>
            <a:endParaRPr lang="en-US" sz="880" dirty="0"/>
          </a:p>
        </p:txBody>
      </p:sp>
      <p:sp>
        <p:nvSpPr>
          <p:cNvPr id="15" name="Shape 13"/>
          <p:cNvSpPr/>
          <p:nvPr/>
        </p:nvSpPr>
        <p:spPr>
          <a:xfrm>
            <a:off x="201168" y="1975104"/>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6" name="Shape 14"/>
          <p:cNvSpPr/>
          <p:nvPr/>
        </p:nvSpPr>
        <p:spPr>
          <a:xfrm>
            <a:off x="201168" y="1975104"/>
            <a:ext cx="457200" cy="530352"/>
          </a:xfrm>
          <a:prstGeom prst="rect">
            <a:avLst/>
          </a:prstGeom>
          <a:solidFill>
            <a:srgbClr val="7C3AED"/>
          </a:solidFill>
          <a:ln w="12700">
            <a:solidFill>
              <a:srgbClr val="7C3AED"/>
            </a:solidFill>
            <a:prstDash val="solid"/>
          </a:ln>
        </p:spPr>
      </p:sp>
      <p:sp>
        <p:nvSpPr>
          <p:cNvPr id="17" name="Text 15"/>
          <p:cNvSpPr/>
          <p:nvPr/>
        </p:nvSpPr>
        <p:spPr>
          <a:xfrm>
            <a:off x="201168" y="1975104"/>
            <a:ext cx="457200" cy="530352"/>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8" name="Text 16"/>
          <p:cNvSpPr/>
          <p:nvPr/>
        </p:nvSpPr>
        <p:spPr>
          <a:xfrm>
            <a:off x="731520" y="2020824"/>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Dietary Profiles</a:t>
            </a:r>
            <a:endParaRPr lang="en-US" sz="1050" dirty="0"/>
          </a:p>
        </p:txBody>
      </p:sp>
      <p:sp>
        <p:nvSpPr>
          <p:cNvPr id="19" name="Text 17"/>
          <p:cNvSpPr/>
          <p:nvPr/>
        </p:nvSpPr>
        <p:spPr>
          <a:xfrm>
            <a:off x="731520" y="2240280"/>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Diet type, caloric needs, macro targets, allergies, restrictions</a:t>
            </a:r>
            <a:endParaRPr lang="en-US" sz="880" dirty="0"/>
          </a:p>
        </p:txBody>
      </p:sp>
      <p:sp>
        <p:nvSpPr>
          <p:cNvPr id="20" name="Shape 18"/>
          <p:cNvSpPr/>
          <p:nvPr/>
        </p:nvSpPr>
        <p:spPr>
          <a:xfrm>
            <a:off x="201168" y="2587752"/>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1" name="Shape 19"/>
          <p:cNvSpPr/>
          <p:nvPr/>
        </p:nvSpPr>
        <p:spPr>
          <a:xfrm>
            <a:off x="201168" y="2587752"/>
            <a:ext cx="457200" cy="530352"/>
          </a:xfrm>
          <a:prstGeom prst="rect">
            <a:avLst/>
          </a:prstGeom>
          <a:solidFill>
            <a:srgbClr val="0EA5E9"/>
          </a:solidFill>
          <a:ln w="12700">
            <a:solidFill>
              <a:srgbClr val="0EA5E9"/>
            </a:solidFill>
            <a:prstDash val="solid"/>
          </a:ln>
        </p:spPr>
      </p:sp>
      <p:sp>
        <p:nvSpPr>
          <p:cNvPr id="22" name="Text 20"/>
          <p:cNvSpPr/>
          <p:nvPr/>
        </p:nvSpPr>
        <p:spPr>
          <a:xfrm>
            <a:off x="201168" y="2587752"/>
            <a:ext cx="457200" cy="530352"/>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23" name="Text 21"/>
          <p:cNvSpPr/>
          <p:nvPr/>
        </p:nvSpPr>
        <p:spPr>
          <a:xfrm>
            <a:off x="731520" y="2633472"/>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Meal Library</a:t>
            </a:r>
            <a:endParaRPr lang="en-US" sz="1050" dirty="0"/>
          </a:p>
        </p:txBody>
      </p:sp>
      <p:sp>
        <p:nvSpPr>
          <p:cNvPr id="24" name="Text 22"/>
          <p:cNvSpPr/>
          <p:nvPr/>
        </p:nvSpPr>
        <p:spPr>
          <a:xfrm>
            <a:off x="731520" y="2852928"/>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Meals with nutritional info, diet tags and allergen labels</a:t>
            </a:r>
            <a:endParaRPr lang="en-US" sz="880" dirty="0"/>
          </a:p>
        </p:txBody>
      </p:sp>
      <p:sp>
        <p:nvSpPr>
          <p:cNvPr id="25" name="Shape 23"/>
          <p:cNvSpPr/>
          <p:nvPr/>
        </p:nvSpPr>
        <p:spPr>
          <a:xfrm>
            <a:off x="201168" y="3200400"/>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6" name="Shape 24"/>
          <p:cNvSpPr/>
          <p:nvPr/>
        </p:nvSpPr>
        <p:spPr>
          <a:xfrm>
            <a:off x="201168" y="3200400"/>
            <a:ext cx="457200" cy="530352"/>
          </a:xfrm>
          <a:prstGeom prst="rect">
            <a:avLst/>
          </a:prstGeom>
          <a:solidFill>
            <a:srgbClr val="F59E0B"/>
          </a:solidFill>
          <a:ln w="12700">
            <a:solidFill>
              <a:srgbClr val="F59E0B"/>
            </a:solidFill>
            <a:prstDash val="solid"/>
          </a:ln>
        </p:spPr>
      </p:sp>
      <p:sp>
        <p:nvSpPr>
          <p:cNvPr id="27" name="Text 25"/>
          <p:cNvSpPr/>
          <p:nvPr/>
        </p:nvSpPr>
        <p:spPr>
          <a:xfrm>
            <a:off x="201168" y="3200400"/>
            <a:ext cx="457200" cy="530352"/>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28" name="Text 26"/>
          <p:cNvSpPr/>
          <p:nvPr/>
        </p:nvSpPr>
        <p:spPr>
          <a:xfrm>
            <a:off x="731520" y="3246120"/>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Meal Planner</a:t>
            </a:r>
            <a:endParaRPr lang="en-US" sz="1050" dirty="0"/>
          </a:p>
        </p:txBody>
      </p:sp>
      <p:sp>
        <p:nvSpPr>
          <p:cNvPr id="29" name="Text 27"/>
          <p:cNvSpPr/>
          <p:nvPr/>
        </p:nvSpPr>
        <p:spPr>
          <a:xfrm>
            <a:off x="731520" y="3465576"/>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5 daily slots (Breakfast → Dinner) with live calorie tracker</a:t>
            </a:r>
            <a:endParaRPr lang="en-US" sz="880" dirty="0"/>
          </a:p>
        </p:txBody>
      </p:sp>
      <p:sp>
        <p:nvSpPr>
          <p:cNvPr id="30" name="Shape 28"/>
          <p:cNvSpPr/>
          <p:nvPr/>
        </p:nvSpPr>
        <p:spPr>
          <a:xfrm>
            <a:off x="201168" y="3813048"/>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1" name="Shape 29"/>
          <p:cNvSpPr/>
          <p:nvPr/>
        </p:nvSpPr>
        <p:spPr>
          <a:xfrm>
            <a:off x="201168" y="3813048"/>
            <a:ext cx="457200" cy="530352"/>
          </a:xfrm>
          <a:prstGeom prst="rect">
            <a:avLst/>
          </a:prstGeom>
          <a:solidFill>
            <a:srgbClr val="10B981"/>
          </a:solidFill>
          <a:ln w="12700">
            <a:solidFill>
              <a:srgbClr val="10B981"/>
            </a:solidFill>
            <a:prstDash val="solid"/>
          </a:ln>
        </p:spPr>
      </p:sp>
      <p:sp>
        <p:nvSpPr>
          <p:cNvPr id="32" name="Text 30"/>
          <p:cNvSpPr/>
          <p:nvPr/>
        </p:nvSpPr>
        <p:spPr>
          <a:xfrm>
            <a:off x="201168" y="3813048"/>
            <a:ext cx="457200" cy="530352"/>
          </a:xfrm>
          <a:prstGeom prst="rect">
            <a:avLst/>
          </a:prstGeom>
          <a:noFill/>
          <a:ln/>
        </p:spPr>
        <p:txBody>
          <a:bodyPr wrap="square" lIns="0" tIns="0" rIns="0" bIns="0" rtlCol="0" anchor="ctr"/>
          <a:lstStyle/>
          <a:p>
            <a:r>
              <a:rPr lang="en-US" sz="2800" dirty="0">
                <a:solidFill>
                  <a:srgbClr val="000000"/>
                </a:solidFill>
              </a:rPr>
              <a:t>⚠</a:t>
            </a:r>
            <a:endParaRPr lang="en-US" sz="1700" dirty="0"/>
          </a:p>
        </p:txBody>
      </p:sp>
      <p:sp>
        <p:nvSpPr>
          <p:cNvPr id="33" name="Text 31"/>
          <p:cNvSpPr/>
          <p:nvPr/>
        </p:nvSpPr>
        <p:spPr>
          <a:xfrm>
            <a:off x="731520" y="3858768"/>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Allergy Check</a:t>
            </a:r>
            <a:endParaRPr lang="en-US" sz="1050" dirty="0"/>
          </a:p>
        </p:txBody>
      </p:sp>
      <p:sp>
        <p:nvSpPr>
          <p:cNvPr id="34" name="Text 32"/>
          <p:cNvSpPr/>
          <p:nvPr/>
        </p:nvSpPr>
        <p:spPr>
          <a:xfrm>
            <a:off x="731520" y="4078224"/>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Real-time conflict detection — patient allergies vs meal allergens</a:t>
            </a:r>
            <a:endParaRPr lang="en-US" sz="880" dirty="0"/>
          </a:p>
        </p:txBody>
      </p:sp>
      <p:sp>
        <p:nvSpPr>
          <p:cNvPr id="35" name="Shape 33"/>
          <p:cNvSpPr/>
          <p:nvPr/>
        </p:nvSpPr>
        <p:spPr>
          <a:xfrm>
            <a:off x="201168" y="4425696"/>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6" name="Shape 34"/>
          <p:cNvSpPr/>
          <p:nvPr/>
        </p:nvSpPr>
        <p:spPr>
          <a:xfrm>
            <a:off x="201168" y="4425696"/>
            <a:ext cx="457200" cy="530352"/>
          </a:xfrm>
          <a:prstGeom prst="rect">
            <a:avLst/>
          </a:prstGeom>
          <a:solidFill>
            <a:srgbClr val="EF4444"/>
          </a:solidFill>
          <a:ln w="12700">
            <a:solidFill>
              <a:srgbClr val="EF4444"/>
            </a:solidFill>
            <a:prstDash val="solid"/>
          </a:ln>
        </p:spPr>
      </p:sp>
      <p:sp>
        <p:nvSpPr>
          <p:cNvPr id="37" name="Text 35"/>
          <p:cNvSpPr/>
          <p:nvPr/>
        </p:nvSpPr>
        <p:spPr>
          <a:xfrm>
            <a:off x="201168" y="4425696"/>
            <a:ext cx="457200" cy="530352"/>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38" name="Text 36"/>
          <p:cNvSpPr/>
          <p:nvPr/>
        </p:nvSpPr>
        <p:spPr>
          <a:xfrm>
            <a:off x="731520" y="4471416"/>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Calorie Calculator</a:t>
            </a:r>
            <a:endParaRPr lang="en-US" sz="1050" dirty="0"/>
          </a:p>
        </p:txBody>
      </p:sp>
      <p:sp>
        <p:nvSpPr>
          <p:cNvPr id="39" name="Text 37"/>
          <p:cNvSpPr/>
          <p:nvPr/>
        </p:nvSpPr>
        <p:spPr>
          <a:xfrm>
            <a:off x="731520" y="4690872"/>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BMR &amp; TDEE via Harris-Benedict formula with activity factor</a:t>
            </a:r>
            <a:endParaRPr lang="en-US" sz="880" dirty="0"/>
          </a:p>
        </p:txBody>
      </p:sp>
      <p:sp>
        <p:nvSpPr>
          <p:cNvPr id="40" name="Shape 38"/>
          <p:cNvSpPr/>
          <p:nvPr/>
        </p:nvSpPr>
        <p:spPr>
          <a:xfrm>
            <a:off x="4709160" y="749808"/>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41" name="Shape 39"/>
          <p:cNvSpPr/>
          <p:nvPr/>
        </p:nvSpPr>
        <p:spPr>
          <a:xfrm>
            <a:off x="4709160" y="749808"/>
            <a:ext cx="457200" cy="530352"/>
          </a:xfrm>
          <a:prstGeom prst="rect">
            <a:avLst/>
          </a:prstGeom>
          <a:solidFill>
            <a:srgbClr val="0A2463"/>
          </a:solidFill>
          <a:ln w="12700">
            <a:solidFill>
              <a:srgbClr val="0A2463"/>
            </a:solidFill>
            <a:prstDash val="solid"/>
          </a:ln>
        </p:spPr>
      </p:sp>
      <p:sp>
        <p:nvSpPr>
          <p:cNvPr id="42" name="Text 40"/>
          <p:cNvSpPr/>
          <p:nvPr/>
        </p:nvSpPr>
        <p:spPr>
          <a:xfrm>
            <a:off x="4709160" y="749808"/>
            <a:ext cx="457200" cy="530352"/>
          </a:xfrm>
          <a:prstGeom prst="rect">
            <a:avLst/>
          </a:prstGeom>
          <a:noFill/>
          <a:ln/>
        </p:spPr>
        <p:txBody>
          <a:bodyPr wrap="square" lIns="0" tIns="0" rIns="0" bIns="0" rtlCol="0" anchor="ctr"/>
          <a:lstStyle/>
          <a:p>
            <a:pPr marL="0" indent="0">
              <a:buNone/>
            </a:pPr>
            <a:r>
              <a:rPr lang="en-US" sz="1700" dirty="0">
                <a:solidFill>
                  <a:srgbClr val="000000"/>
                </a:solidFill>
              </a:rPr>
              <a:t>👨</a:t>
            </a:r>
            <a:r>
              <a:rPr lang="en-US" sz="2800" dirty="0">
                <a:solidFill>
                  <a:srgbClr val="000000"/>
                </a:solidFill>
              </a:rPr>
              <a:t>‍</a:t>
            </a:r>
            <a:r>
              <a:rPr lang="en-US" sz="2400" dirty="0">
                <a:solidFill>
                  <a:srgbClr val="000000"/>
                </a:solidFill>
              </a:rPr>
              <a:t>🍳</a:t>
            </a:r>
            <a:endParaRPr lang="en-US" sz="2400" dirty="0"/>
          </a:p>
        </p:txBody>
      </p:sp>
      <p:sp>
        <p:nvSpPr>
          <p:cNvPr id="43" name="Text 41"/>
          <p:cNvSpPr/>
          <p:nvPr/>
        </p:nvSpPr>
        <p:spPr>
          <a:xfrm>
            <a:off x="5239512" y="795528"/>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Kitchen Orders</a:t>
            </a:r>
            <a:endParaRPr lang="en-US" sz="1050" dirty="0"/>
          </a:p>
        </p:txBody>
      </p:sp>
      <p:sp>
        <p:nvSpPr>
          <p:cNvPr id="44" name="Text 42"/>
          <p:cNvSpPr/>
          <p:nvPr/>
        </p:nvSpPr>
        <p:spPr>
          <a:xfrm>
            <a:off x="5239512" y="1014984"/>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Pending → Preparing → Delivered tracking by ward and bed</a:t>
            </a:r>
            <a:endParaRPr lang="en-US" sz="880" dirty="0"/>
          </a:p>
        </p:txBody>
      </p:sp>
      <p:sp>
        <p:nvSpPr>
          <p:cNvPr id="45" name="Shape 43"/>
          <p:cNvSpPr/>
          <p:nvPr/>
        </p:nvSpPr>
        <p:spPr>
          <a:xfrm>
            <a:off x="4709160" y="1362456"/>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46" name="Shape 44"/>
          <p:cNvSpPr/>
          <p:nvPr/>
        </p:nvSpPr>
        <p:spPr>
          <a:xfrm>
            <a:off x="4709160" y="1362456"/>
            <a:ext cx="457200" cy="530352"/>
          </a:xfrm>
          <a:prstGeom prst="rect">
            <a:avLst/>
          </a:prstGeom>
          <a:solidFill>
            <a:srgbClr val="0D9488"/>
          </a:solidFill>
          <a:ln w="12700">
            <a:solidFill>
              <a:srgbClr val="0D9488"/>
            </a:solidFill>
            <a:prstDash val="solid"/>
          </a:ln>
        </p:spPr>
      </p:sp>
      <p:sp>
        <p:nvSpPr>
          <p:cNvPr id="47" name="Text 45"/>
          <p:cNvSpPr/>
          <p:nvPr/>
        </p:nvSpPr>
        <p:spPr>
          <a:xfrm>
            <a:off x="4709160" y="1362456"/>
            <a:ext cx="457200" cy="530352"/>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48" name="Text 46"/>
          <p:cNvSpPr/>
          <p:nvPr/>
        </p:nvSpPr>
        <p:spPr>
          <a:xfrm>
            <a:off x="5239512" y="1408176"/>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Approvals</a:t>
            </a:r>
            <a:endParaRPr lang="en-US" sz="1050" dirty="0"/>
          </a:p>
        </p:txBody>
      </p:sp>
      <p:sp>
        <p:nvSpPr>
          <p:cNvPr id="49" name="Text 47"/>
          <p:cNvSpPr/>
          <p:nvPr/>
        </p:nvSpPr>
        <p:spPr>
          <a:xfrm>
            <a:off x="5239512" y="1627632"/>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Admin reviews and approves/rejects dietitian meal plans</a:t>
            </a:r>
            <a:endParaRPr lang="en-US" sz="880" dirty="0"/>
          </a:p>
        </p:txBody>
      </p:sp>
      <p:sp>
        <p:nvSpPr>
          <p:cNvPr id="50" name="Shape 48"/>
          <p:cNvSpPr/>
          <p:nvPr/>
        </p:nvSpPr>
        <p:spPr>
          <a:xfrm>
            <a:off x="4709160" y="1975104"/>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51" name="Shape 49"/>
          <p:cNvSpPr/>
          <p:nvPr/>
        </p:nvSpPr>
        <p:spPr>
          <a:xfrm>
            <a:off x="4709160" y="1975104"/>
            <a:ext cx="457200" cy="530352"/>
          </a:xfrm>
          <a:prstGeom prst="rect">
            <a:avLst/>
          </a:prstGeom>
          <a:solidFill>
            <a:srgbClr val="7C3AED"/>
          </a:solidFill>
          <a:ln w="12700">
            <a:solidFill>
              <a:srgbClr val="7C3AED"/>
            </a:solidFill>
            <a:prstDash val="solid"/>
          </a:ln>
        </p:spPr>
      </p:sp>
      <p:sp>
        <p:nvSpPr>
          <p:cNvPr id="52" name="Text 50"/>
          <p:cNvSpPr/>
          <p:nvPr/>
        </p:nvSpPr>
        <p:spPr>
          <a:xfrm>
            <a:off x="4709160" y="1975104"/>
            <a:ext cx="457200" cy="530352"/>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53" name="Text 51"/>
          <p:cNvSpPr/>
          <p:nvPr/>
        </p:nvSpPr>
        <p:spPr>
          <a:xfrm>
            <a:off x="5239512" y="2020824"/>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History / Audit</a:t>
            </a:r>
            <a:endParaRPr lang="en-US" sz="1050" dirty="0"/>
          </a:p>
        </p:txBody>
      </p:sp>
      <p:sp>
        <p:nvSpPr>
          <p:cNvPr id="54" name="Text 52"/>
          <p:cNvSpPr/>
          <p:nvPr/>
        </p:nvSpPr>
        <p:spPr>
          <a:xfrm>
            <a:off x="5239512" y="2240280"/>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Full audit trail of every login, edit, approve, delete action</a:t>
            </a:r>
            <a:endParaRPr lang="en-US" sz="880" dirty="0"/>
          </a:p>
        </p:txBody>
      </p:sp>
      <p:sp>
        <p:nvSpPr>
          <p:cNvPr id="55" name="Shape 53"/>
          <p:cNvSpPr/>
          <p:nvPr/>
        </p:nvSpPr>
        <p:spPr>
          <a:xfrm>
            <a:off x="4709160" y="2587752"/>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56" name="Shape 54"/>
          <p:cNvSpPr/>
          <p:nvPr/>
        </p:nvSpPr>
        <p:spPr>
          <a:xfrm>
            <a:off x="4709160" y="2587752"/>
            <a:ext cx="457200" cy="530352"/>
          </a:xfrm>
          <a:prstGeom prst="rect">
            <a:avLst/>
          </a:prstGeom>
          <a:solidFill>
            <a:srgbClr val="0EA5E9"/>
          </a:solidFill>
          <a:ln w="12700">
            <a:solidFill>
              <a:srgbClr val="0EA5E9"/>
            </a:solidFill>
            <a:prstDash val="solid"/>
          </a:ln>
        </p:spPr>
      </p:sp>
      <p:sp>
        <p:nvSpPr>
          <p:cNvPr id="57" name="Text 55"/>
          <p:cNvSpPr/>
          <p:nvPr/>
        </p:nvSpPr>
        <p:spPr>
          <a:xfrm>
            <a:off x="4709160" y="2587752"/>
            <a:ext cx="457200" cy="530352"/>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58" name="Text 56"/>
          <p:cNvSpPr/>
          <p:nvPr/>
        </p:nvSpPr>
        <p:spPr>
          <a:xfrm>
            <a:off x="5239512" y="2633472"/>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Export (CSV)</a:t>
            </a:r>
            <a:endParaRPr lang="en-US" sz="1050" dirty="0"/>
          </a:p>
        </p:txBody>
      </p:sp>
      <p:sp>
        <p:nvSpPr>
          <p:cNvPr id="59" name="Text 57"/>
          <p:cNvSpPr/>
          <p:nvPr/>
        </p:nvSpPr>
        <p:spPr>
          <a:xfrm>
            <a:off x="5239512" y="2852928"/>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6 downloadable reports — patients, plans, orders, allergies</a:t>
            </a:r>
            <a:endParaRPr lang="en-US" sz="880" dirty="0"/>
          </a:p>
        </p:txBody>
      </p:sp>
      <p:sp>
        <p:nvSpPr>
          <p:cNvPr id="60" name="Shape 58"/>
          <p:cNvSpPr/>
          <p:nvPr/>
        </p:nvSpPr>
        <p:spPr>
          <a:xfrm>
            <a:off x="4709160" y="3200400"/>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61" name="Shape 59"/>
          <p:cNvSpPr/>
          <p:nvPr/>
        </p:nvSpPr>
        <p:spPr>
          <a:xfrm>
            <a:off x="4709160" y="3200400"/>
            <a:ext cx="457200" cy="530352"/>
          </a:xfrm>
          <a:prstGeom prst="rect">
            <a:avLst/>
          </a:prstGeom>
          <a:solidFill>
            <a:srgbClr val="F59E0B"/>
          </a:solidFill>
          <a:ln w="12700">
            <a:solidFill>
              <a:srgbClr val="F59E0B"/>
            </a:solidFill>
            <a:prstDash val="solid"/>
          </a:ln>
        </p:spPr>
      </p:sp>
      <p:sp>
        <p:nvSpPr>
          <p:cNvPr id="62" name="Text 60"/>
          <p:cNvSpPr/>
          <p:nvPr/>
        </p:nvSpPr>
        <p:spPr>
          <a:xfrm>
            <a:off x="4709160" y="3200400"/>
            <a:ext cx="457200" cy="530352"/>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63" name="Text 61"/>
          <p:cNvSpPr/>
          <p:nvPr/>
        </p:nvSpPr>
        <p:spPr>
          <a:xfrm>
            <a:off x="5239512" y="3246120"/>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Notifications</a:t>
            </a:r>
            <a:endParaRPr lang="en-US" sz="1050" dirty="0"/>
          </a:p>
        </p:txBody>
      </p:sp>
      <p:sp>
        <p:nvSpPr>
          <p:cNvPr id="64" name="Text 62"/>
          <p:cNvSpPr/>
          <p:nvPr/>
        </p:nvSpPr>
        <p:spPr>
          <a:xfrm>
            <a:off x="5239512" y="3465576"/>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Allergy alerts, approval requests and system-wide messages</a:t>
            </a:r>
            <a:endParaRPr lang="en-US" sz="880" dirty="0"/>
          </a:p>
        </p:txBody>
      </p:sp>
      <p:sp>
        <p:nvSpPr>
          <p:cNvPr id="65" name="Shape 63"/>
          <p:cNvSpPr/>
          <p:nvPr/>
        </p:nvSpPr>
        <p:spPr>
          <a:xfrm>
            <a:off x="4709160" y="3813048"/>
            <a:ext cx="4251960" cy="53035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66" name="Shape 64"/>
          <p:cNvSpPr/>
          <p:nvPr/>
        </p:nvSpPr>
        <p:spPr>
          <a:xfrm>
            <a:off x="4709160" y="3813048"/>
            <a:ext cx="457200" cy="530352"/>
          </a:xfrm>
          <a:prstGeom prst="rect">
            <a:avLst/>
          </a:prstGeom>
          <a:solidFill>
            <a:srgbClr val="10B981"/>
          </a:solidFill>
          <a:ln w="12700">
            <a:solidFill>
              <a:srgbClr val="10B981"/>
            </a:solidFill>
            <a:prstDash val="solid"/>
          </a:ln>
        </p:spPr>
      </p:sp>
      <p:sp>
        <p:nvSpPr>
          <p:cNvPr id="67" name="Text 65"/>
          <p:cNvSpPr/>
          <p:nvPr/>
        </p:nvSpPr>
        <p:spPr>
          <a:xfrm>
            <a:off x="4709160" y="3813048"/>
            <a:ext cx="457200" cy="530352"/>
          </a:xfrm>
          <a:prstGeom prst="rect">
            <a:avLst/>
          </a:prstGeom>
          <a:noFill/>
          <a:ln/>
        </p:spPr>
        <p:txBody>
          <a:bodyPr wrap="square" lIns="0" tIns="0" rIns="0" bIns="0" rtlCol="0" anchor="ctr"/>
          <a:lstStyle/>
          <a:p>
            <a:pPr marL="0" indent="0">
              <a:buNone/>
            </a:pPr>
            <a:r>
              <a:rPr lang="en-US" sz="2800" dirty="0" smtClean="0">
                <a:solidFill>
                  <a:srgbClr val="000000"/>
                </a:solidFill>
              </a:rPr>
              <a:t>⚙</a:t>
            </a:r>
            <a:endParaRPr lang="en-US" sz="1700" dirty="0"/>
          </a:p>
        </p:txBody>
      </p:sp>
      <p:sp>
        <p:nvSpPr>
          <p:cNvPr id="68" name="Text 66"/>
          <p:cNvSpPr/>
          <p:nvPr/>
        </p:nvSpPr>
        <p:spPr>
          <a:xfrm>
            <a:off x="5239512" y="3858768"/>
            <a:ext cx="3657600" cy="219456"/>
          </a:xfrm>
          <a:prstGeom prst="rect">
            <a:avLst/>
          </a:prstGeom>
          <a:noFill/>
          <a:ln/>
        </p:spPr>
        <p:txBody>
          <a:bodyPr wrap="square" lIns="0" tIns="0" rIns="0" bIns="0" rtlCol="0" anchor="ctr"/>
          <a:lstStyle/>
          <a:p>
            <a:pPr marL="0" indent="0" algn="l">
              <a:buNone/>
            </a:pPr>
            <a:r>
              <a:rPr lang="en-US" sz="1050" b="1" dirty="0">
                <a:solidFill>
                  <a:srgbClr val="0A2463"/>
                </a:solidFill>
              </a:rPr>
              <a:t>Admin Panel</a:t>
            </a:r>
            <a:endParaRPr lang="en-US" sz="1050" dirty="0"/>
          </a:p>
        </p:txBody>
      </p:sp>
      <p:sp>
        <p:nvSpPr>
          <p:cNvPr id="69" name="Text 67"/>
          <p:cNvSpPr/>
          <p:nvPr/>
        </p:nvSpPr>
        <p:spPr>
          <a:xfrm>
            <a:off x="5239512" y="4078224"/>
            <a:ext cx="3657600" cy="219456"/>
          </a:xfrm>
          <a:prstGeom prst="rect">
            <a:avLst/>
          </a:prstGeom>
          <a:noFill/>
          <a:ln/>
        </p:spPr>
        <p:txBody>
          <a:bodyPr wrap="square" lIns="0" tIns="0" rIns="0" bIns="0" rtlCol="0" anchor="ctr"/>
          <a:lstStyle/>
          <a:p>
            <a:pPr marL="0" indent="0" algn="l">
              <a:buNone/>
            </a:pPr>
            <a:r>
              <a:rPr lang="en-US" sz="880" dirty="0">
                <a:solidFill>
                  <a:srgbClr val="64748B"/>
                </a:solidFill>
              </a:rPr>
              <a:t>Manage users, roles, settings and reset to demo data</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w="12700">
            <a:solidFill>
              <a:srgbClr val="0D9488"/>
            </a:solidFill>
            <a:prstDash val="solid"/>
          </a:ln>
        </p:spPr>
      </p:sp>
      <p:sp>
        <p:nvSpPr>
          <p:cNvPr id="3" name="Text 1"/>
          <p:cNvSpPr/>
          <p:nvPr/>
        </p:nvSpPr>
        <p:spPr>
          <a:xfrm>
            <a:off x="320040" y="256032"/>
            <a:ext cx="8503920" cy="411480"/>
          </a:xfrm>
          <a:prstGeom prst="rect">
            <a:avLst/>
          </a:prstGeom>
          <a:noFill/>
          <a:ln/>
        </p:spPr>
        <p:txBody>
          <a:bodyPr wrap="square" lIns="0" tIns="0" rIns="0" bIns="0" rtlCol="0" anchor="ctr"/>
          <a:lstStyle/>
          <a:p>
            <a:pPr marL="0" indent="0">
              <a:buNone/>
            </a:pPr>
            <a:r>
              <a:rPr lang="en-US" sz="2400" b="1" dirty="0">
                <a:solidFill>
                  <a:srgbClr val="0A2463"/>
                </a:solidFill>
                <a:latin typeface="Times New Roman" pitchFamily="18" charset="0"/>
                <a:cs typeface="Times New Roman" pitchFamily="18" charset="0"/>
              </a:rPr>
              <a:t>Dietary Profile &amp; Allergy Check</a:t>
            </a:r>
            <a:endParaRPr lang="en-US" sz="2400" dirty="0">
              <a:latin typeface="Times New Roman" pitchFamily="18" charset="0"/>
              <a:cs typeface="Times New Roman" pitchFamily="18" charset="0"/>
            </a:endParaRPr>
          </a:p>
        </p:txBody>
      </p:sp>
      <p:sp>
        <p:nvSpPr>
          <p:cNvPr id="4" name="Shape 2"/>
          <p:cNvSpPr/>
          <p:nvPr/>
        </p:nvSpPr>
        <p:spPr>
          <a:xfrm>
            <a:off x="320040" y="777240"/>
            <a:ext cx="4206240" cy="40690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5" name="Shape 3"/>
          <p:cNvSpPr/>
          <p:nvPr/>
        </p:nvSpPr>
        <p:spPr>
          <a:xfrm>
            <a:off x="320040" y="777240"/>
            <a:ext cx="4206240" cy="365760"/>
          </a:xfrm>
          <a:prstGeom prst="rect">
            <a:avLst/>
          </a:prstGeom>
          <a:solidFill>
            <a:srgbClr val="0A2463"/>
          </a:solidFill>
          <a:ln w="12700">
            <a:solidFill>
              <a:srgbClr val="0A2463"/>
            </a:solidFill>
            <a:prstDash val="solid"/>
          </a:ln>
        </p:spPr>
      </p:sp>
      <p:sp>
        <p:nvSpPr>
          <p:cNvPr id="6" name="Text 4"/>
          <p:cNvSpPr/>
          <p:nvPr/>
        </p:nvSpPr>
        <p:spPr>
          <a:xfrm>
            <a:off x="320040" y="777240"/>
            <a:ext cx="4206240" cy="365760"/>
          </a:xfrm>
          <a:prstGeom prst="rect">
            <a:avLst/>
          </a:prstGeom>
          <a:noFill/>
          <a:ln/>
        </p:spPr>
        <p:txBody>
          <a:bodyPr wrap="square" lIns="0" tIns="0" rIns="0" bIns="0" rtlCol="0" anchor="ctr"/>
          <a:lstStyle/>
          <a:p>
            <a:pPr marL="0" indent="0" algn="ctr">
              <a:buNone/>
            </a:pPr>
            <a:r>
              <a:rPr lang="en-US" sz="1200" b="1" dirty="0">
                <a:solidFill>
                  <a:srgbClr val="FFFFFF"/>
                </a:solidFill>
              </a:rPr>
              <a:t>📋  </a:t>
            </a:r>
            <a:r>
              <a:rPr lang="en-US" sz="1200" b="1" dirty="0" smtClean="0">
                <a:solidFill>
                  <a:srgbClr val="FFFFFF"/>
                </a:solidFill>
              </a:rPr>
              <a:t>    Dietary </a:t>
            </a:r>
            <a:r>
              <a:rPr lang="en-US" sz="1200" b="1" dirty="0">
                <a:solidFill>
                  <a:srgbClr val="FFFFFF"/>
                </a:solidFill>
              </a:rPr>
              <a:t>Profile Management</a:t>
            </a:r>
            <a:endParaRPr lang="en-US" sz="1200" dirty="0"/>
          </a:p>
        </p:txBody>
      </p:sp>
      <p:sp>
        <p:nvSpPr>
          <p:cNvPr id="7" name="Text 5"/>
          <p:cNvSpPr/>
          <p:nvPr/>
        </p:nvSpPr>
        <p:spPr>
          <a:xfrm>
            <a:off x="457200" y="1261872"/>
            <a:ext cx="1280160" cy="384048"/>
          </a:xfrm>
          <a:prstGeom prst="rect">
            <a:avLst/>
          </a:prstGeom>
          <a:noFill/>
          <a:ln/>
        </p:spPr>
        <p:txBody>
          <a:bodyPr wrap="square" lIns="0" tIns="0" rIns="0" bIns="0" rtlCol="0" anchor="ctr"/>
          <a:lstStyle/>
          <a:p>
            <a:pPr marL="0" indent="0">
              <a:buNone/>
            </a:pPr>
            <a:r>
              <a:rPr lang="en-US" sz="1000" b="1" dirty="0">
                <a:solidFill>
                  <a:srgbClr val="0D9488"/>
                </a:solidFill>
              </a:rPr>
              <a:t>Diet Type:</a:t>
            </a:r>
            <a:endParaRPr lang="en-US" sz="1000" dirty="0"/>
          </a:p>
        </p:txBody>
      </p:sp>
      <p:sp>
        <p:nvSpPr>
          <p:cNvPr id="8" name="Text 6"/>
          <p:cNvSpPr/>
          <p:nvPr/>
        </p:nvSpPr>
        <p:spPr>
          <a:xfrm>
            <a:off x="1737360" y="1261872"/>
            <a:ext cx="2651760" cy="384048"/>
          </a:xfrm>
          <a:prstGeom prst="rect">
            <a:avLst/>
          </a:prstGeom>
          <a:noFill/>
          <a:ln/>
        </p:spPr>
        <p:txBody>
          <a:bodyPr wrap="square" lIns="0" tIns="0" rIns="0" bIns="0" rtlCol="0" anchor="ctr"/>
          <a:lstStyle/>
          <a:p>
            <a:pPr marL="0" indent="0">
              <a:buNone/>
            </a:pPr>
            <a:r>
              <a:rPr lang="en-US" sz="1000" dirty="0">
                <a:solidFill>
                  <a:srgbClr val="334155"/>
                </a:solidFill>
              </a:rPr>
              <a:t>Diabetic · Low Sodium · High Protein · Renal · Cardiac</a:t>
            </a:r>
            <a:endParaRPr lang="en-US" sz="1000" dirty="0"/>
          </a:p>
        </p:txBody>
      </p:sp>
      <p:sp>
        <p:nvSpPr>
          <p:cNvPr id="9" name="Text 7"/>
          <p:cNvSpPr/>
          <p:nvPr/>
        </p:nvSpPr>
        <p:spPr>
          <a:xfrm>
            <a:off x="457200" y="1737360"/>
            <a:ext cx="1280160" cy="384048"/>
          </a:xfrm>
          <a:prstGeom prst="rect">
            <a:avLst/>
          </a:prstGeom>
          <a:noFill/>
          <a:ln/>
        </p:spPr>
        <p:txBody>
          <a:bodyPr wrap="square" lIns="0" tIns="0" rIns="0" bIns="0" rtlCol="0" anchor="ctr"/>
          <a:lstStyle/>
          <a:p>
            <a:pPr marL="0" indent="0">
              <a:buNone/>
            </a:pPr>
            <a:r>
              <a:rPr lang="en-US" sz="1000" b="1" dirty="0">
                <a:solidFill>
                  <a:srgbClr val="0D9488"/>
                </a:solidFill>
              </a:rPr>
              <a:t>Caloric Needs:</a:t>
            </a:r>
            <a:endParaRPr lang="en-US" sz="1000" dirty="0"/>
          </a:p>
        </p:txBody>
      </p:sp>
      <p:sp>
        <p:nvSpPr>
          <p:cNvPr id="10" name="Text 8"/>
          <p:cNvSpPr/>
          <p:nvPr/>
        </p:nvSpPr>
        <p:spPr>
          <a:xfrm>
            <a:off x="1737360" y="1737360"/>
            <a:ext cx="2651760" cy="384048"/>
          </a:xfrm>
          <a:prstGeom prst="rect">
            <a:avLst/>
          </a:prstGeom>
          <a:noFill/>
          <a:ln/>
        </p:spPr>
        <p:txBody>
          <a:bodyPr wrap="square" lIns="0" tIns="0" rIns="0" bIns="0" rtlCol="0" anchor="ctr"/>
          <a:lstStyle/>
          <a:p>
            <a:pPr marL="0" indent="0">
              <a:buNone/>
            </a:pPr>
            <a:r>
              <a:rPr lang="en-US" sz="1000" dirty="0">
                <a:solidFill>
                  <a:srgbClr val="334155"/>
                </a:solidFill>
              </a:rPr>
              <a:t>Daily kcal target used for meal plan progress tracking</a:t>
            </a:r>
            <a:endParaRPr lang="en-US" sz="1000" dirty="0"/>
          </a:p>
        </p:txBody>
      </p:sp>
      <p:sp>
        <p:nvSpPr>
          <p:cNvPr id="11" name="Text 9"/>
          <p:cNvSpPr/>
          <p:nvPr/>
        </p:nvSpPr>
        <p:spPr>
          <a:xfrm>
            <a:off x="457200" y="2212848"/>
            <a:ext cx="1280160" cy="384048"/>
          </a:xfrm>
          <a:prstGeom prst="rect">
            <a:avLst/>
          </a:prstGeom>
          <a:noFill/>
          <a:ln/>
        </p:spPr>
        <p:txBody>
          <a:bodyPr wrap="square" lIns="0" tIns="0" rIns="0" bIns="0" rtlCol="0" anchor="ctr"/>
          <a:lstStyle/>
          <a:p>
            <a:pPr marL="0" indent="0">
              <a:buNone/>
            </a:pPr>
            <a:r>
              <a:rPr lang="en-US" sz="1000" b="1" dirty="0">
                <a:solidFill>
                  <a:srgbClr val="0D9488"/>
                </a:solidFill>
              </a:rPr>
              <a:t>Macros:</a:t>
            </a:r>
            <a:endParaRPr lang="en-US" sz="1000" dirty="0"/>
          </a:p>
        </p:txBody>
      </p:sp>
      <p:sp>
        <p:nvSpPr>
          <p:cNvPr id="12" name="Text 10"/>
          <p:cNvSpPr/>
          <p:nvPr/>
        </p:nvSpPr>
        <p:spPr>
          <a:xfrm>
            <a:off x="1737360" y="2212848"/>
            <a:ext cx="2651760" cy="384048"/>
          </a:xfrm>
          <a:prstGeom prst="rect">
            <a:avLst/>
          </a:prstGeom>
          <a:noFill/>
          <a:ln/>
        </p:spPr>
        <p:txBody>
          <a:bodyPr wrap="square" lIns="0" tIns="0" rIns="0" bIns="0" rtlCol="0" anchor="ctr"/>
          <a:lstStyle/>
          <a:p>
            <a:pPr marL="0" indent="0">
              <a:buNone/>
            </a:pPr>
            <a:r>
              <a:rPr lang="en-US" sz="1000" dirty="0">
                <a:solidFill>
                  <a:srgbClr val="334155"/>
                </a:solidFill>
              </a:rPr>
              <a:t>Protein (g) · Carbohydrates (g) · Fat (g) targets</a:t>
            </a:r>
            <a:endParaRPr lang="en-US" sz="1000" dirty="0"/>
          </a:p>
        </p:txBody>
      </p:sp>
      <p:sp>
        <p:nvSpPr>
          <p:cNvPr id="13" name="Text 11"/>
          <p:cNvSpPr/>
          <p:nvPr/>
        </p:nvSpPr>
        <p:spPr>
          <a:xfrm>
            <a:off x="457200" y="2688336"/>
            <a:ext cx="1280160" cy="384048"/>
          </a:xfrm>
          <a:prstGeom prst="rect">
            <a:avLst/>
          </a:prstGeom>
          <a:noFill/>
          <a:ln/>
        </p:spPr>
        <p:txBody>
          <a:bodyPr wrap="square" lIns="0" tIns="0" rIns="0" bIns="0" rtlCol="0" anchor="ctr"/>
          <a:lstStyle/>
          <a:p>
            <a:pPr marL="0" indent="0">
              <a:buNone/>
            </a:pPr>
            <a:r>
              <a:rPr lang="en-US" sz="1000" b="1" dirty="0">
                <a:solidFill>
                  <a:srgbClr val="0D9488"/>
                </a:solidFill>
              </a:rPr>
              <a:t>Water Intake:</a:t>
            </a:r>
            <a:endParaRPr lang="en-US" sz="1000" dirty="0"/>
          </a:p>
        </p:txBody>
      </p:sp>
      <p:sp>
        <p:nvSpPr>
          <p:cNvPr id="14" name="Text 12"/>
          <p:cNvSpPr/>
          <p:nvPr/>
        </p:nvSpPr>
        <p:spPr>
          <a:xfrm>
            <a:off x="1737360" y="2688336"/>
            <a:ext cx="2651760" cy="384048"/>
          </a:xfrm>
          <a:prstGeom prst="rect">
            <a:avLst/>
          </a:prstGeom>
          <a:noFill/>
          <a:ln/>
        </p:spPr>
        <p:txBody>
          <a:bodyPr wrap="square" lIns="0" tIns="0" rIns="0" bIns="0" rtlCol="0" anchor="ctr"/>
          <a:lstStyle/>
          <a:p>
            <a:pPr marL="0" indent="0">
              <a:buNone/>
            </a:pPr>
            <a:r>
              <a:rPr lang="en-US" sz="1000" dirty="0">
                <a:solidFill>
                  <a:srgbClr val="334155"/>
                </a:solidFill>
              </a:rPr>
              <a:t>Daily fluid target in litres (restricted for renal patients)</a:t>
            </a:r>
            <a:endParaRPr lang="en-US" sz="1000" dirty="0"/>
          </a:p>
        </p:txBody>
      </p:sp>
      <p:sp>
        <p:nvSpPr>
          <p:cNvPr id="15" name="Text 13"/>
          <p:cNvSpPr/>
          <p:nvPr/>
        </p:nvSpPr>
        <p:spPr>
          <a:xfrm>
            <a:off x="457200" y="3163824"/>
            <a:ext cx="1280160" cy="384048"/>
          </a:xfrm>
          <a:prstGeom prst="rect">
            <a:avLst/>
          </a:prstGeom>
          <a:noFill/>
          <a:ln/>
        </p:spPr>
        <p:txBody>
          <a:bodyPr wrap="square" lIns="0" tIns="0" rIns="0" bIns="0" rtlCol="0" anchor="ctr"/>
          <a:lstStyle/>
          <a:p>
            <a:pPr marL="0" indent="0">
              <a:buNone/>
            </a:pPr>
            <a:r>
              <a:rPr lang="en-US" sz="1000" b="1" dirty="0">
                <a:solidFill>
                  <a:srgbClr val="0D9488"/>
                </a:solidFill>
              </a:rPr>
              <a:t>Allergies:</a:t>
            </a:r>
            <a:endParaRPr lang="en-US" sz="1000" dirty="0"/>
          </a:p>
        </p:txBody>
      </p:sp>
      <p:sp>
        <p:nvSpPr>
          <p:cNvPr id="16" name="Text 14"/>
          <p:cNvSpPr/>
          <p:nvPr/>
        </p:nvSpPr>
        <p:spPr>
          <a:xfrm>
            <a:off x="1737360" y="3163824"/>
            <a:ext cx="2651760" cy="384048"/>
          </a:xfrm>
          <a:prstGeom prst="rect">
            <a:avLst/>
          </a:prstGeom>
          <a:noFill/>
          <a:ln/>
        </p:spPr>
        <p:txBody>
          <a:bodyPr wrap="square" lIns="0" tIns="0" rIns="0" bIns="0" rtlCol="0" anchor="ctr"/>
          <a:lstStyle/>
          <a:p>
            <a:pPr marL="0" indent="0">
              <a:buNone/>
            </a:pPr>
            <a:r>
              <a:rPr lang="en-US" sz="1000" dirty="0">
                <a:solidFill>
                  <a:srgbClr val="334155"/>
                </a:solidFill>
              </a:rPr>
              <a:t>Gluten · Dairy · Eggs · Nuts · Shellfish · Soy · Wheat</a:t>
            </a:r>
            <a:endParaRPr lang="en-US" sz="1000" dirty="0"/>
          </a:p>
        </p:txBody>
      </p:sp>
      <p:sp>
        <p:nvSpPr>
          <p:cNvPr id="17" name="Text 15"/>
          <p:cNvSpPr/>
          <p:nvPr/>
        </p:nvSpPr>
        <p:spPr>
          <a:xfrm>
            <a:off x="457200" y="3639312"/>
            <a:ext cx="1280160" cy="384048"/>
          </a:xfrm>
          <a:prstGeom prst="rect">
            <a:avLst/>
          </a:prstGeom>
          <a:noFill/>
          <a:ln/>
        </p:spPr>
        <p:txBody>
          <a:bodyPr wrap="square" lIns="0" tIns="0" rIns="0" bIns="0" rtlCol="0" anchor="ctr"/>
          <a:lstStyle/>
          <a:p>
            <a:pPr marL="0" indent="0">
              <a:buNone/>
            </a:pPr>
            <a:r>
              <a:rPr lang="en-US" sz="1000" b="1" dirty="0">
                <a:solidFill>
                  <a:srgbClr val="0D9488"/>
                </a:solidFill>
              </a:rPr>
              <a:t>Restrictions:</a:t>
            </a:r>
            <a:endParaRPr lang="en-US" sz="1000" dirty="0"/>
          </a:p>
        </p:txBody>
      </p:sp>
      <p:sp>
        <p:nvSpPr>
          <p:cNvPr id="18" name="Text 16"/>
          <p:cNvSpPr/>
          <p:nvPr/>
        </p:nvSpPr>
        <p:spPr>
          <a:xfrm>
            <a:off x="1737360" y="3639312"/>
            <a:ext cx="2651760" cy="384048"/>
          </a:xfrm>
          <a:prstGeom prst="rect">
            <a:avLst/>
          </a:prstGeom>
          <a:noFill/>
          <a:ln/>
        </p:spPr>
        <p:txBody>
          <a:bodyPr wrap="square" lIns="0" tIns="0" rIns="0" bIns="0" rtlCol="0" anchor="ctr"/>
          <a:lstStyle/>
          <a:p>
            <a:pPr marL="0" indent="0">
              <a:buNone/>
            </a:pPr>
            <a:r>
              <a:rPr lang="en-US" sz="1000" dirty="0">
                <a:solidFill>
                  <a:srgbClr val="334155"/>
                </a:solidFill>
              </a:rPr>
              <a:t>High Sugar · High Salt · Fried Foods · High Potassium</a:t>
            </a:r>
            <a:endParaRPr lang="en-US" sz="1000" dirty="0"/>
          </a:p>
        </p:txBody>
      </p:sp>
      <p:sp>
        <p:nvSpPr>
          <p:cNvPr id="19" name="Text 17"/>
          <p:cNvSpPr/>
          <p:nvPr/>
        </p:nvSpPr>
        <p:spPr>
          <a:xfrm>
            <a:off x="457200" y="4114800"/>
            <a:ext cx="1280160" cy="384048"/>
          </a:xfrm>
          <a:prstGeom prst="rect">
            <a:avLst/>
          </a:prstGeom>
          <a:noFill/>
          <a:ln/>
        </p:spPr>
        <p:txBody>
          <a:bodyPr wrap="square" lIns="0" tIns="0" rIns="0" bIns="0" rtlCol="0" anchor="ctr"/>
          <a:lstStyle/>
          <a:p>
            <a:pPr marL="0" indent="0">
              <a:buNone/>
            </a:pPr>
            <a:r>
              <a:rPr lang="en-US" sz="1000" b="1" dirty="0">
                <a:solidFill>
                  <a:srgbClr val="0D9488"/>
                </a:solidFill>
              </a:rPr>
              <a:t>Notes:</a:t>
            </a:r>
            <a:endParaRPr lang="en-US" sz="1000" dirty="0"/>
          </a:p>
        </p:txBody>
      </p:sp>
      <p:sp>
        <p:nvSpPr>
          <p:cNvPr id="20" name="Text 18"/>
          <p:cNvSpPr/>
          <p:nvPr/>
        </p:nvSpPr>
        <p:spPr>
          <a:xfrm>
            <a:off x="1737360" y="4114800"/>
            <a:ext cx="2651760" cy="384048"/>
          </a:xfrm>
          <a:prstGeom prst="rect">
            <a:avLst/>
          </a:prstGeom>
          <a:noFill/>
          <a:ln/>
        </p:spPr>
        <p:txBody>
          <a:bodyPr wrap="square" lIns="0" tIns="0" rIns="0" bIns="0" rtlCol="0" anchor="ctr"/>
          <a:lstStyle/>
          <a:p>
            <a:pPr marL="0" indent="0">
              <a:buNone/>
            </a:pPr>
            <a:r>
              <a:rPr lang="en-US" sz="1000" dirty="0">
                <a:solidFill>
                  <a:srgbClr val="334155"/>
                </a:solidFill>
              </a:rPr>
              <a:t>Free-text special instructions for kitchen &amp; nursing staff</a:t>
            </a:r>
            <a:endParaRPr lang="en-US" sz="1000" dirty="0"/>
          </a:p>
        </p:txBody>
      </p:sp>
      <p:sp>
        <p:nvSpPr>
          <p:cNvPr id="21" name="Shape 19"/>
          <p:cNvSpPr/>
          <p:nvPr/>
        </p:nvSpPr>
        <p:spPr>
          <a:xfrm>
            <a:off x="4754880" y="777240"/>
            <a:ext cx="4069080" cy="40690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2" name="Shape 20"/>
          <p:cNvSpPr/>
          <p:nvPr/>
        </p:nvSpPr>
        <p:spPr>
          <a:xfrm>
            <a:off x="4754880" y="777240"/>
            <a:ext cx="4069080" cy="365760"/>
          </a:xfrm>
          <a:prstGeom prst="rect">
            <a:avLst/>
          </a:prstGeom>
          <a:solidFill>
            <a:srgbClr val="EF4444"/>
          </a:solidFill>
          <a:ln w="12700">
            <a:solidFill>
              <a:srgbClr val="EF4444"/>
            </a:solidFill>
            <a:prstDash val="solid"/>
          </a:ln>
        </p:spPr>
      </p:sp>
      <p:sp>
        <p:nvSpPr>
          <p:cNvPr id="23" name="Text 21"/>
          <p:cNvSpPr/>
          <p:nvPr/>
        </p:nvSpPr>
        <p:spPr>
          <a:xfrm>
            <a:off x="4754880" y="777240"/>
            <a:ext cx="4069080" cy="365760"/>
          </a:xfrm>
          <a:prstGeom prst="rect">
            <a:avLst/>
          </a:prstGeom>
          <a:noFill/>
          <a:ln/>
        </p:spPr>
        <p:txBody>
          <a:bodyPr wrap="square" lIns="0" tIns="0" rIns="0" bIns="0" rtlCol="0" anchor="ctr"/>
          <a:lstStyle/>
          <a:p>
            <a:pPr marL="0" indent="0" algn="ctr">
              <a:buNone/>
            </a:pPr>
            <a:r>
              <a:rPr lang="en-US" sz="1200" b="1" dirty="0" smtClean="0">
                <a:solidFill>
                  <a:srgbClr val="FFFFFF"/>
                </a:solidFill>
              </a:rPr>
              <a:t>⚠️  </a:t>
            </a:r>
            <a:r>
              <a:rPr lang="en-US" sz="1200" b="1" dirty="0">
                <a:solidFill>
                  <a:srgbClr val="FFFFFF"/>
                </a:solidFill>
              </a:rPr>
              <a:t>Allergy Check Engine</a:t>
            </a:r>
            <a:endParaRPr lang="en-US" sz="1200" dirty="0"/>
          </a:p>
        </p:txBody>
      </p:sp>
      <p:sp>
        <p:nvSpPr>
          <p:cNvPr id="24" name="Shape 22"/>
          <p:cNvSpPr/>
          <p:nvPr/>
        </p:nvSpPr>
        <p:spPr>
          <a:xfrm>
            <a:off x="4892040" y="1298448"/>
            <a:ext cx="3794760" cy="713232"/>
          </a:xfrm>
          <a:prstGeom prst="rect">
            <a:avLst/>
          </a:prstGeom>
          <a:solidFill>
            <a:srgbClr val="F8FAFC"/>
          </a:solidFill>
          <a:ln w="12700">
            <a:solidFill>
              <a:srgbClr val="E2E8F0"/>
            </a:solidFill>
            <a:prstDash val="solid"/>
          </a:ln>
          <a:effectLst>
            <a:outerShdw blurRad="76200" dist="25400" dir="8100000" algn="bl" rotWithShape="0">
              <a:srgbClr val="000000">
                <a:alpha val="10000"/>
              </a:srgbClr>
            </a:outerShdw>
          </a:effectLst>
        </p:spPr>
      </p:sp>
      <p:sp>
        <p:nvSpPr>
          <p:cNvPr id="25" name="Shape 23"/>
          <p:cNvSpPr/>
          <p:nvPr/>
        </p:nvSpPr>
        <p:spPr>
          <a:xfrm>
            <a:off x="4892040" y="1298448"/>
            <a:ext cx="685800" cy="713232"/>
          </a:xfrm>
          <a:prstGeom prst="rect">
            <a:avLst/>
          </a:prstGeom>
          <a:solidFill>
            <a:srgbClr val="0D9488"/>
          </a:solidFill>
          <a:ln w="12700">
            <a:solidFill>
              <a:srgbClr val="0D9488"/>
            </a:solidFill>
            <a:prstDash val="solid"/>
          </a:ln>
        </p:spPr>
      </p:sp>
      <p:sp>
        <p:nvSpPr>
          <p:cNvPr id="26" name="Text 24"/>
          <p:cNvSpPr/>
          <p:nvPr/>
        </p:nvSpPr>
        <p:spPr>
          <a:xfrm>
            <a:off x="4892040" y="1298448"/>
            <a:ext cx="685800" cy="713232"/>
          </a:xfrm>
          <a:prstGeom prst="rect">
            <a:avLst/>
          </a:prstGeom>
          <a:noFill/>
          <a:ln/>
        </p:spPr>
        <p:txBody>
          <a:bodyPr wrap="square" lIns="0" tIns="0" rIns="0" bIns="0" rtlCol="0" anchor="ctr"/>
          <a:lstStyle/>
          <a:p>
            <a:pPr marL="0" indent="0" algn="ctr">
              <a:buNone/>
            </a:pPr>
            <a:r>
              <a:rPr lang="en-US" sz="900" b="1" dirty="0">
                <a:solidFill>
                  <a:srgbClr val="FFFFFF"/>
                </a:solidFill>
              </a:rPr>
              <a:t>Step 1</a:t>
            </a:r>
            <a:endParaRPr lang="en-US" sz="900" dirty="0"/>
          </a:p>
        </p:txBody>
      </p:sp>
      <p:sp>
        <p:nvSpPr>
          <p:cNvPr id="27" name="Text 25"/>
          <p:cNvSpPr/>
          <p:nvPr/>
        </p:nvSpPr>
        <p:spPr>
          <a:xfrm>
            <a:off x="5650992" y="1335024"/>
            <a:ext cx="2926080" cy="274320"/>
          </a:xfrm>
          <a:prstGeom prst="rect">
            <a:avLst/>
          </a:prstGeom>
          <a:noFill/>
          <a:ln/>
        </p:spPr>
        <p:txBody>
          <a:bodyPr wrap="square" lIns="0" tIns="0" rIns="0" bIns="0" rtlCol="0" anchor="ctr"/>
          <a:lstStyle/>
          <a:p>
            <a:pPr marL="0" indent="0">
              <a:buNone/>
            </a:pPr>
            <a:r>
              <a:rPr lang="en-US" sz="1100" b="1" dirty="0">
                <a:solidFill>
                  <a:srgbClr val="0A2463"/>
                </a:solidFill>
              </a:rPr>
              <a:t>Select patient</a:t>
            </a:r>
            <a:endParaRPr lang="en-US" sz="1100" dirty="0"/>
          </a:p>
        </p:txBody>
      </p:sp>
      <p:sp>
        <p:nvSpPr>
          <p:cNvPr id="28" name="Text 26"/>
          <p:cNvSpPr/>
          <p:nvPr/>
        </p:nvSpPr>
        <p:spPr>
          <a:xfrm>
            <a:off x="5650992" y="1609344"/>
            <a:ext cx="2926080" cy="310896"/>
          </a:xfrm>
          <a:prstGeom prst="rect">
            <a:avLst/>
          </a:prstGeom>
          <a:noFill/>
          <a:ln/>
        </p:spPr>
        <p:txBody>
          <a:bodyPr wrap="square" lIns="0" tIns="0" rIns="0" bIns="0" rtlCol="0" anchor="ctr"/>
          <a:lstStyle/>
          <a:p>
            <a:pPr marL="0" indent="0">
              <a:buNone/>
            </a:pPr>
            <a:r>
              <a:rPr lang="en-US" sz="950" dirty="0">
                <a:solidFill>
                  <a:srgbClr val="64748B"/>
                </a:solidFill>
              </a:rPr>
              <a:t>System loads dietary profile with allergy list</a:t>
            </a:r>
            <a:endParaRPr lang="en-US" sz="950" dirty="0"/>
          </a:p>
        </p:txBody>
      </p:sp>
      <p:sp>
        <p:nvSpPr>
          <p:cNvPr id="29" name="Shape 27"/>
          <p:cNvSpPr/>
          <p:nvPr/>
        </p:nvSpPr>
        <p:spPr>
          <a:xfrm>
            <a:off x="4892040" y="2139696"/>
            <a:ext cx="3794760" cy="713232"/>
          </a:xfrm>
          <a:prstGeom prst="rect">
            <a:avLst/>
          </a:prstGeom>
          <a:solidFill>
            <a:srgbClr val="F8FAFC"/>
          </a:solidFill>
          <a:ln w="12700">
            <a:solidFill>
              <a:srgbClr val="E2E8F0"/>
            </a:solidFill>
            <a:prstDash val="solid"/>
          </a:ln>
          <a:effectLst>
            <a:outerShdw blurRad="76200" dist="25400" dir="8100000" algn="bl" rotWithShape="0">
              <a:srgbClr val="000000">
                <a:alpha val="10000"/>
              </a:srgbClr>
            </a:outerShdw>
          </a:effectLst>
        </p:spPr>
      </p:sp>
      <p:sp>
        <p:nvSpPr>
          <p:cNvPr id="30" name="Shape 28"/>
          <p:cNvSpPr/>
          <p:nvPr/>
        </p:nvSpPr>
        <p:spPr>
          <a:xfrm>
            <a:off x="4892040" y="2139696"/>
            <a:ext cx="685800" cy="713232"/>
          </a:xfrm>
          <a:prstGeom prst="rect">
            <a:avLst/>
          </a:prstGeom>
          <a:solidFill>
            <a:srgbClr val="0D9488"/>
          </a:solidFill>
          <a:ln w="12700">
            <a:solidFill>
              <a:srgbClr val="0D9488"/>
            </a:solidFill>
            <a:prstDash val="solid"/>
          </a:ln>
        </p:spPr>
      </p:sp>
      <p:sp>
        <p:nvSpPr>
          <p:cNvPr id="31" name="Text 29"/>
          <p:cNvSpPr/>
          <p:nvPr/>
        </p:nvSpPr>
        <p:spPr>
          <a:xfrm>
            <a:off x="4892040" y="2139696"/>
            <a:ext cx="685800" cy="713232"/>
          </a:xfrm>
          <a:prstGeom prst="rect">
            <a:avLst/>
          </a:prstGeom>
          <a:noFill/>
          <a:ln/>
        </p:spPr>
        <p:txBody>
          <a:bodyPr wrap="square" lIns="0" tIns="0" rIns="0" bIns="0" rtlCol="0" anchor="ctr"/>
          <a:lstStyle/>
          <a:p>
            <a:pPr marL="0" indent="0" algn="ctr">
              <a:buNone/>
            </a:pPr>
            <a:r>
              <a:rPr lang="en-US" sz="900" b="1" dirty="0">
                <a:solidFill>
                  <a:srgbClr val="FFFFFF"/>
                </a:solidFill>
              </a:rPr>
              <a:t>Step 2</a:t>
            </a:r>
            <a:endParaRPr lang="en-US" sz="900" dirty="0"/>
          </a:p>
        </p:txBody>
      </p:sp>
      <p:sp>
        <p:nvSpPr>
          <p:cNvPr id="32" name="Text 30"/>
          <p:cNvSpPr/>
          <p:nvPr/>
        </p:nvSpPr>
        <p:spPr>
          <a:xfrm>
            <a:off x="5650992" y="2176272"/>
            <a:ext cx="2926080" cy="274320"/>
          </a:xfrm>
          <a:prstGeom prst="rect">
            <a:avLst/>
          </a:prstGeom>
          <a:noFill/>
          <a:ln/>
        </p:spPr>
        <p:txBody>
          <a:bodyPr wrap="square" lIns="0" tIns="0" rIns="0" bIns="0" rtlCol="0" anchor="ctr"/>
          <a:lstStyle/>
          <a:p>
            <a:pPr marL="0" indent="0">
              <a:buNone/>
            </a:pPr>
            <a:r>
              <a:rPr lang="en-US" sz="1100" b="1" dirty="0">
                <a:solidFill>
                  <a:srgbClr val="0A2463"/>
                </a:solidFill>
              </a:rPr>
              <a:t>Select meal</a:t>
            </a:r>
            <a:endParaRPr lang="en-US" sz="1100" dirty="0"/>
          </a:p>
        </p:txBody>
      </p:sp>
      <p:sp>
        <p:nvSpPr>
          <p:cNvPr id="33" name="Text 31"/>
          <p:cNvSpPr/>
          <p:nvPr/>
        </p:nvSpPr>
        <p:spPr>
          <a:xfrm>
            <a:off x="5650992" y="2450592"/>
            <a:ext cx="2926080" cy="310896"/>
          </a:xfrm>
          <a:prstGeom prst="rect">
            <a:avLst/>
          </a:prstGeom>
          <a:noFill/>
          <a:ln/>
        </p:spPr>
        <p:txBody>
          <a:bodyPr wrap="square" lIns="0" tIns="0" rIns="0" bIns="0" rtlCol="0" anchor="ctr"/>
          <a:lstStyle/>
          <a:p>
            <a:pPr marL="0" indent="0">
              <a:buNone/>
            </a:pPr>
            <a:r>
              <a:rPr lang="en-US" sz="950" dirty="0">
                <a:solidFill>
                  <a:srgbClr val="64748B"/>
                </a:solidFill>
              </a:rPr>
              <a:t>System loads meal's allergen array</a:t>
            </a:r>
            <a:endParaRPr lang="en-US" sz="950" dirty="0"/>
          </a:p>
        </p:txBody>
      </p:sp>
      <p:sp>
        <p:nvSpPr>
          <p:cNvPr id="34" name="Shape 32"/>
          <p:cNvSpPr/>
          <p:nvPr/>
        </p:nvSpPr>
        <p:spPr>
          <a:xfrm>
            <a:off x="4892040" y="2980944"/>
            <a:ext cx="3794760" cy="713232"/>
          </a:xfrm>
          <a:prstGeom prst="rect">
            <a:avLst/>
          </a:prstGeom>
          <a:solidFill>
            <a:srgbClr val="F8FAFC"/>
          </a:solidFill>
          <a:ln w="12700">
            <a:solidFill>
              <a:srgbClr val="E2E8F0"/>
            </a:solidFill>
            <a:prstDash val="solid"/>
          </a:ln>
          <a:effectLst>
            <a:outerShdw blurRad="76200" dist="25400" dir="8100000" algn="bl" rotWithShape="0">
              <a:srgbClr val="000000">
                <a:alpha val="10000"/>
              </a:srgbClr>
            </a:outerShdw>
          </a:effectLst>
        </p:spPr>
      </p:sp>
      <p:sp>
        <p:nvSpPr>
          <p:cNvPr id="35" name="Shape 33"/>
          <p:cNvSpPr/>
          <p:nvPr/>
        </p:nvSpPr>
        <p:spPr>
          <a:xfrm>
            <a:off x="4892040" y="2980944"/>
            <a:ext cx="685800" cy="713232"/>
          </a:xfrm>
          <a:prstGeom prst="rect">
            <a:avLst/>
          </a:prstGeom>
          <a:solidFill>
            <a:srgbClr val="0D9488"/>
          </a:solidFill>
          <a:ln w="12700">
            <a:solidFill>
              <a:srgbClr val="0D9488"/>
            </a:solidFill>
            <a:prstDash val="solid"/>
          </a:ln>
        </p:spPr>
      </p:sp>
      <p:sp>
        <p:nvSpPr>
          <p:cNvPr id="36" name="Text 34"/>
          <p:cNvSpPr/>
          <p:nvPr/>
        </p:nvSpPr>
        <p:spPr>
          <a:xfrm>
            <a:off x="4892040" y="2980944"/>
            <a:ext cx="685800" cy="713232"/>
          </a:xfrm>
          <a:prstGeom prst="rect">
            <a:avLst/>
          </a:prstGeom>
          <a:noFill/>
          <a:ln/>
        </p:spPr>
        <p:txBody>
          <a:bodyPr wrap="square" lIns="0" tIns="0" rIns="0" bIns="0" rtlCol="0" anchor="ctr"/>
          <a:lstStyle/>
          <a:p>
            <a:pPr marL="0" indent="0" algn="ctr">
              <a:buNone/>
            </a:pPr>
            <a:r>
              <a:rPr lang="en-US" sz="900" b="1" dirty="0">
                <a:solidFill>
                  <a:srgbClr val="FFFFFF"/>
                </a:solidFill>
              </a:rPr>
              <a:t>Step 3</a:t>
            </a:r>
            <a:endParaRPr lang="en-US" sz="900" dirty="0"/>
          </a:p>
        </p:txBody>
      </p:sp>
      <p:sp>
        <p:nvSpPr>
          <p:cNvPr id="37" name="Text 35"/>
          <p:cNvSpPr/>
          <p:nvPr/>
        </p:nvSpPr>
        <p:spPr>
          <a:xfrm>
            <a:off x="5650992" y="3017520"/>
            <a:ext cx="2926080" cy="274320"/>
          </a:xfrm>
          <a:prstGeom prst="rect">
            <a:avLst/>
          </a:prstGeom>
          <a:noFill/>
          <a:ln/>
        </p:spPr>
        <p:txBody>
          <a:bodyPr wrap="square" lIns="0" tIns="0" rIns="0" bIns="0" rtlCol="0" anchor="ctr"/>
          <a:lstStyle/>
          <a:p>
            <a:pPr marL="0" indent="0">
              <a:buNone/>
            </a:pPr>
            <a:r>
              <a:rPr lang="en-US" sz="1100" b="1" dirty="0">
                <a:solidFill>
                  <a:srgbClr val="0A2463"/>
                </a:solidFill>
              </a:rPr>
              <a:t>Cross-match</a:t>
            </a:r>
            <a:endParaRPr lang="en-US" sz="1100" dirty="0"/>
          </a:p>
        </p:txBody>
      </p:sp>
      <p:sp>
        <p:nvSpPr>
          <p:cNvPr id="38" name="Text 36"/>
          <p:cNvSpPr/>
          <p:nvPr/>
        </p:nvSpPr>
        <p:spPr>
          <a:xfrm>
            <a:off x="5650992" y="3291840"/>
            <a:ext cx="2926080" cy="310896"/>
          </a:xfrm>
          <a:prstGeom prst="rect">
            <a:avLst/>
          </a:prstGeom>
          <a:noFill/>
          <a:ln/>
        </p:spPr>
        <p:txBody>
          <a:bodyPr wrap="square" lIns="0" tIns="0" rIns="0" bIns="0" rtlCol="0" anchor="ctr"/>
          <a:lstStyle/>
          <a:p>
            <a:pPr marL="0" indent="0">
              <a:buNone/>
            </a:pPr>
            <a:r>
              <a:rPr lang="en-US" sz="950" dirty="0">
                <a:solidFill>
                  <a:srgbClr val="64748B"/>
                </a:solidFill>
              </a:rPr>
              <a:t>Compares patient.allergies vs meal.allergens</a:t>
            </a:r>
            <a:endParaRPr lang="en-US" sz="950" dirty="0"/>
          </a:p>
        </p:txBody>
      </p:sp>
      <p:sp>
        <p:nvSpPr>
          <p:cNvPr id="39" name="Shape 37"/>
          <p:cNvSpPr/>
          <p:nvPr/>
        </p:nvSpPr>
        <p:spPr>
          <a:xfrm>
            <a:off x="4892040" y="3822192"/>
            <a:ext cx="3794760" cy="713232"/>
          </a:xfrm>
          <a:prstGeom prst="rect">
            <a:avLst/>
          </a:prstGeom>
          <a:solidFill>
            <a:srgbClr val="FEF2F2"/>
          </a:solidFill>
          <a:ln w="12700">
            <a:solidFill>
              <a:srgbClr val="E2E8F0"/>
            </a:solidFill>
            <a:prstDash val="solid"/>
          </a:ln>
          <a:effectLst>
            <a:outerShdw blurRad="76200" dist="25400" dir="8100000" algn="bl" rotWithShape="0">
              <a:srgbClr val="000000">
                <a:alpha val="10000"/>
              </a:srgbClr>
            </a:outerShdw>
          </a:effectLst>
        </p:spPr>
      </p:sp>
      <p:sp>
        <p:nvSpPr>
          <p:cNvPr id="40" name="Shape 38"/>
          <p:cNvSpPr/>
          <p:nvPr/>
        </p:nvSpPr>
        <p:spPr>
          <a:xfrm>
            <a:off x="4892040" y="3822192"/>
            <a:ext cx="685800" cy="713232"/>
          </a:xfrm>
          <a:prstGeom prst="rect">
            <a:avLst/>
          </a:prstGeom>
          <a:solidFill>
            <a:srgbClr val="EF4444"/>
          </a:solidFill>
          <a:ln w="12700">
            <a:solidFill>
              <a:srgbClr val="EF4444"/>
            </a:solidFill>
            <a:prstDash val="solid"/>
          </a:ln>
        </p:spPr>
      </p:sp>
      <p:sp>
        <p:nvSpPr>
          <p:cNvPr id="41" name="Text 39"/>
          <p:cNvSpPr/>
          <p:nvPr/>
        </p:nvSpPr>
        <p:spPr>
          <a:xfrm>
            <a:off x="4892040" y="3822192"/>
            <a:ext cx="685800" cy="713232"/>
          </a:xfrm>
          <a:prstGeom prst="rect">
            <a:avLst/>
          </a:prstGeom>
          <a:noFill/>
          <a:ln/>
        </p:spPr>
        <p:txBody>
          <a:bodyPr wrap="square" lIns="0" tIns="0" rIns="0" bIns="0" rtlCol="0" anchor="ctr"/>
          <a:lstStyle/>
          <a:p>
            <a:pPr marL="0" indent="0" algn="ctr">
              <a:buNone/>
            </a:pPr>
            <a:r>
              <a:rPr lang="en-US" sz="900" b="1" dirty="0">
                <a:solidFill>
                  <a:srgbClr val="FFFFFF"/>
                </a:solidFill>
              </a:rPr>
              <a:t>Step 4</a:t>
            </a:r>
            <a:endParaRPr lang="en-US" sz="900" dirty="0"/>
          </a:p>
        </p:txBody>
      </p:sp>
      <p:sp>
        <p:nvSpPr>
          <p:cNvPr id="42" name="Text 40"/>
          <p:cNvSpPr/>
          <p:nvPr/>
        </p:nvSpPr>
        <p:spPr>
          <a:xfrm>
            <a:off x="5650992" y="3858768"/>
            <a:ext cx="2926080" cy="274320"/>
          </a:xfrm>
          <a:prstGeom prst="rect">
            <a:avLst/>
          </a:prstGeom>
          <a:noFill/>
          <a:ln/>
        </p:spPr>
        <p:txBody>
          <a:bodyPr wrap="square" lIns="0" tIns="0" rIns="0" bIns="0" rtlCol="0" anchor="ctr"/>
          <a:lstStyle/>
          <a:p>
            <a:pPr marL="0" indent="0">
              <a:buNone/>
            </a:pPr>
            <a:r>
              <a:rPr lang="en-US" sz="1100" b="1" dirty="0">
                <a:solidFill>
                  <a:srgbClr val="0A2463"/>
                </a:solidFill>
              </a:rPr>
              <a:t>Result</a:t>
            </a:r>
            <a:endParaRPr lang="en-US" sz="1100" dirty="0"/>
          </a:p>
        </p:txBody>
      </p:sp>
      <p:sp>
        <p:nvSpPr>
          <p:cNvPr id="43" name="Text 41"/>
          <p:cNvSpPr/>
          <p:nvPr/>
        </p:nvSpPr>
        <p:spPr>
          <a:xfrm>
            <a:off x="5650992" y="4133088"/>
            <a:ext cx="2926080" cy="310896"/>
          </a:xfrm>
          <a:prstGeom prst="rect">
            <a:avLst/>
          </a:prstGeom>
          <a:noFill/>
          <a:ln/>
        </p:spPr>
        <p:txBody>
          <a:bodyPr wrap="square" lIns="0" tIns="0" rIns="0" bIns="0" rtlCol="0" anchor="ctr"/>
          <a:lstStyle/>
          <a:p>
            <a:pPr marL="0" indent="0">
              <a:buNone/>
            </a:pPr>
            <a:r>
              <a:rPr lang="en-US" sz="950" dirty="0">
                <a:solidFill>
                  <a:srgbClr val="64748B"/>
                </a:solidFill>
              </a:rPr>
              <a:t>🚨 ALERT if conflict  /  ✅ SAFE if no match</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w="12700">
            <a:solidFill>
              <a:srgbClr val="0D9488"/>
            </a:solidFill>
            <a:prstDash val="solid"/>
          </a:ln>
        </p:spPr>
      </p:sp>
      <p:sp>
        <p:nvSpPr>
          <p:cNvPr id="3" name="Text 1"/>
          <p:cNvSpPr/>
          <p:nvPr/>
        </p:nvSpPr>
        <p:spPr>
          <a:xfrm>
            <a:off x="320040" y="256032"/>
            <a:ext cx="8503920" cy="411480"/>
          </a:xfrm>
          <a:prstGeom prst="rect">
            <a:avLst/>
          </a:prstGeom>
          <a:noFill/>
          <a:ln/>
        </p:spPr>
        <p:txBody>
          <a:bodyPr wrap="square" lIns="0" tIns="0" rIns="0" bIns="0" rtlCol="0" anchor="ctr"/>
          <a:lstStyle/>
          <a:p>
            <a:pPr marL="0" indent="0">
              <a:buNone/>
            </a:pPr>
            <a:r>
              <a:rPr lang="en-US" sz="2400" b="1" dirty="0">
                <a:solidFill>
                  <a:srgbClr val="0A2463"/>
                </a:solidFill>
                <a:latin typeface="Times New Roman" pitchFamily="18" charset="0"/>
                <a:cs typeface="Times New Roman" pitchFamily="18" charset="0"/>
              </a:rPr>
              <a:t>Meal Planner &amp; Calorie Calculator</a:t>
            </a:r>
            <a:endParaRPr lang="en-US" sz="2400" dirty="0">
              <a:latin typeface="Times New Roman" pitchFamily="18" charset="0"/>
              <a:cs typeface="Times New Roman" pitchFamily="18" charset="0"/>
            </a:endParaRPr>
          </a:p>
        </p:txBody>
      </p:sp>
      <p:sp>
        <p:nvSpPr>
          <p:cNvPr id="4" name="Shape 2"/>
          <p:cNvSpPr/>
          <p:nvPr/>
        </p:nvSpPr>
        <p:spPr>
          <a:xfrm>
            <a:off x="320040" y="777240"/>
            <a:ext cx="4206240" cy="40690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5" name="Shape 3"/>
          <p:cNvSpPr/>
          <p:nvPr/>
        </p:nvSpPr>
        <p:spPr>
          <a:xfrm>
            <a:off x="320040" y="777240"/>
            <a:ext cx="4206240" cy="365760"/>
          </a:xfrm>
          <a:prstGeom prst="rect">
            <a:avLst/>
          </a:prstGeom>
          <a:solidFill>
            <a:srgbClr val="0A2463"/>
          </a:solidFill>
          <a:ln w="12700">
            <a:solidFill>
              <a:srgbClr val="0A2463"/>
            </a:solidFill>
            <a:prstDash val="solid"/>
          </a:ln>
        </p:spPr>
      </p:sp>
      <p:sp>
        <p:nvSpPr>
          <p:cNvPr id="6" name="Text 4"/>
          <p:cNvSpPr/>
          <p:nvPr/>
        </p:nvSpPr>
        <p:spPr>
          <a:xfrm>
            <a:off x="320040" y="777240"/>
            <a:ext cx="4206240" cy="365760"/>
          </a:xfrm>
          <a:prstGeom prst="rect">
            <a:avLst/>
          </a:prstGeom>
          <a:noFill/>
          <a:ln/>
        </p:spPr>
        <p:txBody>
          <a:bodyPr wrap="square" lIns="0" tIns="0" rIns="0" bIns="0" rtlCol="0" anchor="ctr"/>
          <a:lstStyle/>
          <a:p>
            <a:pPr marL="0" indent="0" algn="ctr">
              <a:buNone/>
            </a:pPr>
            <a:r>
              <a:rPr lang="en-US" sz="1200" b="1" dirty="0">
                <a:solidFill>
                  <a:srgbClr val="FFFFFF"/>
                </a:solidFill>
              </a:rPr>
              <a:t>📅  </a:t>
            </a:r>
            <a:r>
              <a:rPr lang="en-US" sz="1200" b="1" dirty="0" smtClean="0">
                <a:solidFill>
                  <a:srgbClr val="FFFFFF"/>
                </a:solidFill>
              </a:rPr>
              <a:t>  Daily </a:t>
            </a:r>
            <a:r>
              <a:rPr lang="en-US" sz="1200" b="1" dirty="0">
                <a:solidFill>
                  <a:srgbClr val="FFFFFF"/>
                </a:solidFill>
              </a:rPr>
              <a:t>Meal Planner</a:t>
            </a:r>
            <a:endParaRPr lang="en-US" sz="1200" dirty="0"/>
          </a:p>
        </p:txBody>
      </p:sp>
      <p:sp>
        <p:nvSpPr>
          <p:cNvPr id="7" name="Shape 5"/>
          <p:cNvSpPr/>
          <p:nvPr/>
        </p:nvSpPr>
        <p:spPr>
          <a:xfrm>
            <a:off x="457200" y="1261872"/>
            <a:ext cx="3474720" cy="457200"/>
          </a:xfrm>
          <a:prstGeom prst="rect">
            <a:avLst/>
          </a:prstGeom>
          <a:solidFill>
            <a:srgbClr val="F0F9FF"/>
          </a:solidFill>
          <a:ln w="12700">
            <a:solidFill>
              <a:srgbClr val="E2E8F0"/>
            </a:solidFill>
            <a:prstDash val="solid"/>
          </a:ln>
        </p:spPr>
      </p:sp>
      <p:sp>
        <p:nvSpPr>
          <p:cNvPr id="8" name="Text 6"/>
          <p:cNvSpPr/>
          <p:nvPr/>
        </p:nvSpPr>
        <p:spPr>
          <a:xfrm>
            <a:off x="457200" y="1261872"/>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987552" y="1289304"/>
            <a:ext cx="1828800" cy="219456"/>
          </a:xfrm>
          <a:prstGeom prst="rect">
            <a:avLst/>
          </a:prstGeom>
          <a:noFill/>
          <a:ln/>
        </p:spPr>
        <p:txBody>
          <a:bodyPr wrap="square" lIns="0" tIns="0" rIns="0" bIns="0" rtlCol="0" anchor="ctr"/>
          <a:lstStyle/>
          <a:p>
            <a:pPr marL="0" indent="0">
              <a:buNone/>
            </a:pPr>
            <a:r>
              <a:rPr lang="en-US" sz="1100" b="1" dirty="0">
                <a:solidFill>
                  <a:srgbClr val="0A2463"/>
                </a:solidFill>
              </a:rPr>
              <a:t>Breakfast</a:t>
            </a:r>
            <a:endParaRPr lang="en-US" sz="1100" dirty="0"/>
          </a:p>
        </p:txBody>
      </p:sp>
      <p:sp>
        <p:nvSpPr>
          <p:cNvPr id="10" name="Text 8"/>
          <p:cNvSpPr/>
          <p:nvPr/>
        </p:nvSpPr>
        <p:spPr>
          <a:xfrm>
            <a:off x="987552" y="1508760"/>
            <a:ext cx="1828800" cy="182880"/>
          </a:xfrm>
          <a:prstGeom prst="rect">
            <a:avLst/>
          </a:prstGeom>
          <a:noFill/>
          <a:ln/>
        </p:spPr>
        <p:txBody>
          <a:bodyPr wrap="square" lIns="0" tIns="0" rIns="0" bIns="0" rtlCol="0" anchor="ctr"/>
          <a:lstStyle/>
          <a:p>
            <a:pPr marL="0" indent="0">
              <a:buNone/>
            </a:pPr>
            <a:r>
              <a:rPr lang="en-US" sz="900" dirty="0">
                <a:solidFill>
                  <a:srgbClr val="64748B"/>
                </a:solidFill>
              </a:rPr>
              <a:t>7:00 – 8:30 AM</a:t>
            </a:r>
            <a:endParaRPr lang="en-US" sz="900" dirty="0"/>
          </a:p>
        </p:txBody>
      </p:sp>
      <p:sp>
        <p:nvSpPr>
          <p:cNvPr id="11" name="Text 9"/>
          <p:cNvSpPr/>
          <p:nvPr/>
        </p:nvSpPr>
        <p:spPr>
          <a:xfrm>
            <a:off x="2743200" y="1316736"/>
            <a:ext cx="1143000" cy="365760"/>
          </a:xfrm>
          <a:prstGeom prst="rect">
            <a:avLst/>
          </a:prstGeom>
          <a:noFill/>
          <a:ln/>
        </p:spPr>
        <p:txBody>
          <a:bodyPr wrap="square" lIns="0" tIns="0" rIns="0" bIns="0" rtlCol="0" anchor="ctr"/>
          <a:lstStyle/>
          <a:p>
            <a:pPr marL="0" indent="0" algn="r">
              <a:buNone/>
            </a:pPr>
            <a:r>
              <a:rPr lang="en-US" sz="800" dirty="0">
                <a:solidFill>
                  <a:srgbClr val="0D9488"/>
                </a:solidFill>
              </a:rPr>
              <a:t>Selectable from meal library ✓</a:t>
            </a:r>
            <a:endParaRPr lang="en-US" sz="800" dirty="0"/>
          </a:p>
        </p:txBody>
      </p:sp>
      <p:sp>
        <p:nvSpPr>
          <p:cNvPr id="12" name="Shape 10"/>
          <p:cNvSpPr/>
          <p:nvPr/>
        </p:nvSpPr>
        <p:spPr>
          <a:xfrm>
            <a:off x="457200" y="1828800"/>
            <a:ext cx="3474720" cy="457200"/>
          </a:xfrm>
          <a:prstGeom prst="rect">
            <a:avLst/>
          </a:prstGeom>
          <a:solidFill>
            <a:srgbClr val="FFFFFF"/>
          </a:solidFill>
          <a:ln w="12700">
            <a:solidFill>
              <a:srgbClr val="E2E8F0"/>
            </a:solidFill>
            <a:prstDash val="solid"/>
          </a:ln>
        </p:spPr>
      </p:sp>
      <p:sp>
        <p:nvSpPr>
          <p:cNvPr id="13" name="Text 11"/>
          <p:cNvSpPr/>
          <p:nvPr/>
        </p:nvSpPr>
        <p:spPr>
          <a:xfrm>
            <a:off x="457200" y="182880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987552" y="1856232"/>
            <a:ext cx="1828800" cy="219456"/>
          </a:xfrm>
          <a:prstGeom prst="rect">
            <a:avLst/>
          </a:prstGeom>
          <a:noFill/>
          <a:ln/>
        </p:spPr>
        <p:txBody>
          <a:bodyPr wrap="square" lIns="0" tIns="0" rIns="0" bIns="0" rtlCol="0" anchor="ctr"/>
          <a:lstStyle/>
          <a:p>
            <a:pPr marL="0" indent="0">
              <a:buNone/>
            </a:pPr>
            <a:r>
              <a:rPr lang="en-US" sz="1100" b="1" dirty="0">
                <a:solidFill>
                  <a:srgbClr val="0A2463"/>
                </a:solidFill>
              </a:rPr>
              <a:t>Morning Snack</a:t>
            </a:r>
            <a:endParaRPr lang="en-US" sz="1100" dirty="0"/>
          </a:p>
        </p:txBody>
      </p:sp>
      <p:sp>
        <p:nvSpPr>
          <p:cNvPr id="15" name="Text 13"/>
          <p:cNvSpPr/>
          <p:nvPr/>
        </p:nvSpPr>
        <p:spPr>
          <a:xfrm>
            <a:off x="987552" y="2075688"/>
            <a:ext cx="1828800" cy="182880"/>
          </a:xfrm>
          <a:prstGeom prst="rect">
            <a:avLst/>
          </a:prstGeom>
          <a:noFill/>
          <a:ln/>
        </p:spPr>
        <p:txBody>
          <a:bodyPr wrap="square" lIns="0" tIns="0" rIns="0" bIns="0" rtlCol="0" anchor="ctr"/>
          <a:lstStyle/>
          <a:p>
            <a:pPr marL="0" indent="0">
              <a:buNone/>
            </a:pPr>
            <a:r>
              <a:rPr lang="en-US" sz="900" dirty="0">
                <a:solidFill>
                  <a:srgbClr val="64748B"/>
                </a:solidFill>
              </a:rPr>
              <a:t>10:30 – 11:00 AM</a:t>
            </a:r>
            <a:endParaRPr lang="en-US" sz="900" dirty="0"/>
          </a:p>
        </p:txBody>
      </p:sp>
      <p:sp>
        <p:nvSpPr>
          <p:cNvPr id="16" name="Text 14"/>
          <p:cNvSpPr/>
          <p:nvPr/>
        </p:nvSpPr>
        <p:spPr>
          <a:xfrm>
            <a:off x="2743200" y="1883664"/>
            <a:ext cx="1143000" cy="365760"/>
          </a:xfrm>
          <a:prstGeom prst="rect">
            <a:avLst/>
          </a:prstGeom>
          <a:noFill/>
          <a:ln/>
        </p:spPr>
        <p:txBody>
          <a:bodyPr wrap="square" lIns="0" tIns="0" rIns="0" bIns="0" rtlCol="0" anchor="ctr"/>
          <a:lstStyle/>
          <a:p>
            <a:pPr marL="0" indent="0" algn="r">
              <a:buNone/>
            </a:pPr>
            <a:r>
              <a:rPr lang="en-US" sz="800" dirty="0">
                <a:solidFill>
                  <a:srgbClr val="0D9488"/>
                </a:solidFill>
              </a:rPr>
              <a:t>Selectable from meal library ✓</a:t>
            </a:r>
            <a:endParaRPr lang="en-US" sz="800" dirty="0"/>
          </a:p>
        </p:txBody>
      </p:sp>
      <p:sp>
        <p:nvSpPr>
          <p:cNvPr id="17" name="Shape 15"/>
          <p:cNvSpPr/>
          <p:nvPr/>
        </p:nvSpPr>
        <p:spPr>
          <a:xfrm>
            <a:off x="457200" y="2395728"/>
            <a:ext cx="3474720" cy="457200"/>
          </a:xfrm>
          <a:prstGeom prst="rect">
            <a:avLst/>
          </a:prstGeom>
          <a:solidFill>
            <a:srgbClr val="F0F9FF"/>
          </a:solidFill>
          <a:ln w="12700">
            <a:solidFill>
              <a:srgbClr val="E2E8F0"/>
            </a:solidFill>
            <a:prstDash val="solid"/>
          </a:ln>
        </p:spPr>
      </p:sp>
      <p:sp>
        <p:nvSpPr>
          <p:cNvPr id="18" name="Text 16"/>
          <p:cNvSpPr/>
          <p:nvPr/>
        </p:nvSpPr>
        <p:spPr>
          <a:xfrm>
            <a:off x="457200" y="2395728"/>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9" name="Text 17"/>
          <p:cNvSpPr/>
          <p:nvPr/>
        </p:nvSpPr>
        <p:spPr>
          <a:xfrm>
            <a:off x="987552" y="2423160"/>
            <a:ext cx="1828800" cy="219456"/>
          </a:xfrm>
          <a:prstGeom prst="rect">
            <a:avLst/>
          </a:prstGeom>
          <a:noFill/>
          <a:ln/>
        </p:spPr>
        <p:txBody>
          <a:bodyPr wrap="square" lIns="0" tIns="0" rIns="0" bIns="0" rtlCol="0" anchor="ctr"/>
          <a:lstStyle/>
          <a:p>
            <a:pPr marL="0" indent="0">
              <a:buNone/>
            </a:pPr>
            <a:r>
              <a:rPr lang="en-US" sz="1100" b="1" dirty="0">
                <a:solidFill>
                  <a:srgbClr val="0A2463"/>
                </a:solidFill>
              </a:rPr>
              <a:t>Lunch</a:t>
            </a:r>
            <a:endParaRPr lang="en-US" sz="1100" dirty="0"/>
          </a:p>
        </p:txBody>
      </p:sp>
      <p:sp>
        <p:nvSpPr>
          <p:cNvPr id="20" name="Text 18"/>
          <p:cNvSpPr/>
          <p:nvPr/>
        </p:nvSpPr>
        <p:spPr>
          <a:xfrm>
            <a:off x="987552" y="2642616"/>
            <a:ext cx="1828800" cy="182880"/>
          </a:xfrm>
          <a:prstGeom prst="rect">
            <a:avLst/>
          </a:prstGeom>
          <a:noFill/>
          <a:ln/>
        </p:spPr>
        <p:txBody>
          <a:bodyPr wrap="square" lIns="0" tIns="0" rIns="0" bIns="0" rtlCol="0" anchor="ctr"/>
          <a:lstStyle/>
          <a:p>
            <a:pPr marL="0" indent="0">
              <a:buNone/>
            </a:pPr>
            <a:r>
              <a:rPr lang="en-US" sz="900" dirty="0">
                <a:solidFill>
                  <a:srgbClr val="64748B"/>
                </a:solidFill>
              </a:rPr>
              <a:t>12:30 – 1:30 PM</a:t>
            </a:r>
            <a:endParaRPr lang="en-US" sz="900" dirty="0"/>
          </a:p>
        </p:txBody>
      </p:sp>
      <p:sp>
        <p:nvSpPr>
          <p:cNvPr id="21" name="Text 19"/>
          <p:cNvSpPr/>
          <p:nvPr/>
        </p:nvSpPr>
        <p:spPr>
          <a:xfrm>
            <a:off x="2743200" y="2450592"/>
            <a:ext cx="1143000" cy="365760"/>
          </a:xfrm>
          <a:prstGeom prst="rect">
            <a:avLst/>
          </a:prstGeom>
          <a:noFill/>
          <a:ln/>
        </p:spPr>
        <p:txBody>
          <a:bodyPr wrap="square" lIns="0" tIns="0" rIns="0" bIns="0" rtlCol="0" anchor="ctr"/>
          <a:lstStyle/>
          <a:p>
            <a:pPr marL="0" indent="0" algn="r">
              <a:buNone/>
            </a:pPr>
            <a:r>
              <a:rPr lang="en-US" sz="800" dirty="0">
                <a:solidFill>
                  <a:srgbClr val="0D9488"/>
                </a:solidFill>
              </a:rPr>
              <a:t>Selectable from meal library ✓</a:t>
            </a:r>
            <a:endParaRPr lang="en-US" sz="800" dirty="0"/>
          </a:p>
        </p:txBody>
      </p:sp>
      <p:sp>
        <p:nvSpPr>
          <p:cNvPr id="22" name="Shape 20"/>
          <p:cNvSpPr/>
          <p:nvPr/>
        </p:nvSpPr>
        <p:spPr>
          <a:xfrm>
            <a:off x="457200" y="2962656"/>
            <a:ext cx="3474720" cy="457200"/>
          </a:xfrm>
          <a:prstGeom prst="rect">
            <a:avLst/>
          </a:prstGeom>
          <a:solidFill>
            <a:srgbClr val="FFFFFF"/>
          </a:solidFill>
          <a:ln w="12700">
            <a:solidFill>
              <a:srgbClr val="E2E8F0"/>
            </a:solidFill>
            <a:prstDash val="solid"/>
          </a:ln>
        </p:spPr>
      </p:sp>
      <p:sp>
        <p:nvSpPr>
          <p:cNvPr id="23" name="Text 21"/>
          <p:cNvSpPr/>
          <p:nvPr/>
        </p:nvSpPr>
        <p:spPr>
          <a:xfrm>
            <a:off x="457200" y="2962656"/>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4" name="Text 22"/>
          <p:cNvSpPr/>
          <p:nvPr/>
        </p:nvSpPr>
        <p:spPr>
          <a:xfrm>
            <a:off x="987552" y="2990088"/>
            <a:ext cx="1828800" cy="219456"/>
          </a:xfrm>
          <a:prstGeom prst="rect">
            <a:avLst/>
          </a:prstGeom>
          <a:noFill/>
          <a:ln/>
        </p:spPr>
        <p:txBody>
          <a:bodyPr wrap="square" lIns="0" tIns="0" rIns="0" bIns="0" rtlCol="0" anchor="ctr"/>
          <a:lstStyle/>
          <a:p>
            <a:pPr marL="0" indent="0">
              <a:buNone/>
            </a:pPr>
            <a:r>
              <a:rPr lang="en-US" sz="1100" b="1" dirty="0">
                <a:solidFill>
                  <a:srgbClr val="0A2463"/>
                </a:solidFill>
              </a:rPr>
              <a:t>Evening Snack</a:t>
            </a:r>
            <a:endParaRPr lang="en-US" sz="1100" dirty="0"/>
          </a:p>
        </p:txBody>
      </p:sp>
      <p:sp>
        <p:nvSpPr>
          <p:cNvPr id="25" name="Text 23"/>
          <p:cNvSpPr/>
          <p:nvPr/>
        </p:nvSpPr>
        <p:spPr>
          <a:xfrm>
            <a:off x="987552" y="3209544"/>
            <a:ext cx="1828800" cy="182880"/>
          </a:xfrm>
          <a:prstGeom prst="rect">
            <a:avLst/>
          </a:prstGeom>
          <a:noFill/>
          <a:ln/>
        </p:spPr>
        <p:txBody>
          <a:bodyPr wrap="square" lIns="0" tIns="0" rIns="0" bIns="0" rtlCol="0" anchor="ctr"/>
          <a:lstStyle/>
          <a:p>
            <a:pPr marL="0" indent="0">
              <a:buNone/>
            </a:pPr>
            <a:r>
              <a:rPr lang="en-US" sz="900" dirty="0">
                <a:solidFill>
                  <a:srgbClr val="64748B"/>
                </a:solidFill>
              </a:rPr>
              <a:t>4:00 – 4:30 PM</a:t>
            </a:r>
            <a:endParaRPr lang="en-US" sz="900" dirty="0"/>
          </a:p>
        </p:txBody>
      </p:sp>
      <p:sp>
        <p:nvSpPr>
          <p:cNvPr id="26" name="Text 24"/>
          <p:cNvSpPr/>
          <p:nvPr/>
        </p:nvSpPr>
        <p:spPr>
          <a:xfrm>
            <a:off x="2743200" y="3017520"/>
            <a:ext cx="1143000" cy="365760"/>
          </a:xfrm>
          <a:prstGeom prst="rect">
            <a:avLst/>
          </a:prstGeom>
          <a:noFill/>
          <a:ln/>
        </p:spPr>
        <p:txBody>
          <a:bodyPr wrap="square" lIns="0" tIns="0" rIns="0" bIns="0" rtlCol="0" anchor="ctr"/>
          <a:lstStyle/>
          <a:p>
            <a:pPr marL="0" indent="0" algn="r">
              <a:buNone/>
            </a:pPr>
            <a:r>
              <a:rPr lang="en-US" sz="800" dirty="0">
                <a:solidFill>
                  <a:srgbClr val="0D9488"/>
                </a:solidFill>
              </a:rPr>
              <a:t>Selectable from meal library ✓</a:t>
            </a:r>
            <a:endParaRPr lang="en-US" sz="800" dirty="0"/>
          </a:p>
        </p:txBody>
      </p:sp>
      <p:sp>
        <p:nvSpPr>
          <p:cNvPr id="27" name="Shape 25"/>
          <p:cNvSpPr/>
          <p:nvPr/>
        </p:nvSpPr>
        <p:spPr>
          <a:xfrm>
            <a:off x="457200" y="3529584"/>
            <a:ext cx="3474720" cy="457200"/>
          </a:xfrm>
          <a:prstGeom prst="rect">
            <a:avLst/>
          </a:prstGeom>
          <a:solidFill>
            <a:srgbClr val="F0F9FF"/>
          </a:solidFill>
          <a:ln w="12700">
            <a:solidFill>
              <a:srgbClr val="E2E8F0"/>
            </a:solidFill>
            <a:prstDash val="solid"/>
          </a:ln>
        </p:spPr>
      </p:sp>
      <p:sp>
        <p:nvSpPr>
          <p:cNvPr id="28" name="Text 26"/>
          <p:cNvSpPr/>
          <p:nvPr/>
        </p:nvSpPr>
        <p:spPr>
          <a:xfrm>
            <a:off x="457200" y="3529584"/>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9" name="Text 27"/>
          <p:cNvSpPr/>
          <p:nvPr/>
        </p:nvSpPr>
        <p:spPr>
          <a:xfrm>
            <a:off x="987552" y="3557016"/>
            <a:ext cx="1828800" cy="219456"/>
          </a:xfrm>
          <a:prstGeom prst="rect">
            <a:avLst/>
          </a:prstGeom>
          <a:noFill/>
          <a:ln/>
        </p:spPr>
        <p:txBody>
          <a:bodyPr wrap="square" lIns="0" tIns="0" rIns="0" bIns="0" rtlCol="0" anchor="ctr"/>
          <a:lstStyle/>
          <a:p>
            <a:pPr marL="0" indent="0">
              <a:buNone/>
            </a:pPr>
            <a:r>
              <a:rPr lang="en-US" sz="1100" b="1" dirty="0">
                <a:solidFill>
                  <a:srgbClr val="0A2463"/>
                </a:solidFill>
              </a:rPr>
              <a:t>Dinner</a:t>
            </a:r>
            <a:endParaRPr lang="en-US" sz="1100" dirty="0"/>
          </a:p>
        </p:txBody>
      </p:sp>
      <p:sp>
        <p:nvSpPr>
          <p:cNvPr id="30" name="Text 28"/>
          <p:cNvSpPr/>
          <p:nvPr/>
        </p:nvSpPr>
        <p:spPr>
          <a:xfrm>
            <a:off x="987552" y="3776472"/>
            <a:ext cx="1828800" cy="182880"/>
          </a:xfrm>
          <a:prstGeom prst="rect">
            <a:avLst/>
          </a:prstGeom>
          <a:noFill/>
          <a:ln/>
        </p:spPr>
        <p:txBody>
          <a:bodyPr wrap="square" lIns="0" tIns="0" rIns="0" bIns="0" rtlCol="0" anchor="ctr"/>
          <a:lstStyle/>
          <a:p>
            <a:pPr marL="0" indent="0">
              <a:buNone/>
            </a:pPr>
            <a:r>
              <a:rPr lang="en-US" sz="900" dirty="0">
                <a:solidFill>
                  <a:srgbClr val="64748B"/>
                </a:solidFill>
              </a:rPr>
              <a:t>7:00 – 8:00 PM</a:t>
            </a:r>
            <a:endParaRPr lang="en-US" sz="900" dirty="0"/>
          </a:p>
        </p:txBody>
      </p:sp>
      <p:sp>
        <p:nvSpPr>
          <p:cNvPr id="31" name="Text 29"/>
          <p:cNvSpPr/>
          <p:nvPr/>
        </p:nvSpPr>
        <p:spPr>
          <a:xfrm>
            <a:off x="2743200" y="3584448"/>
            <a:ext cx="1143000" cy="365760"/>
          </a:xfrm>
          <a:prstGeom prst="rect">
            <a:avLst/>
          </a:prstGeom>
          <a:noFill/>
          <a:ln/>
        </p:spPr>
        <p:txBody>
          <a:bodyPr wrap="square" lIns="0" tIns="0" rIns="0" bIns="0" rtlCol="0" anchor="ctr"/>
          <a:lstStyle/>
          <a:p>
            <a:pPr marL="0" indent="0" algn="r">
              <a:buNone/>
            </a:pPr>
            <a:r>
              <a:rPr lang="en-US" sz="800" dirty="0">
                <a:solidFill>
                  <a:srgbClr val="0D9488"/>
                </a:solidFill>
              </a:rPr>
              <a:t>Selectable from meal library ✓</a:t>
            </a:r>
            <a:endParaRPr lang="en-US" sz="800" dirty="0"/>
          </a:p>
        </p:txBody>
      </p:sp>
      <p:sp>
        <p:nvSpPr>
          <p:cNvPr id="32" name="Text 30"/>
          <p:cNvSpPr/>
          <p:nvPr/>
        </p:nvSpPr>
        <p:spPr>
          <a:xfrm>
            <a:off x="457200" y="4160520"/>
            <a:ext cx="3840480" cy="457200"/>
          </a:xfrm>
          <a:prstGeom prst="rect">
            <a:avLst/>
          </a:prstGeom>
          <a:noFill/>
          <a:ln/>
        </p:spPr>
        <p:txBody>
          <a:bodyPr wrap="square" lIns="0" tIns="0" rIns="0" bIns="0" rtlCol="0" anchor="ctr"/>
          <a:lstStyle/>
          <a:p>
            <a:pPr marL="0" indent="0">
              <a:buNone/>
            </a:pPr>
            <a:r>
              <a:rPr lang="en-US" sz="950" i="1" dirty="0">
                <a:solidFill>
                  <a:srgbClr val="0D9488"/>
                </a:solidFill>
              </a:rPr>
              <a:t>→ Live calorie progress bar: red/amber/green vs daily target</a:t>
            </a:r>
            <a:endParaRPr lang="en-US" sz="950" dirty="0"/>
          </a:p>
        </p:txBody>
      </p:sp>
      <p:sp>
        <p:nvSpPr>
          <p:cNvPr id="33" name="Shape 31"/>
          <p:cNvSpPr/>
          <p:nvPr/>
        </p:nvSpPr>
        <p:spPr>
          <a:xfrm>
            <a:off x="4754880" y="777240"/>
            <a:ext cx="4069080" cy="40690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4" name="Shape 32"/>
          <p:cNvSpPr/>
          <p:nvPr/>
        </p:nvSpPr>
        <p:spPr>
          <a:xfrm>
            <a:off x="4754880" y="777240"/>
            <a:ext cx="4069080" cy="365760"/>
          </a:xfrm>
          <a:prstGeom prst="rect">
            <a:avLst/>
          </a:prstGeom>
          <a:solidFill>
            <a:srgbClr val="0D9488"/>
          </a:solidFill>
          <a:ln w="12700">
            <a:solidFill>
              <a:srgbClr val="0D9488"/>
            </a:solidFill>
            <a:prstDash val="solid"/>
          </a:ln>
        </p:spPr>
      </p:sp>
      <p:sp>
        <p:nvSpPr>
          <p:cNvPr id="35" name="Text 33"/>
          <p:cNvSpPr/>
          <p:nvPr/>
        </p:nvSpPr>
        <p:spPr>
          <a:xfrm>
            <a:off x="4754880" y="777240"/>
            <a:ext cx="4069080" cy="365760"/>
          </a:xfrm>
          <a:prstGeom prst="rect">
            <a:avLst/>
          </a:prstGeom>
          <a:noFill/>
          <a:ln/>
        </p:spPr>
        <p:txBody>
          <a:bodyPr wrap="square" lIns="0" tIns="0" rIns="0" bIns="0" rtlCol="0" anchor="ctr"/>
          <a:lstStyle/>
          <a:p>
            <a:pPr marL="0" indent="0" algn="ctr">
              <a:buNone/>
            </a:pPr>
            <a:r>
              <a:rPr lang="en-US" sz="1200" b="1" dirty="0">
                <a:solidFill>
                  <a:srgbClr val="FFFFFF"/>
                </a:solidFill>
              </a:rPr>
              <a:t>🔥  </a:t>
            </a:r>
            <a:r>
              <a:rPr lang="en-US" sz="1200" b="1" dirty="0" smtClean="0">
                <a:solidFill>
                  <a:srgbClr val="FFFFFF"/>
                </a:solidFill>
              </a:rPr>
              <a:t>  Calorie </a:t>
            </a:r>
            <a:r>
              <a:rPr lang="en-US" sz="1200" b="1" dirty="0">
                <a:solidFill>
                  <a:srgbClr val="FFFFFF"/>
                </a:solidFill>
              </a:rPr>
              <a:t>Calculator</a:t>
            </a:r>
            <a:endParaRPr lang="en-US" sz="1200" dirty="0"/>
          </a:p>
        </p:txBody>
      </p:sp>
      <p:sp>
        <p:nvSpPr>
          <p:cNvPr id="36" name="Shape 34"/>
          <p:cNvSpPr/>
          <p:nvPr/>
        </p:nvSpPr>
        <p:spPr>
          <a:xfrm>
            <a:off x="4892040" y="1234440"/>
            <a:ext cx="3794760" cy="685800"/>
          </a:xfrm>
          <a:prstGeom prst="rect">
            <a:avLst/>
          </a:prstGeom>
          <a:solidFill>
            <a:srgbClr val="EFF6FF"/>
          </a:solidFill>
          <a:ln w="12700">
            <a:solidFill>
              <a:srgbClr val="E2E8F0"/>
            </a:solidFill>
            <a:prstDash val="solid"/>
          </a:ln>
          <a:effectLst>
            <a:outerShdw blurRad="76200" dist="25400" dir="8100000" algn="bl" rotWithShape="0">
              <a:srgbClr val="000000">
                <a:alpha val="10000"/>
              </a:srgbClr>
            </a:outerShdw>
          </a:effectLst>
        </p:spPr>
      </p:sp>
      <p:sp>
        <p:nvSpPr>
          <p:cNvPr id="37" name="Text 35"/>
          <p:cNvSpPr/>
          <p:nvPr/>
        </p:nvSpPr>
        <p:spPr>
          <a:xfrm>
            <a:off x="4983480" y="1261872"/>
            <a:ext cx="3611880" cy="256032"/>
          </a:xfrm>
          <a:prstGeom prst="rect">
            <a:avLst/>
          </a:prstGeom>
          <a:noFill/>
          <a:ln/>
        </p:spPr>
        <p:txBody>
          <a:bodyPr wrap="square" lIns="0" tIns="0" rIns="0" bIns="0" rtlCol="0" anchor="ctr"/>
          <a:lstStyle/>
          <a:p>
            <a:pPr marL="0" indent="0">
              <a:buNone/>
            </a:pPr>
            <a:r>
              <a:rPr lang="en-US" sz="1000" b="1" dirty="0">
                <a:solidFill>
                  <a:srgbClr val="0A2463"/>
                </a:solidFill>
              </a:rPr>
              <a:t>Harris-Benedict BMR Formula</a:t>
            </a:r>
            <a:endParaRPr lang="en-US" sz="1000" dirty="0"/>
          </a:p>
        </p:txBody>
      </p:sp>
      <p:sp>
        <p:nvSpPr>
          <p:cNvPr id="38" name="Text 36"/>
          <p:cNvSpPr/>
          <p:nvPr/>
        </p:nvSpPr>
        <p:spPr>
          <a:xfrm>
            <a:off x="4983480" y="1481328"/>
            <a:ext cx="3611880" cy="201168"/>
          </a:xfrm>
          <a:prstGeom prst="rect">
            <a:avLst/>
          </a:prstGeom>
          <a:noFill/>
          <a:ln/>
        </p:spPr>
        <p:txBody>
          <a:bodyPr wrap="square" lIns="0" tIns="0" rIns="0" bIns="0" rtlCol="0" anchor="ctr"/>
          <a:lstStyle/>
          <a:p>
            <a:pPr marL="0" indent="0">
              <a:buNone/>
            </a:pPr>
            <a:r>
              <a:rPr lang="en-US" sz="900" dirty="0">
                <a:solidFill>
                  <a:srgbClr val="334155"/>
                </a:solidFill>
              </a:rPr>
              <a:t>Male:   88.36 + (13.4×W) + (4.8×H) − (5.7×Age)</a:t>
            </a:r>
            <a:endParaRPr lang="en-US" sz="900" dirty="0"/>
          </a:p>
        </p:txBody>
      </p:sp>
      <p:sp>
        <p:nvSpPr>
          <p:cNvPr id="39" name="Text 37"/>
          <p:cNvSpPr/>
          <p:nvPr/>
        </p:nvSpPr>
        <p:spPr>
          <a:xfrm>
            <a:off x="4983480" y="1664208"/>
            <a:ext cx="3611880" cy="201168"/>
          </a:xfrm>
          <a:prstGeom prst="rect">
            <a:avLst/>
          </a:prstGeom>
          <a:noFill/>
          <a:ln/>
        </p:spPr>
        <p:txBody>
          <a:bodyPr wrap="square" lIns="0" tIns="0" rIns="0" bIns="0" rtlCol="0" anchor="ctr"/>
          <a:lstStyle/>
          <a:p>
            <a:pPr marL="0" indent="0">
              <a:buNone/>
            </a:pPr>
            <a:r>
              <a:rPr lang="en-US" sz="900" dirty="0">
                <a:solidFill>
                  <a:srgbClr val="334155"/>
                </a:solidFill>
              </a:rPr>
              <a:t>Female: 447.6 + (9.2×W) + (3.1×H) − (4.3×Age)</a:t>
            </a:r>
            <a:endParaRPr lang="en-US" sz="900" dirty="0"/>
          </a:p>
        </p:txBody>
      </p:sp>
      <p:sp>
        <p:nvSpPr>
          <p:cNvPr id="40" name="Shape 38"/>
          <p:cNvSpPr/>
          <p:nvPr/>
        </p:nvSpPr>
        <p:spPr>
          <a:xfrm>
            <a:off x="4892040" y="2057400"/>
            <a:ext cx="1188720" cy="384048"/>
          </a:xfrm>
          <a:prstGeom prst="rect">
            <a:avLst/>
          </a:prstGeom>
          <a:solidFill>
            <a:srgbClr val="F0F9FF"/>
          </a:solidFill>
          <a:ln w="12700">
            <a:solidFill>
              <a:srgbClr val="E2E8F0"/>
            </a:solidFill>
            <a:prstDash val="solid"/>
          </a:ln>
          <a:effectLst>
            <a:outerShdw blurRad="76200" dist="25400" dir="8100000" algn="bl" rotWithShape="0">
              <a:srgbClr val="000000">
                <a:alpha val="10000"/>
              </a:srgbClr>
            </a:outerShdw>
          </a:effectLst>
        </p:spPr>
      </p:sp>
      <p:sp>
        <p:nvSpPr>
          <p:cNvPr id="41" name="Text 39"/>
          <p:cNvSpPr/>
          <p:nvPr/>
        </p:nvSpPr>
        <p:spPr>
          <a:xfrm>
            <a:off x="4892040" y="2057400"/>
            <a:ext cx="1188720" cy="384048"/>
          </a:xfrm>
          <a:prstGeom prst="rect">
            <a:avLst/>
          </a:prstGeom>
          <a:noFill/>
          <a:ln/>
        </p:spPr>
        <p:txBody>
          <a:bodyPr wrap="square" lIns="25400" tIns="25400" rIns="25400" bIns="25400" rtlCol="0" anchor="ctr"/>
          <a:lstStyle/>
          <a:p>
            <a:pPr marL="0" indent="0" algn="ctr">
              <a:buNone/>
            </a:pPr>
            <a:r>
              <a:rPr lang="en-US" sz="900" dirty="0">
                <a:solidFill>
                  <a:srgbClr val="334155"/>
                </a:solidFill>
              </a:rPr>
              <a:t>Weight (kg)</a:t>
            </a:r>
            <a:endParaRPr lang="en-US" sz="900" dirty="0"/>
          </a:p>
        </p:txBody>
      </p:sp>
      <p:sp>
        <p:nvSpPr>
          <p:cNvPr id="42" name="Shape 40"/>
          <p:cNvSpPr/>
          <p:nvPr/>
        </p:nvSpPr>
        <p:spPr>
          <a:xfrm>
            <a:off x="6172200" y="2057400"/>
            <a:ext cx="1188720" cy="384048"/>
          </a:xfrm>
          <a:prstGeom prst="rect">
            <a:avLst/>
          </a:prstGeom>
          <a:solidFill>
            <a:srgbClr val="F0F9FF"/>
          </a:solidFill>
          <a:ln w="12700">
            <a:solidFill>
              <a:srgbClr val="E2E8F0"/>
            </a:solidFill>
            <a:prstDash val="solid"/>
          </a:ln>
          <a:effectLst>
            <a:outerShdw blurRad="76200" dist="25400" dir="8100000" algn="bl" rotWithShape="0">
              <a:srgbClr val="000000">
                <a:alpha val="10000"/>
              </a:srgbClr>
            </a:outerShdw>
          </a:effectLst>
        </p:spPr>
      </p:sp>
      <p:sp>
        <p:nvSpPr>
          <p:cNvPr id="43" name="Text 41"/>
          <p:cNvSpPr/>
          <p:nvPr/>
        </p:nvSpPr>
        <p:spPr>
          <a:xfrm>
            <a:off x="6172200" y="2057400"/>
            <a:ext cx="1188720" cy="384048"/>
          </a:xfrm>
          <a:prstGeom prst="rect">
            <a:avLst/>
          </a:prstGeom>
          <a:noFill/>
          <a:ln/>
        </p:spPr>
        <p:txBody>
          <a:bodyPr wrap="square" lIns="25400" tIns="25400" rIns="25400" bIns="25400" rtlCol="0" anchor="ctr"/>
          <a:lstStyle/>
          <a:p>
            <a:pPr marL="0" indent="0" algn="ctr">
              <a:buNone/>
            </a:pPr>
            <a:r>
              <a:rPr lang="en-US" sz="900" dirty="0">
                <a:solidFill>
                  <a:srgbClr val="334155"/>
                </a:solidFill>
              </a:rPr>
              <a:t>Activity Level</a:t>
            </a:r>
            <a:endParaRPr lang="en-US" sz="900" dirty="0"/>
          </a:p>
        </p:txBody>
      </p:sp>
      <p:sp>
        <p:nvSpPr>
          <p:cNvPr id="44" name="Shape 42"/>
          <p:cNvSpPr/>
          <p:nvPr/>
        </p:nvSpPr>
        <p:spPr>
          <a:xfrm>
            <a:off x="7452360" y="2057400"/>
            <a:ext cx="1188720" cy="384048"/>
          </a:xfrm>
          <a:prstGeom prst="rect">
            <a:avLst/>
          </a:prstGeom>
          <a:solidFill>
            <a:srgbClr val="F0F9FF"/>
          </a:solidFill>
          <a:ln w="12700">
            <a:solidFill>
              <a:srgbClr val="E2E8F0"/>
            </a:solidFill>
            <a:prstDash val="solid"/>
          </a:ln>
          <a:effectLst>
            <a:outerShdw blurRad="76200" dist="25400" dir="8100000" algn="bl" rotWithShape="0">
              <a:srgbClr val="000000">
                <a:alpha val="10000"/>
              </a:srgbClr>
            </a:outerShdw>
          </a:effectLst>
        </p:spPr>
      </p:sp>
      <p:sp>
        <p:nvSpPr>
          <p:cNvPr id="45" name="Text 43"/>
          <p:cNvSpPr/>
          <p:nvPr/>
        </p:nvSpPr>
        <p:spPr>
          <a:xfrm>
            <a:off x="7452360" y="2057400"/>
            <a:ext cx="1188720" cy="384048"/>
          </a:xfrm>
          <a:prstGeom prst="rect">
            <a:avLst/>
          </a:prstGeom>
          <a:noFill/>
          <a:ln/>
        </p:spPr>
        <p:txBody>
          <a:bodyPr wrap="square" lIns="25400" tIns="25400" rIns="25400" bIns="25400" rtlCol="0" anchor="ctr"/>
          <a:lstStyle/>
          <a:p>
            <a:pPr marL="0" indent="0" algn="ctr">
              <a:buNone/>
            </a:pPr>
            <a:r>
              <a:rPr lang="en-US" sz="900" dirty="0">
                <a:solidFill>
                  <a:srgbClr val="334155"/>
                </a:solidFill>
              </a:rPr>
              <a:t>Gender</a:t>
            </a:r>
            <a:endParaRPr lang="en-US" sz="900" dirty="0"/>
          </a:p>
        </p:txBody>
      </p:sp>
      <p:sp>
        <p:nvSpPr>
          <p:cNvPr id="46" name="Shape 44"/>
          <p:cNvSpPr/>
          <p:nvPr/>
        </p:nvSpPr>
        <p:spPr>
          <a:xfrm>
            <a:off x="4892040" y="2560320"/>
            <a:ext cx="1188720" cy="384048"/>
          </a:xfrm>
          <a:prstGeom prst="rect">
            <a:avLst/>
          </a:prstGeom>
          <a:solidFill>
            <a:srgbClr val="F0F9FF"/>
          </a:solidFill>
          <a:ln w="12700">
            <a:solidFill>
              <a:srgbClr val="E2E8F0"/>
            </a:solidFill>
            <a:prstDash val="solid"/>
          </a:ln>
          <a:effectLst>
            <a:outerShdw blurRad="76200" dist="25400" dir="8100000" algn="bl" rotWithShape="0">
              <a:srgbClr val="000000">
                <a:alpha val="10000"/>
              </a:srgbClr>
            </a:outerShdw>
          </a:effectLst>
        </p:spPr>
      </p:sp>
      <p:sp>
        <p:nvSpPr>
          <p:cNvPr id="47" name="Text 45"/>
          <p:cNvSpPr/>
          <p:nvPr/>
        </p:nvSpPr>
        <p:spPr>
          <a:xfrm>
            <a:off x="4892040" y="2560320"/>
            <a:ext cx="1188720" cy="384048"/>
          </a:xfrm>
          <a:prstGeom prst="rect">
            <a:avLst/>
          </a:prstGeom>
          <a:noFill/>
          <a:ln/>
        </p:spPr>
        <p:txBody>
          <a:bodyPr wrap="square" lIns="25400" tIns="25400" rIns="25400" bIns="25400" rtlCol="0" anchor="ctr"/>
          <a:lstStyle/>
          <a:p>
            <a:pPr marL="0" indent="0" algn="ctr">
              <a:buNone/>
            </a:pPr>
            <a:r>
              <a:rPr lang="en-US" sz="900" dirty="0">
                <a:solidFill>
                  <a:srgbClr val="334155"/>
                </a:solidFill>
              </a:rPr>
              <a:t>Height (cm)</a:t>
            </a:r>
            <a:endParaRPr lang="en-US" sz="900" dirty="0"/>
          </a:p>
        </p:txBody>
      </p:sp>
      <p:sp>
        <p:nvSpPr>
          <p:cNvPr id="48" name="Shape 46"/>
          <p:cNvSpPr/>
          <p:nvPr/>
        </p:nvSpPr>
        <p:spPr>
          <a:xfrm>
            <a:off x="6172200" y="2560320"/>
            <a:ext cx="1188720" cy="384048"/>
          </a:xfrm>
          <a:prstGeom prst="rect">
            <a:avLst/>
          </a:prstGeom>
          <a:solidFill>
            <a:srgbClr val="F0F9FF"/>
          </a:solidFill>
          <a:ln w="12700">
            <a:solidFill>
              <a:srgbClr val="E2E8F0"/>
            </a:solidFill>
            <a:prstDash val="solid"/>
          </a:ln>
          <a:effectLst>
            <a:outerShdw blurRad="76200" dist="25400" dir="8100000" algn="bl" rotWithShape="0">
              <a:srgbClr val="000000">
                <a:alpha val="10000"/>
              </a:srgbClr>
            </a:outerShdw>
          </a:effectLst>
        </p:spPr>
      </p:sp>
      <p:sp>
        <p:nvSpPr>
          <p:cNvPr id="49" name="Text 47"/>
          <p:cNvSpPr/>
          <p:nvPr/>
        </p:nvSpPr>
        <p:spPr>
          <a:xfrm>
            <a:off x="6172200" y="2560320"/>
            <a:ext cx="1188720" cy="384048"/>
          </a:xfrm>
          <a:prstGeom prst="rect">
            <a:avLst/>
          </a:prstGeom>
          <a:noFill/>
          <a:ln/>
        </p:spPr>
        <p:txBody>
          <a:bodyPr wrap="square" lIns="25400" tIns="25400" rIns="25400" bIns="25400" rtlCol="0" anchor="ctr"/>
          <a:lstStyle/>
          <a:p>
            <a:pPr marL="0" indent="0" algn="ctr">
              <a:buNone/>
            </a:pPr>
            <a:r>
              <a:rPr lang="en-US" sz="900" dirty="0">
                <a:solidFill>
                  <a:srgbClr val="334155"/>
                </a:solidFill>
              </a:rPr>
              <a:t>Medical Condition</a:t>
            </a:r>
            <a:endParaRPr lang="en-US" sz="900" dirty="0"/>
          </a:p>
        </p:txBody>
      </p:sp>
      <p:sp>
        <p:nvSpPr>
          <p:cNvPr id="50" name="Shape 48"/>
          <p:cNvSpPr/>
          <p:nvPr/>
        </p:nvSpPr>
        <p:spPr>
          <a:xfrm>
            <a:off x="7452360" y="2560320"/>
            <a:ext cx="1188720" cy="384048"/>
          </a:xfrm>
          <a:prstGeom prst="rect">
            <a:avLst/>
          </a:prstGeom>
          <a:solidFill>
            <a:srgbClr val="F0F9FF"/>
          </a:solidFill>
          <a:ln w="12700">
            <a:solidFill>
              <a:srgbClr val="E2E8F0"/>
            </a:solidFill>
            <a:prstDash val="solid"/>
          </a:ln>
          <a:effectLst>
            <a:outerShdw blurRad="76200" dist="25400" dir="8100000" algn="bl" rotWithShape="0">
              <a:srgbClr val="000000">
                <a:alpha val="10000"/>
              </a:srgbClr>
            </a:outerShdw>
          </a:effectLst>
        </p:spPr>
      </p:sp>
      <p:sp>
        <p:nvSpPr>
          <p:cNvPr id="51" name="Text 49"/>
          <p:cNvSpPr/>
          <p:nvPr/>
        </p:nvSpPr>
        <p:spPr>
          <a:xfrm>
            <a:off x="7452360" y="2560320"/>
            <a:ext cx="1188720" cy="384048"/>
          </a:xfrm>
          <a:prstGeom prst="rect">
            <a:avLst/>
          </a:prstGeom>
          <a:noFill/>
          <a:ln/>
        </p:spPr>
        <p:txBody>
          <a:bodyPr wrap="square" lIns="25400" tIns="25400" rIns="25400" bIns="25400" rtlCol="0" anchor="ctr"/>
          <a:lstStyle/>
          <a:p>
            <a:pPr marL="0" indent="0" algn="ctr">
              <a:buNone/>
            </a:pPr>
            <a:r>
              <a:rPr lang="en-US" sz="900" dirty="0">
                <a:solidFill>
                  <a:srgbClr val="334155"/>
                </a:solidFill>
              </a:rPr>
              <a:t>Daily Target</a:t>
            </a:r>
            <a:endParaRPr lang="en-US" sz="900" dirty="0"/>
          </a:p>
        </p:txBody>
      </p:sp>
      <p:sp>
        <p:nvSpPr>
          <p:cNvPr id="52" name="Text 50"/>
          <p:cNvSpPr/>
          <p:nvPr/>
        </p:nvSpPr>
        <p:spPr>
          <a:xfrm>
            <a:off x="4892040" y="3154680"/>
            <a:ext cx="914400" cy="256032"/>
          </a:xfrm>
          <a:prstGeom prst="rect">
            <a:avLst/>
          </a:prstGeom>
          <a:noFill/>
          <a:ln/>
        </p:spPr>
        <p:txBody>
          <a:bodyPr wrap="square" lIns="0" tIns="0" rIns="0" bIns="0" rtlCol="0" anchor="ctr"/>
          <a:lstStyle/>
          <a:p>
            <a:pPr marL="0" indent="0">
              <a:buNone/>
            </a:pPr>
            <a:r>
              <a:rPr lang="en-US" sz="1000" b="1" dirty="0">
                <a:solidFill>
                  <a:srgbClr val="0A2463"/>
                </a:solidFill>
              </a:rPr>
              <a:t>Outputs:</a:t>
            </a:r>
            <a:endParaRPr lang="en-US" sz="1000" dirty="0"/>
          </a:p>
        </p:txBody>
      </p:sp>
      <p:sp>
        <p:nvSpPr>
          <p:cNvPr id="53" name="Shape 51"/>
          <p:cNvSpPr/>
          <p:nvPr/>
        </p:nvSpPr>
        <p:spPr>
          <a:xfrm>
            <a:off x="4892040" y="3456432"/>
            <a:ext cx="1188720" cy="38404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54" name="Text 52"/>
          <p:cNvSpPr/>
          <p:nvPr/>
        </p:nvSpPr>
        <p:spPr>
          <a:xfrm>
            <a:off x="4892040" y="3456432"/>
            <a:ext cx="1188720" cy="201168"/>
          </a:xfrm>
          <a:prstGeom prst="rect">
            <a:avLst/>
          </a:prstGeom>
          <a:noFill/>
          <a:ln/>
        </p:spPr>
        <p:txBody>
          <a:bodyPr wrap="square" lIns="0" tIns="0" rIns="0" bIns="0" rtlCol="0" anchor="ctr"/>
          <a:lstStyle/>
          <a:p>
            <a:pPr marL="0" indent="0" algn="ctr">
              <a:buNone/>
            </a:pPr>
            <a:r>
              <a:rPr lang="en-US" sz="1000" b="1" dirty="0">
                <a:solidFill>
                  <a:srgbClr val="0D9488"/>
                </a:solidFill>
              </a:rPr>
              <a:t>BMR</a:t>
            </a:r>
            <a:endParaRPr lang="en-US" sz="1000" dirty="0"/>
          </a:p>
        </p:txBody>
      </p:sp>
      <p:sp>
        <p:nvSpPr>
          <p:cNvPr id="55" name="Text 53"/>
          <p:cNvSpPr/>
          <p:nvPr/>
        </p:nvSpPr>
        <p:spPr>
          <a:xfrm>
            <a:off x="4892040" y="3657600"/>
            <a:ext cx="1188720" cy="164592"/>
          </a:xfrm>
          <a:prstGeom prst="rect">
            <a:avLst/>
          </a:prstGeom>
          <a:noFill/>
          <a:ln/>
        </p:spPr>
        <p:txBody>
          <a:bodyPr wrap="square" lIns="0" tIns="0" rIns="0" bIns="0" rtlCol="0" anchor="ctr"/>
          <a:lstStyle/>
          <a:p>
            <a:pPr marL="0" indent="0" algn="ctr">
              <a:buNone/>
            </a:pPr>
            <a:r>
              <a:rPr lang="en-US" sz="800" dirty="0">
                <a:solidFill>
                  <a:srgbClr val="64748B"/>
                </a:solidFill>
              </a:rPr>
              <a:t>Base rate</a:t>
            </a:r>
            <a:endParaRPr lang="en-US" sz="800" dirty="0"/>
          </a:p>
        </p:txBody>
      </p:sp>
      <p:sp>
        <p:nvSpPr>
          <p:cNvPr id="56" name="Shape 54"/>
          <p:cNvSpPr/>
          <p:nvPr/>
        </p:nvSpPr>
        <p:spPr>
          <a:xfrm>
            <a:off x="6172200" y="3456432"/>
            <a:ext cx="1188720" cy="38404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57" name="Text 55"/>
          <p:cNvSpPr/>
          <p:nvPr/>
        </p:nvSpPr>
        <p:spPr>
          <a:xfrm>
            <a:off x="6172200" y="3456432"/>
            <a:ext cx="1188720" cy="201168"/>
          </a:xfrm>
          <a:prstGeom prst="rect">
            <a:avLst/>
          </a:prstGeom>
          <a:noFill/>
          <a:ln/>
        </p:spPr>
        <p:txBody>
          <a:bodyPr wrap="square" lIns="0" tIns="0" rIns="0" bIns="0" rtlCol="0" anchor="ctr"/>
          <a:lstStyle/>
          <a:p>
            <a:pPr marL="0" indent="0" algn="ctr">
              <a:buNone/>
            </a:pPr>
            <a:r>
              <a:rPr lang="en-US" sz="1000" b="1" dirty="0">
                <a:solidFill>
                  <a:srgbClr val="0D9488"/>
                </a:solidFill>
              </a:rPr>
              <a:t>TDEE</a:t>
            </a:r>
            <a:endParaRPr lang="en-US" sz="1000" dirty="0"/>
          </a:p>
        </p:txBody>
      </p:sp>
      <p:sp>
        <p:nvSpPr>
          <p:cNvPr id="58" name="Text 56"/>
          <p:cNvSpPr/>
          <p:nvPr/>
        </p:nvSpPr>
        <p:spPr>
          <a:xfrm>
            <a:off x="6172200" y="3657600"/>
            <a:ext cx="1188720" cy="164592"/>
          </a:xfrm>
          <a:prstGeom prst="rect">
            <a:avLst/>
          </a:prstGeom>
          <a:noFill/>
          <a:ln/>
        </p:spPr>
        <p:txBody>
          <a:bodyPr wrap="square" lIns="0" tIns="0" rIns="0" bIns="0" rtlCol="0" anchor="ctr"/>
          <a:lstStyle/>
          <a:p>
            <a:pPr marL="0" indent="0" algn="ctr">
              <a:buNone/>
            </a:pPr>
            <a:r>
              <a:rPr lang="en-US" sz="800" dirty="0">
                <a:solidFill>
                  <a:srgbClr val="64748B"/>
                </a:solidFill>
              </a:rPr>
              <a:t>Daily needs</a:t>
            </a:r>
            <a:endParaRPr lang="en-US" sz="800" dirty="0"/>
          </a:p>
        </p:txBody>
      </p:sp>
      <p:sp>
        <p:nvSpPr>
          <p:cNvPr id="59" name="Shape 57"/>
          <p:cNvSpPr/>
          <p:nvPr/>
        </p:nvSpPr>
        <p:spPr>
          <a:xfrm>
            <a:off x="7452360" y="3456432"/>
            <a:ext cx="1188720" cy="38404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60" name="Text 58"/>
          <p:cNvSpPr/>
          <p:nvPr/>
        </p:nvSpPr>
        <p:spPr>
          <a:xfrm>
            <a:off x="7452360" y="3456432"/>
            <a:ext cx="1188720" cy="201168"/>
          </a:xfrm>
          <a:prstGeom prst="rect">
            <a:avLst/>
          </a:prstGeom>
          <a:noFill/>
          <a:ln/>
        </p:spPr>
        <p:txBody>
          <a:bodyPr wrap="square" lIns="0" tIns="0" rIns="0" bIns="0" rtlCol="0" anchor="ctr"/>
          <a:lstStyle/>
          <a:p>
            <a:pPr marL="0" indent="0" algn="ctr">
              <a:buNone/>
            </a:pPr>
            <a:r>
              <a:rPr lang="en-US" sz="1000" b="1" dirty="0">
                <a:solidFill>
                  <a:srgbClr val="0D9488"/>
                </a:solidFill>
              </a:rPr>
              <a:t>Protein</a:t>
            </a:r>
            <a:endParaRPr lang="en-US" sz="1000" dirty="0"/>
          </a:p>
        </p:txBody>
      </p:sp>
      <p:sp>
        <p:nvSpPr>
          <p:cNvPr id="61" name="Text 59"/>
          <p:cNvSpPr/>
          <p:nvPr/>
        </p:nvSpPr>
        <p:spPr>
          <a:xfrm>
            <a:off x="7452360" y="3657600"/>
            <a:ext cx="1188720" cy="164592"/>
          </a:xfrm>
          <a:prstGeom prst="rect">
            <a:avLst/>
          </a:prstGeom>
          <a:noFill/>
          <a:ln/>
        </p:spPr>
        <p:txBody>
          <a:bodyPr wrap="square" lIns="0" tIns="0" rIns="0" bIns="0" rtlCol="0" anchor="ctr"/>
          <a:lstStyle/>
          <a:p>
            <a:pPr marL="0" indent="0" algn="ctr">
              <a:buNone/>
            </a:pPr>
            <a:r>
              <a:rPr lang="en-US" sz="800" dirty="0">
                <a:solidFill>
                  <a:srgbClr val="64748B"/>
                </a:solidFill>
              </a:rPr>
              <a:t>Grams</a:t>
            </a:r>
            <a:endParaRPr lang="en-US" sz="800" dirty="0"/>
          </a:p>
        </p:txBody>
      </p:sp>
      <p:sp>
        <p:nvSpPr>
          <p:cNvPr id="62" name="Shape 60"/>
          <p:cNvSpPr/>
          <p:nvPr/>
        </p:nvSpPr>
        <p:spPr>
          <a:xfrm>
            <a:off x="4892040" y="3913632"/>
            <a:ext cx="1188720" cy="38404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63" name="Text 61"/>
          <p:cNvSpPr/>
          <p:nvPr/>
        </p:nvSpPr>
        <p:spPr>
          <a:xfrm>
            <a:off x="4892040" y="3913632"/>
            <a:ext cx="1188720" cy="201168"/>
          </a:xfrm>
          <a:prstGeom prst="rect">
            <a:avLst/>
          </a:prstGeom>
          <a:noFill/>
          <a:ln/>
        </p:spPr>
        <p:txBody>
          <a:bodyPr wrap="square" lIns="0" tIns="0" rIns="0" bIns="0" rtlCol="0" anchor="ctr"/>
          <a:lstStyle/>
          <a:p>
            <a:pPr marL="0" indent="0" algn="ctr">
              <a:buNone/>
            </a:pPr>
            <a:r>
              <a:rPr lang="en-US" sz="1000" b="1" dirty="0">
                <a:solidFill>
                  <a:srgbClr val="0D9488"/>
                </a:solidFill>
              </a:rPr>
              <a:t>Carbs</a:t>
            </a:r>
            <a:endParaRPr lang="en-US" sz="1000" dirty="0"/>
          </a:p>
        </p:txBody>
      </p:sp>
      <p:sp>
        <p:nvSpPr>
          <p:cNvPr id="64" name="Text 62"/>
          <p:cNvSpPr/>
          <p:nvPr/>
        </p:nvSpPr>
        <p:spPr>
          <a:xfrm>
            <a:off x="4892040" y="4114800"/>
            <a:ext cx="1188720" cy="164592"/>
          </a:xfrm>
          <a:prstGeom prst="rect">
            <a:avLst/>
          </a:prstGeom>
          <a:noFill/>
          <a:ln/>
        </p:spPr>
        <p:txBody>
          <a:bodyPr wrap="square" lIns="0" tIns="0" rIns="0" bIns="0" rtlCol="0" anchor="ctr"/>
          <a:lstStyle/>
          <a:p>
            <a:pPr marL="0" indent="0" algn="ctr">
              <a:buNone/>
            </a:pPr>
            <a:r>
              <a:rPr lang="en-US" sz="800" dirty="0">
                <a:solidFill>
                  <a:srgbClr val="64748B"/>
                </a:solidFill>
              </a:rPr>
              <a:t>Grams</a:t>
            </a:r>
            <a:endParaRPr lang="en-US" sz="800" dirty="0"/>
          </a:p>
        </p:txBody>
      </p:sp>
      <p:sp>
        <p:nvSpPr>
          <p:cNvPr id="65" name="Shape 63"/>
          <p:cNvSpPr/>
          <p:nvPr/>
        </p:nvSpPr>
        <p:spPr>
          <a:xfrm>
            <a:off x="6172200" y="3913632"/>
            <a:ext cx="1188720" cy="38404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66" name="Text 64"/>
          <p:cNvSpPr/>
          <p:nvPr/>
        </p:nvSpPr>
        <p:spPr>
          <a:xfrm>
            <a:off x="6172200" y="3913632"/>
            <a:ext cx="1188720" cy="201168"/>
          </a:xfrm>
          <a:prstGeom prst="rect">
            <a:avLst/>
          </a:prstGeom>
          <a:noFill/>
          <a:ln/>
        </p:spPr>
        <p:txBody>
          <a:bodyPr wrap="square" lIns="0" tIns="0" rIns="0" bIns="0" rtlCol="0" anchor="ctr"/>
          <a:lstStyle/>
          <a:p>
            <a:pPr marL="0" indent="0" algn="ctr">
              <a:buNone/>
            </a:pPr>
            <a:r>
              <a:rPr lang="en-US" sz="1000" b="1" dirty="0">
                <a:solidFill>
                  <a:srgbClr val="0D9488"/>
                </a:solidFill>
              </a:rPr>
              <a:t>Fat</a:t>
            </a:r>
            <a:endParaRPr lang="en-US" sz="1000" dirty="0"/>
          </a:p>
        </p:txBody>
      </p:sp>
      <p:sp>
        <p:nvSpPr>
          <p:cNvPr id="67" name="Text 65"/>
          <p:cNvSpPr/>
          <p:nvPr/>
        </p:nvSpPr>
        <p:spPr>
          <a:xfrm>
            <a:off x="6172200" y="4114800"/>
            <a:ext cx="1188720" cy="164592"/>
          </a:xfrm>
          <a:prstGeom prst="rect">
            <a:avLst/>
          </a:prstGeom>
          <a:noFill/>
          <a:ln/>
        </p:spPr>
        <p:txBody>
          <a:bodyPr wrap="square" lIns="0" tIns="0" rIns="0" bIns="0" rtlCol="0" anchor="ctr"/>
          <a:lstStyle/>
          <a:p>
            <a:pPr marL="0" indent="0" algn="ctr">
              <a:buNone/>
            </a:pPr>
            <a:r>
              <a:rPr lang="en-US" sz="800" dirty="0">
                <a:solidFill>
                  <a:srgbClr val="64748B"/>
                </a:solidFill>
              </a:rPr>
              <a:t>Grams</a:t>
            </a:r>
            <a:endParaRPr lang="en-US" sz="800" dirty="0"/>
          </a:p>
        </p:txBody>
      </p:sp>
      <p:sp>
        <p:nvSpPr>
          <p:cNvPr id="68" name="Shape 66"/>
          <p:cNvSpPr/>
          <p:nvPr/>
        </p:nvSpPr>
        <p:spPr>
          <a:xfrm>
            <a:off x="7452360" y="3913632"/>
            <a:ext cx="1188720" cy="38404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69" name="Text 67"/>
          <p:cNvSpPr/>
          <p:nvPr/>
        </p:nvSpPr>
        <p:spPr>
          <a:xfrm>
            <a:off x="7452360" y="3913632"/>
            <a:ext cx="1188720" cy="201168"/>
          </a:xfrm>
          <a:prstGeom prst="rect">
            <a:avLst/>
          </a:prstGeom>
          <a:noFill/>
          <a:ln/>
        </p:spPr>
        <p:txBody>
          <a:bodyPr wrap="square" lIns="0" tIns="0" rIns="0" bIns="0" rtlCol="0" anchor="ctr"/>
          <a:lstStyle/>
          <a:p>
            <a:pPr marL="0" indent="0" algn="ctr">
              <a:buNone/>
            </a:pPr>
            <a:r>
              <a:rPr lang="en-US" sz="1000" b="1" dirty="0">
                <a:solidFill>
                  <a:srgbClr val="0D9488"/>
                </a:solidFill>
              </a:rPr>
              <a:t>Water</a:t>
            </a:r>
            <a:endParaRPr lang="en-US" sz="1000" dirty="0"/>
          </a:p>
        </p:txBody>
      </p:sp>
      <p:sp>
        <p:nvSpPr>
          <p:cNvPr id="70" name="Text 68"/>
          <p:cNvSpPr/>
          <p:nvPr/>
        </p:nvSpPr>
        <p:spPr>
          <a:xfrm>
            <a:off x="7452360" y="4114800"/>
            <a:ext cx="1188720" cy="164592"/>
          </a:xfrm>
          <a:prstGeom prst="rect">
            <a:avLst/>
          </a:prstGeom>
          <a:noFill/>
          <a:ln/>
        </p:spPr>
        <p:txBody>
          <a:bodyPr wrap="square" lIns="0" tIns="0" rIns="0" bIns="0" rtlCol="0" anchor="ctr"/>
          <a:lstStyle/>
          <a:p>
            <a:pPr marL="0" indent="0" algn="ctr">
              <a:buNone/>
            </a:pPr>
            <a:r>
              <a:rPr lang="en-US" sz="800" dirty="0">
                <a:solidFill>
                  <a:srgbClr val="64748B"/>
                </a:solidFill>
              </a:rPr>
              <a:t>Litres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w="12700">
            <a:solidFill>
              <a:srgbClr val="0D9488"/>
            </a:solidFill>
            <a:prstDash val="solid"/>
          </a:ln>
        </p:spPr>
      </p:sp>
      <p:sp>
        <p:nvSpPr>
          <p:cNvPr id="3" name="Text 1"/>
          <p:cNvSpPr/>
          <p:nvPr/>
        </p:nvSpPr>
        <p:spPr>
          <a:xfrm>
            <a:off x="320040" y="256032"/>
            <a:ext cx="8503920" cy="411480"/>
          </a:xfrm>
          <a:prstGeom prst="rect">
            <a:avLst/>
          </a:prstGeom>
          <a:noFill/>
          <a:ln/>
        </p:spPr>
        <p:txBody>
          <a:bodyPr wrap="square" lIns="0" tIns="0" rIns="0" bIns="0" rtlCol="0" anchor="ctr"/>
          <a:lstStyle/>
          <a:p>
            <a:pPr marL="0" indent="0">
              <a:buNone/>
            </a:pPr>
            <a:r>
              <a:rPr lang="en-US" sz="2400" b="1" dirty="0">
                <a:solidFill>
                  <a:srgbClr val="0A2463"/>
                </a:solidFill>
                <a:latin typeface="Times New Roman" pitchFamily="18" charset="0"/>
                <a:cs typeface="Times New Roman" pitchFamily="18" charset="0"/>
              </a:rPr>
              <a:t>Kitchen Orders &amp; Approval Workflow</a:t>
            </a:r>
            <a:endParaRPr lang="en-US" sz="2400" dirty="0">
              <a:latin typeface="Times New Roman" pitchFamily="18" charset="0"/>
              <a:cs typeface="Times New Roman" pitchFamily="18" charset="0"/>
            </a:endParaRPr>
          </a:p>
        </p:txBody>
      </p:sp>
      <p:sp>
        <p:nvSpPr>
          <p:cNvPr id="4" name="Shape 2"/>
          <p:cNvSpPr/>
          <p:nvPr/>
        </p:nvSpPr>
        <p:spPr>
          <a:xfrm>
            <a:off x="320040" y="777239"/>
            <a:ext cx="4206240" cy="4223825"/>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5" name="Shape 3"/>
          <p:cNvSpPr/>
          <p:nvPr/>
        </p:nvSpPr>
        <p:spPr>
          <a:xfrm>
            <a:off x="320040" y="777240"/>
            <a:ext cx="4206240" cy="365760"/>
          </a:xfrm>
          <a:prstGeom prst="rect">
            <a:avLst/>
          </a:prstGeom>
          <a:solidFill>
            <a:srgbClr val="0A2463"/>
          </a:solidFill>
          <a:ln w="12700">
            <a:solidFill>
              <a:srgbClr val="0A2463"/>
            </a:solidFill>
            <a:prstDash val="solid"/>
          </a:ln>
        </p:spPr>
      </p:sp>
      <p:sp>
        <p:nvSpPr>
          <p:cNvPr id="6" name="Text 4"/>
          <p:cNvSpPr/>
          <p:nvPr/>
        </p:nvSpPr>
        <p:spPr>
          <a:xfrm>
            <a:off x="320040" y="777240"/>
            <a:ext cx="4206240" cy="365760"/>
          </a:xfrm>
          <a:prstGeom prst="rect">
            <a:avLst/>
          </a:prstGeom>
          <a:noFill/>
          <a:ln/>
        </p:spPr>
        <p:txBody>
          <a:bodyPr wrap="square" lIns="0" tIns="0" rIns="0" bIns="0" rtlCol="0" anchor="ctr"/>
          <a:lstStyle/>
          <a:p>
            <a:pPr marL="0" indent="0" algn="ctr">
              <a:buNone/>
            </a:pPr>
            <a:r>
              <a:rPr lang="en-US" sz="1200" b="1" dirty="0">
                <a:solidFill>
                  <a:srgbClr val="FFFFFF"/>
                </a:solidFill>
              </a:rPr>
              <a:t>👨‍</a:t>
            </a:r>
            <a:r>
              <a:rPr lang="en-US" sz="1200" b="1" dirty="0" smtClean="0">
                <a:solidFill>
                  <a:srgbClr val="FFFFFF"/>
                </a:solidFill>
              </a:rPr>
              <a:t>🍳    </a:t>
            </a:r>
            <a:r>
              <a:rPr lang="en-US" sz="1200" b="1" dirty="0">
                <a:solidFill>
                  <a:srgbClr val="FFFFFF"/>
                </a:solidFill>
              </a:rPr>
              <a:t>Kitchen Order Management</a:t>
            </a:r>
            <a:endParaRPr lang="en-US" sz="1200" dirty="0"/>
          </a:p>
        </p:txBody>
      </p:sp>
      <p:sp>
        <p:nvSpPr>
          <p:cNvPr id="7" name="Shape 5"/>
          <p:cNvSpPr/>
          <p:nvPr/>
        </p:nvSpPr>
        <p:spPr>
          <a:xfrm>
            <a:off x="457200" y="1298448"/>
            <a:ext cx="3840480" cy="80467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8" name="Shape 6"/>
          <p:cNvSpPr/>
          <p:nvPr/>
        </p:nvSpPr>
        <p:spPr>
          <a:xfrm>
            <a:off x="457200" y="1298448"/>
            <a:ext cx="640080" cy="804672"/>
          </a:xfrm>
          <a:prstGeom prst="rect">
            <a:avLst/>
          </a:prstGeom>
          <a:solidFill>
            <a:srgbClr val="F59E0B"/>
          </a:solidFill>
          <a:ln w="12700">
            <a:solidFill>
              <a:srgbClr val="F59E0B"/>
            </a:solidFill>
            <a:prstDash val="solid"/>
          </a:ln>
        </p:spPr>
      </p:sp>
      <p:sp>
        <p:nvSpPr>
          <p:cNvPr id="9" name="Text 7"/>
          <p:cNvSpPr/>
          <p:nvPr/>
        </p:nvSpPr>
        <p:spPr>
          <a:xfrm>
            <a:off x="457200" y="1298448"/>
            <a:ext cx="640080" cy="804672"/>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2200" dirty="0"/>
          </a:p>
        </p:txBody>
      </p:sp>
      <p:sp>
        <p:nvSpPr>
          <p:cNvPr id="10" name="Text 8"/>
          <p:cNvSpPr/>
          <p:nvPr/>
        </p:nvSpPr>
        <p:spPr>
          <a:xfrm>
            <a:off x="1170432" y="1353312"/>
            <a:ext cx="3017520" cy="274320"/>
          </a:xfrm>
          <a:prstGeom prst="rect">
            <a:avLst/>
          </a:prstGeom>
          <a:noFill/>
          <a:ln/>
        </p:spPr>
        <p:txBody>
          <a:bodyPr wrap="square" lIns="0" tIns="0" rIns="0" bIns="0" rtlCol="0" anchor="ctr"/>
          <a:lstStyle/>
          <a:p>
            <a:pPr marL="0" indent="0">
              <a:buNone/>
            </a:pPr>
            <a:r>
              <a:rPr lang="en-US" sz="1200" b="1" dirty="0">
                <a:solidFill>
                  <a:srgbClr val="F59E0B"/>
                </a:solidFill>
              </a:rPr>
              <a:t>PENDING</a:t>
            </a:r>
            <a:endParaRPr lang="en-US" sz="1200" dirty="0"/>
          </a:p>
        </p:txBody>
      </p:sp>
      <p:sp>
        <p:nvSpPr>
          <p:cNvPr id="11" name="Text 9"/>
          <p:cNvSpPr/>
          <p:nvPr/>
        </p:nvSpPr>
        <p:spPr>
          <a:xfrm>
            <a:off x="1170432" y="1645920"/>
            <a:ext cx="3017520" cy="320040"/>
          </a:xfrm>
          <a:prstGeom prst="rect">
            <a:avLst/>
          </a:prstGeom>
          <a:noFill/>
          <a:ln/>
        </p:spPr>
        <p:txBody>
          <a:bodyPr wrap="square" lIns="0" tIns="0" rIns="0" bIns="0" rtlCol="0" anchor="ctr"/>
          <a:lstStyle/>
          <a:p>
            <a:pPr marL="0" indent="0">
              <a:buNone/>
            </a:pPr>
            <a:r>
              <a:rPr lang="en-US" sz="1000" dirty="0">
                <a:solidFill>
                  <a:srgbClr val="334155"/>
                </a:solidFill>
              </a:rPr>
              <a:t>Meal plan approved, order queued</a:t>
            </a:r>
            <a:endParaRPr lang="en-US" sz="1000" dirty="0"/>
          </a:p>
        </p:txBody>
      </p:sp>
      <p:sp>
        <p:nvSpPr>
          <p:cNvPr id="12" name="Shape 10"/>
          <p:cNvSpPr/>
          <p:nvPr/>
        </p:nvSpPr>
        <p:spPr>
          <a:xfrm>
            <a:off x="457200" y="2304288"/>
            <a:ext cx="3840480" cy="80467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3" name="Shape 11"/>
          <p:cNvSpPr/>
          <p:nvPr/>
        </p:nvSpPr>
        <p:spPr>
          <a:xfrm>
            <a:off x="457200" y="2304288"/>
            <a:ext cx="640080" cy="804672"/>
          </a:xfrm>
          <a:prstGeom prst="rect">
            <a:avLst/>
          </a:prstGeom>
          <a:solidFill>
            <a:srgbClr val="0EA5E9"/>
          </a:solidFill>
          <a:ln w="12700">
            <a:solidFill>
              <a:srgbClr val="0EA5E9"/>
            </a:solidFill>
            <a:prstDash val="solid"/>
          </a:ln>
        </p:spPr>
      </p:sp>
      <p:sp>
        <p:nvSpPr>
          <p:cNvPr id="14" name="Text 12"/>
          <p:cNvSpPr/>
          <p:nvPr/>
        </p:nvSpPr>
        <p:spPr>
          <a:xfrm>
            <a:off x="457200" y="2304288"/>
            <a:ext cx="640080" cy="804672"/>
          </a:xfrm>
          <a:prstGeom prst="rect">
            <a:avLst/>
          </a:prstGeom>
          <a:noFill/>
          <a:ln/>
        </p:spPr>
        <p:txBody>
          <a:bodyPr wrap="square" lIns="0" tIns="0" rIns="0" bIns="0" rtlCol="0" anchor="ctr"/>
          <a:lstStyle/>
          <a:p>
            <a:pPr marL="0" indent="0">
              <a:buNone/>
            </a:pPr>
            <a:r>
              <a:rPr lang="en-US" sz="3600" dirty="0">
                <a:solidFill>
                  <a:srgbClr val="000000"/>
                </a:solidFill>
              </a:rPr>
              <a:t>🔄</a:t>
            </a:r>
            <a:endParaRPr lang="en-US" sz="3600" dirty="0"/>
          </a:p>
        </p:txBody>
      </p:sp>
      <p:sp>
        <p:nvSpPr>
          <p:cNvPr id="15" name="Text 13"/>
          <p:cNvSpPr/>
          <p:nvPr/>
        </p:nvSpPr>
        <p:spPr>
          <a:xfrm>
            <a:off x="1170432" y="2359152"/>
            <a:ext cx="3017520" cy="274320"/>
          </a:xfrm>
          <a:prstGeom prst="rect">
            <a:avLst/>
          </a:prstGeom>
          <a:noFill/>
          <a:ln/>
        </p:spPr>
        <p:txBody>
          <a:bodyPr wrap="square" lIns="0" tIns="0" rIns="0" bIns="0" rtlCol="0" anchor="ctr"/>
          <a:lstStyle/>
          <a:p>
            <a:pPr marL="0" indent="0">
              <a:buNone/>
            </a:pPr>
            <a:r>
              <a:rPr lang="en-US" sz="1200" b="1" dirty="0">
                <a:solidFill>
                  <a:srgbClr val="0EA5E9"/>
                </a:solidFill>
              </a:rPr>
              <a:t>PREPARING</a:t>
            </a:r>
            <a:endParaRPr lang="en-US" sz="1200" dirty="0"/>
          </a:p>
        </p:txBody>
      </p:sp>
      <p:sp>
        <p:nvSpPr>
          <p:cNvPr id="16" name="Text 14"/>
          <p:cNvSpPr/>
          <p:nvPr/>
        </p:nvSpPr>
        <p:spPr>
          <a:xfrm>
            <a:off x="1170432" y="2651760"/>
            <a:ext cx="3017520" cy="320040"/>
          </a:xfrm>
          <a:prstGeom prst="rect">
            <a:avLst/>
          </a:prstGeom>
          <a:noFill/>
          <a:ln/>
        </p:spPr>
        <p:txBody>
          <a:bodyPr wrap="square" lIns="0" tIns="0" rIns="0" bIns="0" rtlCol="0" anchor="ctr"/>
          <a:lstStyle/>
          <a:p>
            <a:pPr marL="0" indent="0">
              <a:buNone/>
            </a:pPr>
            <a:r>
              <a:rPr lang="en-US" sz="1000" dirty="0">
                <a:solidFill>
                  <a:srgbClr val="334155"/>
                </a:solidFill>
              </a:rPr>
              <a:t>Kitchen staff started cooking</a:t>
            </a:r>
            <a:endParaRPr lang="en-US" sz="1000" dirty="0"/>
          </a:p>
        </p:txBody>
      </p:sp>
      <p:sp>
        <p:nvSpPr>
          <p:cNvPr id="17" name="Shape 15"/>
          <p:cNvSpPr/>
          <p:nvPr/>
        </p:nvSpPr>
        <p:spPr>
          <a:xfrm>
            <a:off x="457200" y="3310128"/>
            <a:ext cx="3840480" cy="804672"/>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8" name="Shape 16"/>
          <p:cNvSpPr/>
          <p:nvPr/>
        </p:nvSpPr>
        <p:spPr>
          <a:xfrm>
            <a:off x="457200" y="3310128"/>
            <a:ext cx="640080" cy="804672"/>
          </a:xfrm>
          <a:prstGeom prst="rect">
            <a:avLst/>
          </a:prstGeom>
          <a:solidFill>
            <a:srgbClr val="10B981"/>
          </a:solidFill>
          <a:ln w="12700">
            <a:solidFill>
              <a:srgbClr val="10B981"/>
            </a:solidFill>
            <a:prstDash val="solid"/>
          </a:ln>
        </p:spPr>
      </p:sp>
      <p:sp>
        <p:nvSpPr>
          <p:cNvPr id="19" name="Text 17"/>
          <p:cNvSpPr/>
          <p:nvPr/>
        </p:nvSpPr>
        <p:spPr>
          <a:xfrm>
            <a:off x="457200" y="3310128"/>
            <a:ext cx="640080" cy="804672"/>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20" name="Text 18"/>
          <p:cNvSpPr/>
          <p:nvPr/>
        </p:nvSpPr>
        <p:spPr>
          <a:xfrm>
            <a:off x="1170432" y="3364992"/>
            <a:ext cx="3017520" cy="274320"/>
          </a:xfrm>
          <a:prstGeom prst="rect">
            <a:avLst/>
          </a:prstGeom>
          <a:noFill/>
          <a:ln/>
        </p:spPr>
        <p:txBody>
          <a:bodyPr wrap="square" lIns="0" tIns="0" rIns="0" bIns="0" rtlCol="0" anchor="ctr"/>
          <a:lstStyle/>
          <a:p>
            <a:pPr marL="0" indent="0">
              <a:buNone/>
            </a:pPr>
            <a:r>
              <a:rPr lang="en-US" sz="1200" b="1" dirty="0">
                <a:solidFill>
                  <a:srgbClr val="10B981"/>
                </a:solidFill>
              </a:rPr>
              <a:t>DELIVERED</a:t>
            </a:r>
            <a:endParaRPr lang="en-US" sz="1200" dirty="0"/>
          </a:p>
        </p:txBody>
      </p:sp>
      <p:sp>
        <p:nvSpPr>
          <p:cNvPr id="21" name="Text 19"/>
          <p:cNvSpPr/>
          <p:nvPr/>
        </p:nvSpPr>
        <p:spPr>
          <a:xfrm>
            <a:off x="1170432" y="3657600"/>
            <a:ext cx="3017520" cy="320040"/>
          </a:xfrm>
          <a:prstGeom prst="rect">
            <a:avLst/>
          </a:prstGeom>
          <a:noFill/>
          <a:ln/>
        </p:spPr>
        <p:txBody>
          <a:bodyPr wrap="square" lIns="0" tIns="0" rIns="0" bIns="0" rtlCol="0" anchor="ctr"/>
          <a:lstStyle/>
          <a:p>
            <a:pPr marL="0" indent="0">
              <a:buNone/>
            </a:pPr>
            <a:r>
              <a:rPr lang="en-US" sz="1000" dirty="0">
                <a:solidFill>
                  <a:srgbClr val="334155"/>
                </a:solidFill>
              </a:rPr>
              <a:t>Meal delivered to ward &amp; bed</a:t>
            </a:r>
            <a:endParaRPr lang="en-US" sz="1000" dirty="0"/>
          </a:p>
        </p:txBody>
      </p:sp>
      <p:sp>
        <p:nvSpPr>
          <p:cNvPr id="22" name="Shape 20"/>
          <p:cNvSpPr/>
          <p:nvPr/>
        </p:nvSpPr>
        <p:spPr>
          <a:xfrm>
            <a:off x="457200" y="4242816"/>
            <a:ext cx="109728" cy="109728"/>
          </a:xfrm>
          <a:prstGeom prst="ellipse">
            <a:avLst/>
          </a:prstGeom>
          <a:solidFill>
            <a:srgbClr val="0D9488"/>
          </a:solidFill>
          <a:ln w="12700">
            <a:solidFill>
              <a:srgbClr val="0D9488"/>
            </a:solidFill>
            <a:prstDash val="solid"/>
          </a:ln>
        </p:spPr>
      </p:sp>
      <p:sp>
        <p:nvSpPr>
          <p:cNvPr id="23" name="Text 21"/>
          <p:cNvSpPr/>
          <p:nvPr/>
        </p:nvSpPr>
        <p:spPr>
          <a:xfrm>
            <a:off x="640080" y="4197096"/>
            <a:ext cx="3657600" cy="201168"/>
          </a:xfrm>
          <a:prstGeom prst="rect">
            <a:avLst/>
          </a:prstGeom>
          <a:noFill/>
          <a:ln/>
        </p:spPr>
        <p:txBody>
          <a:bodyPr wrap="square" lIns="0" tIns="0" rIns="0" bIns="0" rtlCol="0" anchor="ctr"/>
          <a:lstStyle/>
          <a:p>
            <a:pPr marL="0" indent="0">
              <a:buNone/>
            </a:pPr>
            <a:r>
              <a:rPr lang="en-US" sz="900" dirty="0">
                <a:solidFill>
                  <a:srgbClr val="64748B"/>
                </a:solidFill>
              </a:rPr>
              <a:t>Filter by date, ward, status, patient name</a:t>
            </a:r>
            <a:endParaRPr lang="en-US" sz="900" dirty="0"/>
          </a:p>
        </p:txBody>
      </p:sp>
      <p:sp>
        <p:nvSpPr>
          <p:cNvPr id="24" name="Shape 22"/>
          <p:cNvSpPr/>
          <p:nvPr/>
        </p:nvSpPr>
        <p:spPr>
          <a:xfrm>
            <a:off x="457200" y="4407408"/>
            <a:ext cx="109728" cy="109728"/>
          </a:xfrm>
          <a:prstGeom prst="ellipse">
            <a:avLst/>
          </a:prstGeom>
          <a:solidFill>
            <a:srgbClr val="0D9488"/>
          </a:solidFill>
          <a:ln w="12700">
            <a:solidFill>
              <a:srgbClr val="0D9488"/>
            </a:solidFill>
            <a:prstDash val="solid"/>
          </a:ln>
        </p:spPr>
      </p:sp>
      <p:sp>
        <p:nvSpPr>
          <p:cNvPr id="25" name="Text 23"/>
          <p:cNvSpPr/>
          <p:nvPr/>
        </p:nvSpPr>
        <p:spPr>
          <a:xfrm>
            <a:off x="640080" y="4361688"/>
            <a:ext cx="3657600" cy="201168"/>
          </a:xfrm>
          <a:prstGeom prst="rect">
            <a:avLst/>
          </a:prstGeom>
          <a:noFill/>
          <a:ln/>
        </p:spPr>
        <p:txBody>
          <a:bodyPr wrap="square" lIns="0" tIns="0" rIns="0" bIns="0" rtlCol="0" anchor="ctr"/>
          <a:lstStyle/>
          <a:p>
            <a:pPr marL="0" indent="0">
              <a:buNone/>
            </a:pPr>
            <a:r>
              <a:rPr lang="en-US" sz="900" dirty="0">
                <a:solidFill>
                  <a:srgbClr val="64748B"/>
                </a:solidFill>
              </a:rPr>
              <a:t>Table View and Card View toggle</a:t>
            </a:r>
            <a:endParaRPr lang="en-US" sz="900" dirty="0"/>
          </a:p>
        </p:txBody>
      </p:sp>
      <p:sp>
        <p:nvSpPr>
          <p:cNvPr id="26" name="Shape 24"/>
          <p:cNvSpPr/>
          <p:nvPr/>
        </p:nvSpPr>
        <p:spPr>
          <a:xfrm>
            <a:off x="457200" y="4572000"/>
            <a:ext cx="109728" cy="109728"/>
          </a:xfrm>
          <a:prstGeom prst="ellipse">
            <a:avLst/>
          </a:prstGeom>
          <a:solidFill>
            <a:srgbClr val="0D9488"/>
          </a:solidFill>
          <a:ln w="12700">
            <a:solidFill>
              <a:srgbClr val="0D9488"/>
            </a:solidFill>
            <a:prstDash val="solid"/>
          </a:ln>
        </p:spPr>
      </p:sp>
      <p:sp>
        <p:nvSpPr>
          <p:cNvPr id="27" name="Text 25"/>
          <p:cNvSpPr/>
          <p:nvPr/>
        </p:nvSpPr>
        <p:spPr>
          <a:xfrm>
            <a:off x="640080" y="4526280"/>
            <a:ext cx="3657600" cy="201168"/>
          </a:xfrm>
          <a:prstGeom prst="rect">
            <a:avLst/>
          </a:prstGeom>
          <a:noFill/>
          <a:ln/>
        </p:spPr>
        <p:txBody>
          <a:bodyPr wrap="square" lIns="0" tIns="0" rIns="0" bIns="0" rtlCol="0" anchor="ctr"/>
          <a:lstStyle/>
          <a:p>
            <a:pPr marL="0" indent="0">
              <a:buNone/>
            </a:pPr>
            <a:r>
              <a:rPr lang="en-US" sz="900" dirty="0">
                <a:solidFill>
                  <a:srgbClr val="64748B"/>
                </a:solidFill>
              </a:rPr>
              <a:t>Mark all orders delivered in one click</a:t>
            </a:r>
            <a:endParaRPr lang="en-US" sz="900" dirty="0"/>
          </a:p>
        </p:txBody>
      </p:sp>
      <p:sp>
        <p:nvSpPr>
          <p:cNvPr id="28" name="Shape 26"/>
          <p:cNvSpPr/>
          <p:nvPr/>
        </p:nvSpPr>
        <p:spPr>
          <a:xfrm>
            <a:off x="457200" y="4736592"/>
            <a:ext cx="109728" cy="109728"/>
          </a:xfrm>
          <a:prstGeom prst="ellipse">
            <a:avLst/>
          </a:prstGeom>
          <a:solidFill>
            <a:srgbClr val="0D9488"/>
          </a:solidFill>
          <a:ln w="12700">
            <a:solidFill>
              <a:srgbClr val="0D9488"/>
            </a:solidFill>
            <a:prstDash val="solid"/>
          </a:ln>
        </p:spPr>
      </p:sp>
      <p:sp>
        <p:nvSpPr>
          <p:cNvPr id="29" name="Text 27"/>
          <p:cNvSpPr/>
          <p:nvPr/>
        </p:nvSpPr>
        <p:spPr>
          <a:xfrm>
            <a:off x="640080" y="4690872"/>
            <a:ext cx="3657600" cy="201168"/>
          </a:xfrm>
          <a:prstGeom prst="rect">
            <a:avLst/>
          </a:prstGeom>
          <a:noFill/>
          <a:ln/>
        </p:spPr>
        <p:txBody>
          <a:bodyPr wrap="square" lIns="0" tIns="0" rIns="0" bIns="0" rtlCol="0" anchor="ctr"/>
          <a:lstStyle/>
          <a:p>
            <a:pPr marL="0" indent="0">
              <a:buNone/>
            </a:pPr>
            <a:r>
              <a:rPr lang="en-US" sz="900" dirty="0">
                <a:solidFill>
                  <a:srgbClr val="64748B"/>
                </a:solidFill>
              </a:rPr>
              <a:t>Auto-created from approved meal plans</a:t>
            </a:r>
            <a:endParaRPr lang="en-US" sz="900" dirty="0"/>
          </a:p>
        </p:txBody>
      </p:sp>
      <p:sp>
        <p:nvSpPr>
          <p:cNvPr id="30" name="Shape 28"/>
          <p:cNvSpPr/>
          <p:nvPr/>
        </p:nvSpPr>
        <p:spPr>
          <a:xfrm>
            <a:off x="4754880" y="777240"/>
            <a:ext cx="4069080" cy="4223824"/>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1" name="Shape 29"/>
          <p:cNvSpPr/>
          <p:nvPr/>
        </p:nvSpPr>
        <p:spPr>
          <a:xfrm>
            <a:off x="4754880" y="777240"/>
            <a:ext cx="4069080" cy="365760"/>
          </a:xfrm>
          <a:prstGeom prst="rect">
            <a:avLst/>
          </a:prstGeom>
          <a:solidFill>
            <a:srgbClr val="0D9488"/>
          </a:solidFill>
          <a:ln w="12700">
            <a:solidFill>
              <a:srgbClr val="0D9488"/>
            </a:solidFill>
            <a:prstDash val="solid"/>
          </a:ln>
        </p:spPr>
      </p:sp>
      <p:sp>
        <p:nvSpPr>
          <p:cNvPr id="32" name="Text 30"/>
          <p:cNvSpPr/>
          <p:nvPr/>
        </p:nvSpPr>
        <p:spPr>
          <a:xfrm>
            <a:off x="4754880" y="777240"/>
            <a:ext cx="4069080" cy="365760"/>
          </a:xfrm>
          <a:prstGeom prst="rect">
            <a:avLst/>
          </a:prstGeom>
          <a:noFill/>
          <a:ln/>
        </p:spPr>
        <p:txBody>
          <a:bodyPr wrap="square" lIns="0" tIns="0" rIns="0" bIns="0" rtlCol="0" anchor="ctr"/>
          <a:lstStyle/>
          <a:p>
            <a:pPr marL="0" indent="0" algn="ctr">
              <a:buNone/>
            </a:pPr>
            <a:r>
              <a:rPr lang="en-US" sz="1200" b="1" dirty="0">
                <a:solidFill>
                  <a:srgbClr val="FFFFFF"/>
                </a:solidFill>
              </a:rPr>
              <a:t>✅  Approval Workflow</a:t>
            </a:r>
            <a:endParaRPr lang="en-US" sz="1200" dirty="0"/>
          </a:p>
        </p:txBody>
      </p:sp>
      <p:sp>
        <p:nvSpPr>
          <p:cNvPr id="33" name="Shape 31"/>
          <p:cNvSpPr/>
          <p:nvPr/>
        </p:nvSpPr>
        <p:spPr>
          <a:xfrm>
            <a:off x="4892040" y="1298448"/>
            <a:ext cx="3794760" cy="74980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4" name="Shape 32"/>
          <p:cNvSpPr/>
          <p:nvPr/>
        </p:nvSpPr>
        <p:spPr>
          <a:xfrm>
            <a:off x="5011618" y="1435608"/>
            <a:ext cx="475488" cy="475488"/>
          </a:xfrm>
          <a:prstGeom prst="ellipse">
            <a:avLst/>
          </a:prstGeom>
          <a:solidFill>
            <a:srgbClr val="0EA5E9"/>
          </a:solidFill>
          <a:ln w="12700">
            <a:solidFill>
              <a:srgbClr val="0EA5E9"/>
            </a:solidFill>
            <a:prstDash val="solid"/>
          </a:ln>
        </p:spPr>
      </p:sp>
      <p:sp>
        <p:nvSpPr>
          <p:cNvPr id="35" name="Text 33"/>
          <p:cNvSpPr/>
          <p:nvPr/>
        </p:nvSpPr>
        <p:spPr>
          <a:xfrm>
            <a:off x="5004584" y="143560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36" name="Text 34"/>
          <p:cNvSpPr/>
          <p:nvPr/>
        </p:nvSpPr>
        <p:spPr>
          <a:xfrm>
            <a:off x="5556738" y="1353312"/>
            <a:ext cx="3047766" cy="274320"/>
          </a:xfrm>
          <a:prstGeom prst="rect">
            <a:avLst/>
          </a:prstGeom>
          <a:noFill/>
          <a:ln/>
        </p:spPr>
        <p:txBody>
          <a:bodyPr wrap="square" lIns="0" tIns="0" rIns="0" bIns="0" rtlCol="0" anchor="ctr"/>
          <a:lstStyle/>
          <a:p>
            <a:pPr marL="0" indent="0">
              <a:buNone/>
            </a:pPr>
            <a:r>
              <a:rPr lang="en-US" sz="1100" b="1" dirty="0">
                <a:solidFill>
                  <a:srgbClr val="0A2463"/>
                </a:solidFill>
              </a:rPr>
              <a:t>Dietitian creates meal plan</a:t>
            </a:r>
            <a:endParaRPr lang="en-US" sz="1100" dirty="0"/>
          </a:p>
        </p:txBody>
      </p:sp>
      <p:sp>
        <p:nvSpPr>
          <p:cNvPr id="37" name="Text 35"/>
          <p:cNvSpPr/>
          <p:nvPr/>
        </p:nvSpPr>
        <p:spPr>
          <a:xfrm>
            <a:off x="5556738" y="1645920"/>
            <a:ext cx="3047766" cy="274320"/>
          </a:xfrm>
          <a:prstGeom prst="rect">
            <a:avLst/>
          </a:prstGeom>
          <a:noFill/>
          <a:ln/>
        </p:spPr>
        <p:txBody>
          <a:bodyPr wrap="square" lIns="0" tIns="0" rIns="0" bIns="0" rtlCol="0" anchor="ctr"/>
          <a:lstStyle/>
          <a:p>
            <a:pPr marL="0" indent="0">
              <a:buNone/>
            </a:pPr>
            <a:r>
              <a:rPr lang="en-US" sz="950" dirty="0">
                <a:solidFill>
                  <a:srgbClr val="64748B"/>
                </a:solidFill>
              </a:rPr>
              <a:t>Selects meals for each time slot</a:t>
            </a:r>
            <a:endParaRPr lang="en-US" sz="950" dirty="0"/>
          </a:p>
        </p:txBody>
      </p:sp>
      <p:sp>
        <p:nvSpPr>
          <p:cNvPr id="38" name="Shape 36"/>
          <p:cNvSpPr/>
          <p:nvPr/>
        </p:nvSpPr>
        <p:spPr>
          <a:xfrm>
            <a:off x="4892040" y="2194560"/>
            <a:ext cx="3794760" cy="74980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9" name="Shape 37"/>
          <p:cNvSpPr/>
          <p:nvPr/>
        </p:nvSpPr>
        <p:spPr>
          <a:xfrm>
            <a:off x="5011618" y="2331720"/>
            <a:ext cx="475488" cy="475488"/>
          </a:xfrm>
          <a:prstGeom prst="ellipse">
            <a:avLst/>
          </a:prstGeom>
          <a:solidFill>
            <a:srgbClr val="0D9488"/>
          </a:solidFill>
          <a:ln w="12700">
            <a:solidFill>
              <a:srgbClr val="0D9488"/>
            </a:solidFill>
            <a:prstDash val="solid"/>
          </a:ln>
        </p:spPr>
      </p:sp>
      <p:sp>
        <p:nvSpPr>
          <p:cNvPr id="40" name="Text 38"/>
          <p:cNvSpPr/>
          <p:nvPr/>
        </p:nvSpPr>
        <p:spPr>
          <a:xfrm>
            <a:off x="5011618" y="2331720"/>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41" name="Text 39"/>
          <p:cNvSpPr/>
          <p:nvPr/>
        </p:nvSpPr>
        <p:spPr>
          <a:xfrm>
            <a:off x="5556738" y="2249424"/>
            <a:ext cx="3047766" cy="274320"/>
          </a:xfrm>
          <a:prstGeom prst="rect">
            <a:avLst/>
          </a:prstGeom>
          <a:noFill/>
          <a:ln/>
        </p:spPr>
        <p:txBody>
          <a:bodyPr wrap="square" lIns="0" tIns="0" rIns="0" bIns="0" rtlCol="0" anchor="ctr"/>
          <a:lstStyle/>
          <a:p>
            <a:pPr marL="0" indent="0">
              <a:buNone/>
            </a:pPr>
            <a:r>
              <a:rPr lang="en-US" sz="1100" b="1" dirty="0">
                <a:solidFill>
                  <a:srgbClr val="0A2463"/>
                </a:solidFill>
              </a:rPr>
              <a:t>Plan saved as PENDING</a:t>
            </a:r>
            <a:endParaRPr lang="en-US" sz="1100" dirty="0"/>
          </a:p>
        </p:txBody>
      </p:sp>
      <p:sp>
        <p:nvSpPr>
          <p:cNvPr id="42" name="Text 40"/>
          <p:cNvSpPr/>
          <p:nvPr/>
        </p:nvSpPr>
        <p:spPr>
          <a:xfrm>
            <a:off x="5556738" y="2542032"/>
            <a:ext cx="3047766" cy="274320"/>
          </a:xfrm>
          <a:prstGeom prst="rect">
            <a:avLst/>
          </a:prstGeom>
          <a:noFill/>
          <a:ln/>
        </p:spPr>
        <p:txBody>
          <a:bodyPr wrap="square" lIns="0" tIns="0" rIns="0" bIns="0" rtlCol="0" anchor="ctr"/>
          <a:lstStyle/>
          <a:p>
            <a:pPr marL="0" indent="0">
              <a:buNone/>
            </a:pPr>
            <a:r>
              <a:rPr lang="en-US" sz="950" dirty="0">
                <a:solidFill>
                  <a:srgbClr val="64748B"/>
                </a:solidFill>
              </a:rPr>
              <a:t>Kitchen orders auto-generated</a:t>
            </a:r>
            <a:endParaRPr lang="en-US" sz="950" dirty="0"/>
          </a:p>
        </p:txBody>
      </p:sp>
      <p:sp>
        <p:nvSpPr>
          <p:cNvPr id="43" name="Shape 41"/>
          <p:cNvSpPr/>
          <p:nvPr/>
        </p:nvSpPr>
        <p:spPr>
          <a:xfrm>
            <a:off x="4892040" y="3090672"/>
            <a:ext cx="3794760" cy="74980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44" name="Shape 42"/>
          <p:cNvSpPr/>
          <p:nvPr/>
        </p:nvSpPr>
        <p:spPr>
          <a:xfrm>
            <a:off x="5025686" y="3227832"/>
            <a:ext cx="475488" cy="475488"/>
          </a:xfrm>
          <a:prstGeom prst="ellipse">
            <a:avLst/>
          </a:prstGeom>
          <a:solidFill>
            <a:srgbClr val="F59E0B"/>
          </a:solidFill>
          <a:ln w="12700">
            <a:solidFill>
              <a:srgbClr val="F59E0B"/>
            </a:solidFill>
            <a:prstDash val="solid"/>
          </a:ln>
        </p:spPr>
      </p:sp>
      <p:sp>
        <p:nvSpPr>
          <p:cNvPr id="45" name="Text 43"/>
          <p:cNvSpPr/>
          <p:nvPr/>
        </p:nvSpPr>
        <p:spPr>
          <a:xfrm>
            <a:off x="5004584" y="322783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46" name="Text 44"/>
          <p:cNvSpPr/>
          <p:nvPr/>
        </p:nvSpPr>
        <p:spPr>
          <a:xfrm>
            <a:off x="5556738" y="3145536"/>
            <a:ext cx="3047766" cy="274320"/>
          </a:xfrm>
          <a:prstGeom prst="rect">
            <a:avLst/>
          </a:prstGeom>
          <a:noFill/>
          <a:ln/>
        </p:spPr>
        <p:txBody>
          <a:bodyPr wrap="square" lIns="0" tIns="0" rIns="0" bIns="0" rtlCol="0" anchor="ctr"/>
          <a:lstStyle/>
          <a:p>
            <a:pPr marL="0" indent="0">
              <a:buNone/>
            </a:pPr>
            <a:r>
              <a:rPr lang="en-US" sz="1100" b="1" dirty="0">
                <a:solidFill>
                  <a:srgbClr val="0A2463"/>
                </a:solidFill>
              </a:rPr>
              <a:t>Admin reviews plan</a:t>
            </a:r>
            <a:endParaRPr lang="en-US" sz="1100" dirty="0"/>
          </a:p>
        </p:txBody>
      </p:sp>
      <p:sp>
        <p:nvSpPr>
          <p:cNvPr id="47" name="Text 45"/>
          <p:cNvSpPr/>
          <p:nvPr/>
        </p:nvSpPr>
        <p:spPr>
          <a:xfrm>
            <a:off x="5556738" y="3438144"/>
            <a:ext cx="3047766" cy="274320"/>
          </a:xfrm>
          <a:prstGeom prst="rect">
            <a:avLst/>
          </a:prstGeom>
          <a:noFill/>
          <a:ln/>
        </p:spPr>
        <p:txBody>
          <a:bodyPr wrap="square" lIns="0" tIns="0" rIns="0" bIns="0" rtlCol="0" anchor="ctr"/>
          <a:lstStyle/>
          <a:p>
            <a:pPr marL="0" indent="0">
              <a:buNone/>
            </a:pPr>
            <a:r>
              <a:rPr lang="en-US" sz="950" dirty="0">
                <a:solidFill>
                  <a:srgbClr val="64748B"/>
                </a:solidFill>
              </a:rPr>
              <a:t>Checks meals, calories, allergies</a:t>
            </a:r>
            <a:endParaRPr lang="en-US" sz="950" dirty="0"/>
          </a:p>
        </p:txBody>
      </p:sp>
      <p:sp>
        <p:nvSpPr>
          <p:cNvPr id="48" name="Shape 46"/>
          <p:cNvSpPr/>
          <p:nvPr/>
        </p:nvSpPr>
        <p:spPr>
          <a:xfrm>
            <a:off x="4892040" y="3986784"/>
            <a:ext cx="3794760" cy="749808"/>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49" name="Shape 47"/>
          <p:cNvSpPr/>
          <p:nvPr/>
        </p:nvSpPr>
        <p:spPr>
          <a:xfrm>
            <a:off x="5018652" y="4123944"/>
            <a:ext cx="475488" cy="475488"/>
          </a:xfrm>
          <a:prstGeom prst="ellipse">
            <a:avLst/>
          </a:prstGeom>
          <a:solidFill>
            <a:srgbClr val="10B981"/>
          </a:solidFill>
          <a:ln w="12700">
            <a:solidFill>
              <a:srgbClr val="10B981"/>
            </a:solidFill>
            <a:prstDash val="solid"/>
          </a:ln>
        </p:spPr>
      </p:sp>
      <p:sp>
        <p:nvSpPr>
          <p:cNvPr id="50" name="Text 48"/>
          <p:cNvSpPr/>
          <p:nvPr/>
        </p:nvSpPr>
        <p:spPr>
          <a:xfrm>
            <a:off x="5004584" y="412394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51" name="Text 49"/>
          <p:cNvSpPr/>
          <p:nvPr/>
        </p:nvSpPr>
        <p:spPr>
          <a:xfrm>
            <a:off x="5556738" y="4041648"/>
            <a:ext cx="3047766" cy="274320"/>
          </a:xfrm>
          <a:prstGeom prst="rect">
            <a:avLst/>
          </a:prstGeom>
          <a:noFill/>
          <a:ln/>
        </p:spPr>
        <p:txBody>
          <a:bodyPr wrap="square" lIns="0" tIns="0" rIns="0" bIns="0" rtlCol="0" anchor="ctr"/>
          <a:lstStyle/>
          <a:p>
            <a:pPr marL="0" indent="0">
              <a:buNone/>
            </a:pPr>
            <a:r>
              <a:rPr lang="en-US" sz="1100" b="1" dirty="0">
                <a:solidFill>
                  <a:srgbClr val="0A2463"/>
                </a:solidFill>
              </a:rPr>
              <a:t>Approve  /  Reject</a:t>
            </a:r>
            <a:endParaRPr lang="en-US" sz="1100" dirty="0"/>
          </a:p>
        </p:txBody>
      </p:sp>
      <p:sp>
        <p:nvSpPr>
          <p:cNvPr id="52" name="Text 50"/>
          <p:cNvSpPr/>
          <p:nvPr/>
        </p:nvSpPr>
        <p:spPr>
          <a:xfrm>
            <a:off x="5556738" y="4334256"/>
            <a:ext cx="3047766" cy="274320"/>
          </a:xfrm>
          <a:prstGeom prst="rect">
            <a:avLst/>
          </a:prstGeom>
          <a:noFill/>
          <a:ln/>
        </p:spPr>
        <p:txBody>
          <a:bodyPr wrap="square" lIns="0" tIns="0" rIns="0" bIns="0" rtlCol="0" anchor="ctr"/>
          <a:lstStyle/>
          <a:p>
            <a:pPr marL="0" indent="0">
              <a:buNone/>
            </a:pPr>
            <a:r>
              <a:rPr lang="en-US" sz="950" dirty="0">
                <a:solidFill>
                  <a:srgbClr val="64748B"/>
                </a:solidFill>
              </a:rPr>
              <a:t>Approved plans move to PREPARING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w="12700">
            <a:solidFill>
              <a:srgbClr val="0D9488"/>
            </a:solidFill>
            <a:prstDash val="solid"/>
          </a:ln>
        </p:spPr>
      </p:sp>
      <p:sp>
        <p:nvSpPr>
          <p:cNvPr id="3" name="Text 1"/>
          <p:cNvSpPr/>
          <p:nvPr/>
        </p:nvSpPr>
        <p:spPr>
          <a:xfrm>
            <a:off x="320040" y="256032"/>
            <a:ext cx="8503920" cy="411480"/>
          </a:xfrm>
          <a:prstGeom prst="rect">
            <a:avLst/>
          </a:prstGeom>
          <a:noFill/>
          <a:ln/>
        </p:spPr>
        <p:txBody>
          <a:bodyPr wrap="square" lIns="0" tIns="0" rIns="0" bIns="0" rtlCol="0" anchor="ctr"/>
          <a:lstStyle/>
          <a:p>
            <a:pPr marL="0" indent="0">
              <a:buNone/>
            </a:pPr>
            <a:r>
              <a:rPr lang="en-US" sz="2400" b="1" dirty="0">
                <a:solidFill>
                  <a:srgbClr val="0A2463"/>
                </a:solidFill>
                <a:latin typeface="Times New Roman" pitchFamily="18" charset="0"/>
                <a:cs typeface="Times New Roman" pitchFamily="18" charset="0"/>
              </a:rPr>
              <a:t>Technical Stack</a:t>
            </a:r>
            <a:endParaRPr lang="en-US" sz="2400" dirty="0">
              <a:latin typeface="Times New Roman" pitchFamily="18" charset="0"/>
              <a:cs typeface="Times New Roman" pitchFamily="18" charset="0"/>
            </a:endParaRPr>
          </a:p>
        </p:txBody>
      </p:sp>
      <p:sp>
        <p:nvSpPr>
          <p:cNvPr id="4" name="Shape 2"/>
          <p:cNvSpPr/>
          <p:nvPr/>
        </p:nvSpPr>
        <p:spPr>
          <a:xfrm>
            <a:off x="320040" y="713232"/>
            <a:ext cx="2743200" cy="274320"/>
          </a:xfrm>
          <a:prstGeom prst="roundRect">
            <a:avLst>
              <a:gd name="adj" fmla="val 16667"/>
            </a:avLst>
          </a:prstGeom>
          <a:solidFill>
            <a:srgbClr val="0D9488"/>
          </a:solidFill>
          <a:ln w="12700">
            <a:solidFill>
              <a:srgbClr val="0D9488"/>
            </a:solidFill>
            <a:prstDash val="solid"/>
          </a:ln>
        </p:spPr>
      </p:sp>
      <p:sp>
        <p:nvSpPr>
          <p:cNvPr id="5" name="Text 3"/>
          <p:cNvSpPr/>
          <p:nvPr/>
        </p:nvSpPr>
        <p:spPr>
          <a:xfrm>
            <a:off x="320040" y="713232"/>
            <a:ext cx="2743200" cy="274320"/>
          </a:xfrm>
          <a:prstGeom prst="rect">
            <a:avLst/>
          </a:prstGeom>
          <a:noFill/>
          <a:ln/>
        </p:spPr>
        <p:txBody>
          <a:bodyPr wrap="square" lIns="0" tIns="0" rIns="0" bIns="0" rtlCol="0" anchor="ctr"/>
          <a:lstStyle/>
          <a:p>
            <a:pPr marL="0" indent="0" algn="ctr">
              <a:buNone/>
            </a:pPr>
            <a:r>
              <a:rPr lang="en-US" sz="900" b="1" dirty="0">
                <a:solidFill>
                  <a:srgbClr val="FFFFFF"/>
                </a:solidFill>
              </a:rPr>
              <a:t>FULL STACK WEB DEVELOPMENT</a:t>
            </a:r>
            <a:endParaRPr lang="en-US" sz="900" dirty="0"/>
          </a:p>
        </p:txBody>
      </p:sp>
      <p:sp>
        <p:nvSpPr>
          <p:cNvPr id="6" name="Shape 4"/>
          <p:cNvSpPr/>
          <p:nvPr/>
        </p:nvSpPr>
        <p:spPr>
          <a:xfrm>
            <a:off x="201168" y="1115568"/>
            <a:ext cx="2084832" cy="33832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7" name="Shape 5"/>
          <p:cNvSpPr/>
          <p:nvPr/>
        </p:nvSpPr>
        <p:spPr>
          <a:xfrm>
            <a:off x="201168" y="1115568"/>
            <a:ext cx="2084832" cy="475488"/>
          </a:xfrm>
          <a:prstGeom prst="rect">
            <a:avLst/>
          </a:prstGeom>
          <a:solidFill>
            <a:srgbClr val="0EA5E9"/>
          </a:solidFill>
          <a:ln w="12700">
            <a:solidFill>
              <a:srgbClr val="0EA5E9"/>
            </a:solidFill>
            <a:prstDash val="solid"/>
          </a:ln>
        </p:spPr>
      </p:sp>
      <p:sp>
        <p:nvSpPr>
          <p:cNvPr id="8" name="Text 6"/>
          <p:cNvSpPr/>
          <p:nvPr/>
        </p:nvSpPr>
        <p:spPr>
          <a:xfrm>
            <a:off x="201168" y="1115568"/>
            <a:ext cx="475488" cy="47548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9" name="Text 7"/>
          <p:cNvSpPr/>
          <p:nvPr/>
        </p:nvSpPr>
        <p:spPr>
          <a:xfrm>
            <a:off x="704088" y="1115568"/>
            <a:ext cx="1536192" cy="475488"/>
          </a:xfrm>
          <a:prstGeom prst="rect">
            <a:avLst/>
          </a:prstGeom>
          <a:noFill/>
          <a:ln/>
        </p:spPr>
        <p:txBody>
          <a:bodyPr wrap="square" lIns="0" tIns="0" rIns="0" bIns="0" rtlCol="0" anchor="ctr"/>
          <a:lstStyle/>
          <a:p>
            <a:pPr marL="0" indent="0" algn="l">
              <a:buNone/>
            </a:pPr>
            <a:r>
              <a:rPr lang="en-US" sz="1000" b="1" dirty="0">
                <a:solidFill>
                  <a:srgbClr val="FFFFFF"/>
                </a:solidFill>
              </a:rPr>
              <a:t>FRONTEND</a:t>
            </a:r>
            <a:endParaRPr lang="en-US" sz="1000" dirty="0"/>
          </a:p>
        </p:txBody>
      </p:sp>
      <p:sp>
        <p:nvSpPr>
          <p:cNvPr id="10" name="Shape 8"/>
          <p:cNvSpPr/>
          <p:nvPr/>
        </p:nvSpPr>
        <p:spPr>
          <a:xfrm>
            <a:off x="365760" y="1768310"/>
            <a:ext cx="128016" cy="128016"/>
          </a:xfrm>
          <a:prstGeom prst="ellipse">
            <a:avLst/>
          </a:prstGeom>
          <a:solidFill>
            <a:srgbClr val="0EA5E9"/>
          </a:solidFill>
          <a:ln w="12700">
            <a:solidFill>
              <a:srgbClr val="0EA5E9"/>
            </a:solidFill>
            <a:prstDash val="solid"/>
          </a:ln>
        </p:spPr>
      </p:sp>
      <p:sp>
        <p:nvSpPr>
          <p:cNvPr id="11" name="Text 9"/>
          <p:cNvSpPr/>
          <p:nvPr/>
        </p:nvSpPr>
        <p:spPr>
          <a:xfrm>
            <a:off x="566928" y="1664208"/>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HTML5 — Semantic structure, 10 pages</a:t>
            </a:r>
            <a:endParaRPr lang="en-US" sz="950" dirty="0"/>
          </a:p>
        </p:txBody>
      </p:sp>
      <p:sp>
        <p:nvSpPr>
          <p:cNvPr id="12" name="Shape 10"/>
          <p:cNvSpPr/>
          <p:nvPr/>
        </p:nvSpPr>
        <p:spPr>
          <a:xfrm>
            <a:off x="365760" y="2304288"/>
            <a:ext cx="128016" cy="128016"/>
          </a:xfrm>
          <a:prstGeom prst="ellipse">
            <a:avLst/>
          </a:prstGeom>
          <a:solidFill>
            <a:srgbClr val="0EA5E9"/>
          </a:solidFill>
          <a:ln w="12700">
            <a:solidFill>
              <a:srgbClr val="0EA5E9"/>
            </a:solidFill>
            <a:prstDash val="solid"/>
          </a:ln>
        </p:spPr>
      </p:sp>
      <p:sp>
        <p:nvSpPr>
          <p:cNvPr id="13" name="Text 11"/>
          <p:cNvSpPr/>
          <p:nvPr/>
        </p:nvSpPr>
        <p:spPr>
          <a:xfrm>
            <a:off x="566928" y="2129846"/>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CSS3 — Flexbox, Grid, animations</a:t>
            </a:r>
            <a:endParaRPr lang="en-US" sz="950" dirty="0"/>
          </a:p>
        </p:txBody>
      </p:sp>
      <p:sp>
        <p:nvSpPr>
          <p:cNvPr id="14" name="Shape 12"/>
          <p:cNvSpPr/>
          <p:nvPr/>
        </p:nvSpPr>
        <p:spPr>
          <a:xfrm>
            <a:off x="365760" y="2791028"/>
            <a:ext cx="128016" cy="128016"/>
          </a:xfrm>
          <a:prstGeom prst="ellipse">
            <a:avLst/>
          </a:prstGeom>
          <a:solidFill>
            <a:srgbClr val="0EA5E9"/>
          </a:solidFill>
          <a:ln w="12700">
            <a:solidFill>
              <a:srgbClr val="0EA5E9"/>
            </a:solidFill>
            <a:prstDash val="solid"/>
          </a:ln>
        </p:spPr>
      </p:sp>
      <p:sp>
        <p:nvSpPr>
          <p:cNvPr id="15" name="Text 13"/>
          <p:cNvSpPr/>
          <p:nvPr/>
        </p:nvSpPr>
        <p:spPr>
          <a:xfrm>
            <a:off x="566928" y="2672858"/>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JavaScript ES6+ — DOM, modules, localStorage</a:t>
            </a:r>
            <a:endParaRPr lang="en-US" sz="950" dirty="0"/>
          </a:p>
        </p:txBody>
      </p:sp>
      <p:sp>
        <p:nvSpPr>
          <p:cNvPr id="16" name="Shape 14"/>
          <p:cNvSpPr/>
          <p:nvPr/>
        </p:nvSpPr>
        <p:spPr>
          <a:xfrm>
            <a:off x="365760" y="3284802"/>
            <a:ext cx="128016" cy="128016"/>
          </a:xfrm>
          <a:prstGeom prst="ellipse">
            <a:avLst/>
          </a:prstGeom>
          <a:solidFill>
            <a:srgbClr val="0EA5E9"/>
          </a:solidFill>
          <a:ln w="12700">
            <a:solidFill>
              <a:srgbClr val="0EA5E9"/>
            </a:solidFill>
            <a:prstDash val="solid"/>
          </a:ln>
        </p:spPr>
      </p:sp>
      <p:sp>
        <p:nvSpPr>
          <p:cNvPr id="17" name="Text 15"/>
          <p:cNvSpPr/>
          <p:nvPr/>
        </p:nvSpPr>
        <p:spPr>
          <a:xfrm>
            <a:off x="566928" y="3110360"/>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Chart.js — Monthly bar charts</a:t>
            </a:r>
            <a:endParaRPr lang="en-US" sz="950" dirty="0"/>
          </a:p>
        </p:txBody>
      </p:sp>
      <p:sp>
        <p:nvSpPr>
          <p:cNvPr id="18" name="Shape 16"/>
          <p:cNvSpPr/>
          <p:nvPr/>
        </p:nvSpPr>
        <p:spPr>
          <a:xfrm>
            <a:off x="365760" y="3743406"/>
            <a:ext cx="128016" cy="128016"/>
          </a:xfrm>
          <a:prstGeom prst="ellipse">
            <a:avLst/>
          </a:prstGeom>
          <a:solidFill>
            <a:srgbClr val="0EA5E9"/>
          </a:solidFill>
          <a:ln w="12700">
            <a:solidFill>
              <a:srgbClr val="0EA5E9"/>
            </a:solidFill>
            <a:prstDash val="solid"/>
          </a:ln>
        </p:spPr>
      </p:sp>
      <p:sp>
        <p:nvSpPr>
          <p:cNvPr id="19" name="Text 17"/>
          <p:cNvSpPr/>
          <p:nvPr/>
        </p:nvSpPr>
        <p:spPr>
          <a:xfrm>
            <a:off x="566928" y="3554896"/>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Google Fonts — Plus Jakarta Sans</a:t>
            </a:r>
            <a:endParaRPr lang="en-US" sz="950" dirty="0"/>
          </a:p>
        </p:txBody>
      </p:sp>
      <p:sp>
        <p:nvSpPr>
          <p:cNvPr id="20" name="Shape 18"/>
          <p:cNvSpPr/>
          <p:nvPr/>
        </p:nvSpPr>
        <p:spPr>
          <a:xfrm>
            <a:off x="2414016" y="1088839"/>
            <a:ext cx="2084832" cy="3410009"/>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1" name="Shape 19"/>
          <p:cNvSpPr/>
          <p:nvPr/>
        </p:nvSpPr>
        <p:spPr>
          <a:xfrm>
            <a:off x="2414016" y="1115568"/>
            <a:ext cx="2084832" cy="475488"/>
          </a:xfrm>
          <a:prstGeom prst="rect">
            <a:avLst/>
          </a:prstGeom>
          <a:solidFill>
            <a:srgbClr val="0D9488"/>
          </a:solidFill>
          <a:ln w="12700">
            <a:solidFill>
              <a:srgbClr val="0D9488"/>
            </a:solidFill>
            <a:prstDash val="solid"/>
          </a:ln>
        </p:spPr>
      </p:sp>
      <p:sp>
        <p:nvSpPr>
          <p:cNvPr id="22" name="Text 20"/>
          <p:cNvSpPr/>
          <p:nvPr/>
        </p:nvSpPr>
        <p:spPr>
          <a:xfrm>
            <a:off x="2533594" y="1115568"/>
            <a:ext cx="475488" cy="47548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3" name="Text 21"/>
          <p:cNvSpPr/>
          <p:nvPr/>
        </p:nvSpPr>
        <p:spPr>
          <a:xfrm>
            <a:off x="2916936" y="1115568"/>
            <a:ext cx="1536192" cy="475488"/>
          </a:xfrm>
          <a:prstGeom prst="rect">
            <a:avLst/>
          </a:prstGeom>
          <a:noFill/>
          <a:ln/>
        </p:spPr>
        <p:txBody>
          <a:bodyPr wrap="square" lIns="0" tIns="0" rIns="0" bIns="0" rtlCol="0" anchor="ctr"/>
          <a:lstStyle/>
          <a:p>
            <a:pPr marL="0" indent="0" algn="l">
              <a:buNone/>
            </a:pPr>
            <a:r>
              <a:rPr lang="en-US" sz="1000" b="1" dirty="0">
                <a:solidFill>
                  <a:srgbClr val="FFFFFF"/>
                </a:solidFill>
              </a:rPr>
              <a:t>BACKEND</a:t>
            </a:r>
            <a:endParaRPr lang="en-US" sz="1000" dirty="0"/>
          </a:p>
        </p:txBody>
      </p:sp>
      <p:sp>
        <p:nvSpPr>
          <p:cNvPr id="24" name="Shape 22"/>
          <p:cNvSpPr/>
          <p:nvPr/>
        </p:nvSpPr>
        <p:spPr>
          <a:xfrm>
            <a:off x="2578608" y="1803480"/>
            <a:ext cx="128016" cy="128016"/>
          </a:xfrm>
          <a:prstGeom prst="ellipse">
            <a:avLst/>
          </a:prstGeom>
          <a:solidFill>
            <a:srgbClr val="0D9488"/>
          </a:solidFill>
          <a:ln w="12700">
            <a:solidFill>
              <a:srgbClr val="0D9488"/>
            </a:solidFill>
            <a:prstDash val="solid"/>
          </a:ln>
        </p:spPr>
      </p:sp>
      <p:sp>
        <p:nvSpPr>
          <p:cNvPr id="25" name="Text 23"/>
          <p:cNvSpPr/>
          <p:nvPr/>
        </p:nvSpPr>
        <p:spPr>
          <a:xfrm>
            <a:off x="2779776" y="1622004"/>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Node.js + Express.js REST API</a:t>
            </a:r>
            <a:endParaRPr lang="en-US" sz="950" dirty="0"/>
          </a:p>
        </p:txBody>
      </p:sp>
      <p:sp>
        <p:nvSpPr>
          <p:cNvPr id="26" name="Shape 24"/>
          <p:cNvSpPr/>
          <p:nvPr/>
        </p:nvSpPr>
        <p:spPr>
          <a:xfrm>
            <a:off x="2578608" y="2205812"/>
            <a:ext cx="128016" cy="128016"/>
          </a:xfrm>
          <a:prstGeom prst="ellipse">
            <a:avLst/>
          </a:prstGeom>
          <a:solidFill>
            <a:srgbClr val="0D9488"/>
          </a:solidFill>
          <a:ln w="12700">
            <a:solidFill>
              <a:srgbClr val="0D9488"/>
            </a:solidFill>
            <a:prstDash val="solid"/>
          </a:ln>
        </p:spPr>
      </p:sp>
      <p:sp>
        <p:nvSpPr>
          <p:cNvPr id="27" name="Text 25"/>
          <p:cNvSpPr/>
          <p:nvPr/>
        </p:nvSpPr>
        <p:spPr>
          <a:xfrm>
            <a:off x="2779776" y="2038404"/>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11 REST API endpoints</a:t>
            </a:r>
            <a:endParaRPr lang="en-US" sz="950" dirty="0"/>
          </a:p>
        </p:txBody>
      </p:sp>
      <p:sp>
        <p:nvSpPr>
          <p:cNvPr id="28" name="Shape 26"/>
          <p:cNvSpPr/>
          <p:nvPr/>
        </p:nvSpPr>
        <p:spPr>
          <a:xfrm>
            <a:off x="2578608" y="2657382"/>
            <a:ext cx="128016" cy="128016"/>
          </a:xfrm>
          <a:prstGeom prst="ellipse">
            <a:avLst/>
          </a:prstGeom>
          <a:solidFill>
            <a:srgbClr val="0D9488"/>
          </a:solidFill>
          <a:ln w="12700">
            <a:solidFill>
              <a:srgbClr val="0D9488"/>
            </a:solidFill>
            <a:prstDash val="solid"/>
          </a:ln>
        </p:spPr>
      </p:sp>
      <p:sp>
        <p:nvSpPr>
          <p:cNvPr id="29" name="Text 27"/>
          <p:cNvSpPr/>
          <p:nvPr/>
        </p:nvSpPr>
        <p:spPr>
          <a:xfrm>
            <a:off x="2779776" y="2482940"/>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JSON file storage (data/*.json)</a:t>
            </a:r>
            <a:endParaRPr lang="en-US" sz="950" dirty="0"/>
          </a:p>
        </p:txBody>
      </p:sp>
      <p:sp>
        <p:nvSpPr>
          <p:cNvPr id="30" name="Shape 28"/>
          <p:cNvSpPr/>
          <p:nvPr/>
        </p:nvSpPr>
        <p:spPr>
          <a:xfrm>
            <a:off x="2578608" y="3115986"/>
            <a:ext cx="128016" cy="128016"/>
          </a:xfrm>
          <a:prstGeom prst="ellipse">
            <a:avLst/>
          </a:prstGeom>
          <a:solidFill>
            <a:srgbClr val="0D9488"/>
          </a:solidFill>
          <a:ln w="12700">
            <a:solidFill>
              <a:srgbClr val="0D9488"/>
            </a:solidFill>
            <a:prstDash val="solid"/>
          </a:ln>
        </p:spPr>
      </p:sp>
      <p:sp>
        <p:nvSpPr>
          <p:cNvPr id="31" name="Text 29"/>
          <p:cNvSpPr/>
          <p:nvPr/>
        </p:nvSpPr>
        <p:spPr>
          <a:xfrm>
            <a:off x="2779776" y="2934510"/>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Auto-seed demo data on startup</a:t>
            </a:r>
            <a:endParaRPr lang="en-US" sz="950" dirty="0"/>
          </a:p>
        </p:txBody>
      </p:sp>
      <p:sp>
        <p:nvSpPr>
          <p:cNvPr id="32" name="Shape 30"/>
          <p:cNvSpPr/>
          <p:nvPr/>
        </p:nvSpPr>
        <p:spPr>
          <a:xfrm>
            <a:off x="2578608" y="3567556"/>
            <a:ext cx="128016" cy="128016"/>
          </a:xfrm>
          <a:prstGeom prst="ellipse">
            <a:avLst/>
          </a:prstGeom>
          <a:solidFill>
            <a:srgbClr val="0D9488"/>
          </a:solidFill>
          <a:ln w="12700">
            <a:solidFill>
              <a:srgbClr val="0D9488"/>
            </a:solidFill>
            <a:prstDash val="solid"/>
          </a:ln>
        </p:spPr>
      </p:sp>
      <p:sp>
        <p:nvSpPr>
          <p:cNvPr id="33" name="Text 31"/>
          <p:cNvSpPr/>
          <p:nvPr/>
        </p:nvSpPr>
        <p:spPr>
          <a:xfrm>
            <a:off x="2779776" y="3449386"/>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CORS enabled for frontend access</a:t>
            </a:r>
            <a:endParaRPr lang="en-US" sz="950" dirty="0"/>
          </a:p>
        </p:txBody>
      </p:sp>
      <p:sp>
        <p:nvSpPr>
          <p:cNvPr id="34" name="Shape 32"/>
          <p:cNvSpPr/>
          <p:nvPr/>
        </p:nvSpPr>
        <p:spPr>
          <a:xfrm>
            <a:off x="4626864" y="1115568"/>
            <a:ext cx="2084832" cy="33832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5" name="Shape 33"/>
          <p:cNvSpPr/>
          <p:nvPr/>
        </p:nvSpPr>
        <p:spPr>
          <a:xfrm>
            <a:off x="4626864" y="1115568"/>
            <a:ext cx="2084832" cy="475488"/>
          </a:xfrm>
          <a:prstGeom prst="rect">
            <a:avLst/>
          </a:prstGeom>
          <a:solidFill>
            <a:srgbClr val="7C3AED"/>
          </a:solidFill>
          <a:ln w="12700">
            <a:solidFill>
              <a:srgbClr val="7C3AED"/>
            </a:solidFill>
            <a:prstDash val="solid"/>
          </a:ln>
        </p:spPr>
      </p:sp>
      <p:sp>
        <p:nvSpPr>
          <p:cNvPr id="36" name="Text 34"/>
          <p:cNvSpPr/>
          <p:nvPr/>
        </p:nvSpPr>
        <p:spPr>
          <a:xfrm>
            <a:off x="4626864" y="1115568"/>
            <a:ext cx="475488" cy="47548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7" name="Text 35"/>
          <p:cNvSpPr/>
          <p:nvPr/>
        </p:nvSpPr>
        <p:spPr>
          <a:xfrm>
            <a:off x="5129784" y="1115568"/>
            <a:ext cx="1536192" cy="475488"/>
          </a:xfrm>
          <a:prstGeom prst="rect">
            <a:avLst/>
          </a:prstGeom>
          <a:noFill/>
          <a:ln/>
        </p:spPr>
        <p:txBody>
          <a:bodyPr wrap="square" lIns="0" tIns="0" rIns="0" bIns="0" rtlCol="0" anchor="ctr"/>
          <a:lstStyle/>
          <a:p>
            <a:pPr marL="0" indent="0" algn="l">
              <a:buNone/>
            </a:pPr>
            <a:r>
              <a:rPr lang="en-US" sz="1000" b="1" dirty="0">
                <a:solidFill>
                  <a:srgbClr val="FFFFFF"/>
                </a:solidFill>
              </a:rPr>
              <a:t>ARCHITECTURE</a:t>
            </a:r>
            <a:endParaRPr lang="en-US" sz="1000" dirty="0"/>
          </a:p>
        </p:txBody>
      </p:sp>
      <p:sp>
        <p:nvSpPr>
          <p:cNvPr id="38" name="Shape 36"/>
          <p:cNvSpPr/>
          <p:nvPr/>
        </p:nvSpPr>
        <p:spPr>
          <a:xfrm>
            <a:off x="4740812" y="1822470"/>
            <a:ext cx="128016" cy="128016"/>
          </a:xfrm>
          <a:prstGeom prst="ellipse">
            <a:avLst/>
          </a:prstGeom>
          <a:solidFill>
            <a:srgbClr val="7C3AED"/>
          </a:solidFill>
          <a:ln w="12700">
            <a:solidFill>
              <a:srgbClr val="7C3AED"/>
            </a:solidFill>
            <a:prstDash val="solid"/>
          </a:ln>
        </p:spPr>
      </p:sp>
      <p:sp>
        <p:nvSpPr>
          <p:cNvPr id="39" name="Text 37"/>
          <p:cNvSpPr/>
          <p:nvPr/>
        </p:nvSpPr>
        <p:spPr>
          <a:xfrm>
            <a:off x="4992624" y="1664208"/>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Role-Based Access Control (RBAC)</a:t>
            </a:r>
            <a:endParaRPr lang="en-US" sz="950" dirty="0"/>
          </a:p>
        </p:txBody>
      </p:sp>
      <p:sp>
        <p:nvSpPr>
          <p:cNvPr id="40" name="Shape 38"/>
          <p:cNvSpPr/>
          <p:nvPr/>
        </p:nvSpPr>
        <p:spPr>
          <a:xfrm>
            <a:off x="4756286" y="2279842"/>
            <a:ext cx="128016" cy="128016"/>
          </a:xfrm>
          <a:prstGeom prst="ellipse">
            <a:avLst/>
          </a:prstGeom>
          <a:solidFill>
            <a:srgbClr val="7C3AED"/>
          </a:solidFill>
          <a:ln w="12700">
            <a:solidFill>
              <a:srgbClr val="7C3AED"/>
            </a:solidFill>
            <a:prstDash val="solid"/>
          </a:ln>
        </p:spPr>
      </p:sp>
      <p:sp>
        <p:nvSpPr>
          <p:cNvPr id="41" name="Text 39"/>
          <p:cNvSpPr/>
          <p:nvPr/>
        </p:nvSpPr>
        <p:spPr>
          <a:xfrm>
            <a:off x="4992624" y="2087642"/>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Session-based authentication</a:t>
            </a:r>
            <a:endParaRPr lang="en-US" sz="950" dirty="0"/>
          </a:p>
        </p:txBody>
      </p:sp>
      <p:sp>
        <p:nvSpPr>
          <p:cNvPr id="42" name="Shape 40"/>
          <p:cNvSpPr/>
          <p:nvPr/>
        </p:nvSpPr>
        <p:spPr>
          <a:xfrm>
            <a:off x="4763320" y="2720688"/>
            <a:ext cx="128016" cy="128016"/>
          </a:xfrm>
          <a:prstGeom prst="ellipse">
            <a:avLst/>
          </a:prstGeom>
          <a:solidFill>
            <a:srgbClr val="7C3AED"/>
          </a:solidFill>
          <a:ln w="12700">
            <a:solidFill>
              <a:srgbClr val="7C3AED"/>
            </a:solidFill>
            <a:prstDash val="solid"/>
          </a:ln>
        </p:spPr>
      </p:sp>
      <p:sp>
        <p:nvSpPr>
          <p:cNvPr id="43" name="Text 41"/>
          <p:cNvSpPr/>
          <p:nvPr/>
        </p:nvSpPr>
        <p:spPr>
          <a:xfrm>
            <a:off x="4992624" y="2581414"/>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Modular JS — Auth, DB, Utils, Sidebar</a:t>
            </a:r>
            <a:endParaRPr lang="en-US" sz="950" dirty="0"/>
          </a:p>
        </p:txBody>
      </p:sp>
      <p:sp>
        <p:nvSpPr>
          <p:cNvPr id="44" name="Shape 42"/>
          <p:cNvSpPr/>
          <p:nvPr/>
        </p:nvSpPr>
        <p:spPr>
          <a:xfrm>
            <a:off x="4756286" y="3222190"/>
            <a:ext cx="128016" cy="128016"/>
          </a:xfrm>
          <a:prstGeom prst="ellipse">
            <a:avLst/>
          </a:prstGeom>
          <a:solidFill>
            <a:srgbClr val="7C3AED"/>
          </a:solidFill>
          <a:ln w="12700">
            <a:solidFill>
              <a:srgbClr val="7C3AED"/>
            </a:solidFill>
            <a:prstDash val="solid"/>
          </a:ln>
        </p:spPr>
      </p:sp>
      <p:sp>
        <p:nvSpPr>
          <p:cNvPr id="45" name="Text 43"/>
          <p:cNvSpPr/>
          <p:nvPr/>
        </p:nvSpPr>
        <p:spPr>
          <a:xfrm>
            <a:off x="4992624" y="3082928"/>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Vanilla JS — zero framework frontend</a:t>
            </a:r>
            <a:endParaRPr lang="en-US" sz="950" dirty="0"/>
          </a:p>
        </p:txBody>
      </p:sp>
      <p:sp>
        <p:nvSpPr>
          <p:cNvPr id="46" name="Shape 44"/>
          <p:cNvSpPr/>
          <p:nvPr/>
        </p:nvSpPr>
        <p:spPr>
          <a:xfrm>
            <a:off x="4763320" y="3684316"/>
            <a:ext cx="128016" cy="128016"/>
          </a:xfrm>
          <a:prstGeom prst="ellipse">
            <a:avLst/>
          </a:prstGeom>
          <a:solidFill>
            <a:srgbClr val="7C3AED"/>
          </a:solidFill>
          <a:ln w="12700">
            <a:solidFill>
              <a:srgbClr val="7C3AED"/>
            </a:solidFill>
            <a:prstDash val="solid"/>
          </a:ln>
        </p:spPr>
      </p:sp>
      <p:sp>
        <p:nvSpPr>
          <p:cNvPr id="47" name="Text 45"/>
          <p:cNvSpPr/>
          <p:nvPr/>
        </p:nvSpPr>
        <p:spPr>
          <a:xfrm>
            <a:off x="4992624" y="3602736"/>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localStorage fallback (offline mode)</a:t>
            </a:r>
            <a:endParaRPr lang="en-US" sz="950" dirty="0"/>
          </a:p>
        </p:txBody>
      </p:sp>
      <p:sp>
        <p:nvSpPr>
          <p:cNvPr id="48" name="Shape 46"/>
          <p:cNvSpPr/>
          <p:nvPr/>
        </p:nvSpPr>
        <p:spPr>
          <a:xfrm>
            <a:off x="6839712" y="1115568"/>
            <a:ext cx="2084832" cy="33832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49" name="Shape 47"/>
          <p:cNvSpPr/>
          <p:nvPr/>
        </p:nvSpPr>
        <p:spPr>
          <a:xfrm>
            <a:off x="6839712" y="1115568"/>
            <a:ext cx="2084832" cy="475488"/>
          </a:xfrm>
          <a:prstGeom prst="rect">
            <a:avLst/>
          </a:prstGeom>
          <a:solidFill>
            <a:srgbClr val="F59E0B"/>
          </a:solidFill>
          <a:ln w="12700">
            <a:solidFill>
              <a:srgbClr val="F59E0B"/>
            </a:solidFill>
            <a:prstDash val="solid"/>
          </a:ln>
        </p:spPr>
      </p:sp>
      <p:sp>
        <p:nvSpPr>
          <p:cNvPr id="50" name="Text 48"/>
          <p:cNvSpPr/>
          <p:nvPr/>
        </p:nvSpPr>
        <p:spPr>
          <a:xfrm>
            <a:off x="6839712" y="1115568"/>
            <a:ext cx="475488" cy="47548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51" name="Text 49"/>
          <p:cNvSpPr/>
          <p:nvPr/>
        </p:nvSpPr>
        <p:spPr>
          <a:xfrm>
            <a:off x="7342632" y="1115568"/>
            <a:ext cx="1536192" cy="475488"/>
          </a:xfrm>
          <a:prstGeom prst="rect">
            <a:avLst/>
          </a:prstGeom>
          <a:noFill/>
          <a:ln/>
        </p:spPr>
        <p:txBody>
          <a:bodyPr wrap="square" lIns="0" tIns="0" rIns="0" bIns="0" rtlCol="0" anchor="ctr"/>
          <a:lstStyle/>
          <a:p>
            <a:pPr marL="0" indent="0" algn="l">
              <a:buNone/>
            </a:pPr>
            <a:r>
              <a:rPr lang="en-US" sz="1000" b="1" dirty="0">
                <a:solidFill>
                  <a:srgbClr val="FFFFFF"/>
                </a:solidFill>
              </a:rPr>
              <a:t>TOOLS &amp; QA</a:t>
            </a:r>
            <a:endParaRPr lang="en-US" sz="1000" dirty="0"/>
          </a:p>
        </p:txBody>
      </p:sp>
      <p:sp>
        <p:nvSpPr>
          <p:cNvPr id="52" name="Shape 50"/>
          <p:cNvSpPr/>
          <p:nvPr/>
        </p:nvSpPr>
        <p:spPr>
          <a:xfrm>
            <a:off x="7004304" y="1719072"/>
            <a:ext cx="128016" cy="128016"/>
          </a:xfrm>
          <a:prstGeom prst="ellipse">
            <a:avLst/>
          </a:prstGeom>
          <a:solidFill>
            <a:srgbClr val="F59E0B"/>
          </a:solidFill>
          <a:ln w="12700">
            <a:solidFill>
              <a:srgbClr val="F59E0B"/>
            </a:solidFill>
            <a:prstDash val="solid"/>
          </a:ln>
        </p:spPr>
      </p:sp>
      <p:sp>
        <p:nvSpPr>
          <p:cNvPr id="53" name="Text 51"/>
          <p:cNvSpPr/>
          <p:nvPr/>
        </p:nvSpPr>
        <p:spPr>
          <a:xfrm>
            <a:off x="7205472" y="1556592"/>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VS Code — Development IDE</a:t>
            </a:r>
            <a:endParaRPr lang="en-US" sz="950" dirty="0"/>
          </a:p>
        </p:txBody>
      </p:sp>
      <p:sp>
        <p:nvSpPr>
          <p:cNvPr id="54" name="Shape 52"/>
          <p:cNvSpPr/>
          <p:nvPr/>
        </p:nvSpPr>
        <p:spPr>
          <a:xfrm>
            <a:off x="7004304" y="2128438"/>
            <a:ext cx="128016" cy="128016"/>
          </a:xfrm>
          <a:prstGeom prst="ellipse">
            <a:avLst/>
          </a:prstGeom>
          <a:solidFill>
            <a:srgbClr val="F59E0B"/>
          </a:solidFill>
          <a:ln w="12700">
            <a:solidFill>
              <a:srgbClr val="F59E0B"/>
            </a:solidFill>
            <a:prstDash val="solid"/>
          </a:ln>
        </p:spPr>
      </p:sp>
      <p:sp>
        <p:nvSpPr>
          <p:cNvPr id="55" name="Text 53"/>
          <p:cNvSpPr/>
          <p:nvPr/>
        </p:nvSpPr>
        <p:spPr>
          <a:xfrm>
            <a:off x="7185074" y="1953294"/>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Postman — API endpoint testing</a:t>
            </a:r>
            <a:endParaRPr lang="en-US" sz="950" dirty="0"/>
          </a:p>
        </p:txBody>
      </p:sp>
      <p:sp>
        <p:nvSpPr>
          <p:cNvPr id="56" name="Shape 54"/>
          <p:cNvSpPr/>
          <p:nvPr/>
        </p:nvSpPr>
        <p:spPr>
          <a:xfrm>
            <a:off x="7004304" y="2594076"/>
            <a:ext cx="128016" cy="128016"/>
          </a:xfrm>
          <a:prstGeom prst="ellipse">
            <a:avLst/>
          </a:prstGeom>
          <a:solidFill>
            <a:srgbClr val="F59E0B"/>
          </a:solidFill>
          <a:ln w="12700">
            <a:solidFill>
              <a:srgbClr val="F59E0B"/>
            </a:solidFill>
            <a:prstDash val="solid"/>
          </a:ln>
        </p:spPr>
      </p:sp>
      <p:sp>
        <p:nvSpPr>
          <p:cNvPr id="57" name="Text 55"/>
          <p:cNvSpPr/>
          <p:nvPr/>
        </p:nvSpPr>
        <p:spPr>
          <a:xfrm>
            <a:off x="7205472" y="2412600"/>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Git &amp; GitHub — Version control</a:t>
            </a:r>
            <a:endParaRPr lang="en-US" sz="950" dirty="0"/>
          </a:p>
        </p:txBody>
      </p:sp>
      <p:sp>
        <p:nvSpPr>
          <p:cNvPr id="58" name="Shape 56"/>
          <p:cNvSpPr/>
          <p:nvPr/>
        </p:nvSpPr>
        <p:spPr>
          <a:xfrm>
            <a:off x="7004304" y="3066748"/>
            <a:ext cx="128016" cy="128016"/>
          </a:xfrm>
          <a:prstGeom prst="ellipse">
            <a:avLst/>
          </a:prstGeom>
          <a:solidFill>
            <a:srgbClr val="F59E0B"/>
          </a:solidFill>
          <a:ln w="12700">
            <a:solidFill>
              <a:srgbClr val="F59E0B"/>
            </a:solidFill>
            <a:prstDash val="solid"/>
          </a:ln>
        </p:spPr>
      </p:sp>
      <p:sp>
        <p:nvSpPr>
          <p:cNvPr id="59" name="Text 57"/>
          <p:cNvSpPr/>
          <p:nvPr/>
        </p:nvSpPr>
        <p:spPr>
          <a:xfrm>
            <a:off x="7205472" y="2871204"/>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Node.js v18+ runtime + npm</a:t>
            </a:r>
            <a:endParaRPr lang="en-US" sz="950" dirty="0"/>
          </a:p>
        </p:txBody>
      </p:sp>
      <p:sp>
        <p:nvSpPr>
          <p:cNvPr id="60" name="Shape 58"/>
          <p:cNvSpPr/>
          <p:nvPr/>
        </p:nvSpPr>
        <p:spPr>
          <a:xfrm>
            <a:off x="7004304" y="3490182"/>
            <a:ext cx="128016" cy="128016"/>
          </a:xfrm>
          <a:prstGeom prst="ellipse">
            <a:avLst/>
          </a:prstGeom>
          <a:solidFill>
            <a:srgbClr val="F59E0B"/>
          </a:solidFill>
          <a:ln w="12700">
            <a:solidFill>
              <a:srgbClr val="F59E0B"/>
            </a:solidFill>
            <a:prstDash val="solid"/>
          </a:ln>
        </p:spPr>
      </p:sp>
      <p:sp>
        <p:nvSpPr>
          <p:cNvPr id="61" name="Text 59"/>
          <p:cNvSpPr/>
          <p:nvPr/>
        </p:nvSpPr>
        <p:spPr>
          <a:xfrm>
            <a:off x="7205472" y="3280570"/>
            <a:ext cx="1645920" cy="493776"/>
          </a:xfrm>
          <a:prstGeom prst="rect">
            <a:avLst/>
          </a:prstGeom>
          <a:noFill/>
          <a:ln/>
        </p:spPr>
        <p:txBody>
          <a:bodyPr wrap="square" lIns="0" tIns="0" rIns="0" bIns="0" rtlCol="0" anchor="ctr"/>
          <a:lstStyle/>
          <a:p>
            <a:pPr marL="0" indent="0" algn="l">
              <a:buNone/>
            </a:pPr>
            <a:r>
              <a:rPr lang="en-US" sz="950" dirty="0">
                <a:solidFill>
                  <a:srgbClr val="334155"/>
                </a:solidFill>
              </a:rPr>
              <a:t>Browser DevTools for debugging</a:t>
            </a:r>
            <a:endParaRPr lang="en-US" sz="950" dirty="0"/>
          </a:p>
        </p:txBody>
      </p:sp>
      <p:sp>
        <p:nvSpPr>
          <p:cNvPr id="62" name="Shape 60"/>
          <p:cNvSpPr/>
          <p:nvPr/>
        </p:nvSpPr>
        <p:spPr>
          <a:xfrm>
            <a:off x="201168" y="4642334"/>
            <a:ext cx="8741664" cy="219456"/>
          </a:xfrm>
          <a:prstGeom prst="rect">
            <a:avLst/>
          </a:prstGeom>
          <a:solidFill>
            <a:srgbClr val="EFF6FF"/>
          </a:solidFill>
          <a:ln w="12700">
            <a:solidFill>
              <a:srgbClr val="E2E8F0"/>
            </a:solidFill>
            <a:prstDash val="solid"/>
          </a:ln>
          <a:effectLst>
            <a:outerShdw blurRad="76200" dist="25400" dir="8100000" algn="bl" rotWithShape="0">
              <a:srgbClr val="000000">
                <a:alpha val="10000"/>
              </a:srgbClr>
            </a:outerShdw>
          </a:effectLst>
        </p:spPr>
      </p:sp>
      <p:sp>
        <p:nvSpPr>
          <p:cNvPr id="63" name="Text 61"/>
          <p:cNvSpPr/>
          <p:nvPr/>
        </p:nvSpPr>
        <p:spPr>
          <a:xfrm>
            <a:off x="274320" y="4635300"/>
            <a:ext cx="8595360" cy="219456"/>
          </a:xfrm>
          <a:prstGeom prst="rect">
            <a:avLst/>
          </a:prstGeom>
          <a:noFill/>
          <a:ln/>
        </p:spPr>
        <p:txBody>
          <a:bodyPr wrap="square" lIns="0" tIns="0" rIns="0" bIns="0" rtlCol="0" anchor="ctr"/>
          <a:lstStyle/>
          <a:p>
            <a:pPr marL="0" indent="0" algn="ctr">
              <a:buNone/>
            </a:pPr>
            <a:r>
              <a:rPr lang="en-US" sz="800" dirty="0">
                <a:solidFill>
                  <a:srgbClr val="0D9488"/>
                </a:solidFill>
              </a:rPr>
              <a:t>REST API:  POST /auth/login  ·  GET /patients  ·  POST /dietary-profiles  ·  GET /meals  ·  POST /meal-plans  ·  PUT /kitchen-orders/:id  ·  GET /allergy-check  ·  GET /dashboard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Course outcome mapping in HIMPS project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Tree>
    <p:extLst>
      <p:ext uri="{BB962C8B-B14F-4D97-AF65-F5344CB8AC3E}">
        <p14:creationId xmlns:p14="http://schemas.microsoft.com/office/powerpoint/2010/main" val="3044230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D9488"/>
          </a:solidFill>
          <a:ln w="12700">
            <a:solidFill>
              <a:srgbClr val="0D9488"/>
            </a:solidFill>
            <a:prstDash val="solid"/>
          </a:ln>
        </p:spPr>
      </p:sp>
      <p:sp>
        <p:nvSpPr>
          <p:cNvPr id="3" name="Text 1"/>
          <p:cNvSpPr/>
          <p:nvPr/>
        </p:nvSpPr>
        <p:spPr>
          <a:xfrm>
            <a:off x="320040" y="199761"/>
            <a:ext cx="8503920" cy="411480"/>
          </a:xfrm>
          <a:prstGeom prst="rect">
            <a:avLst/>
          </a:prstGeom>
          <a:noFill/>
          <a:ln/>
        </p:spPr>
        <p:txBody>
          <a:bodyPr wrap="square" lIns="0" tIns="0" rIns="0" bIns="0" rtlCol="0" anchor="ctr"/>
          <a:lstStyle/>
          <a:p>
            <a:pPr marL="0" indent="0">
              <a:buNone/>
            </a:pPr>
            <a:r>
              <a:rPr lang="en-US" sz="2400" b="1" dirty="0">
                <a:solidFill>
                  <a:srgbClr val="0A2463"/>
                </a:solidFill>
                <a:latin typeface="Times New Roman" pitchFamily="18" charset="0"/>
                <a:cs typeface="Times New Roman" pitchFamily="18" charset="0"/>
              </a:rPr>
              <a:t>Future Enhancements</a:t>
            </a:r>
            <a:endParaRPr lang="en-US" sz="2400" dirty="0">
              <a:latin typeface="Times New Roman" pitchFamily="18" charset="0"/>
              <a:cs typeface="Times New Roman" pitchFamily="18" charset="0"/>
            </a:endParaRPr>
          </a:p>
        </p:txBody>
      </p:sp>
      <p:sp>
        <p:nvSpPr>
          <p:cNvPr id="4" name="Shape 2"/>
          <p:cNvSpPr/>
          <p:nvPr/>
        </p:nvSpPr>
        <p:spPr>
          <a:xfrm>
            <a:off x="320040" y="804672"/>
            <a:ext cx="4206240" cy="123444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5" name="Shape 3"/>
          <p:cNvSpPr/>
          <p:nvPr/>
        </p:nvSpPr>
        <p:spPr>
          <a:xfrm>
            <a:off x="320040" y="804672"/>
            <a:ext cx="594360" cy="1234440"/>
          </a:xfrm>
          <a:prstGeom prst="rect">
            <a:avLst/>
          </a:prstGeom>
          <a:solidFill>
            <a:srgbClr val="0A2463"/>
          </a:solidFill>
          <a:ln w="12700">
            <a:solidFill>
              <a:srgbClr val="0A2463"/>
            </a:solidFill>
            <a:prstDash val="solid"/>
          </a:ln>
        </p:spPr>
      </p:sp>
      <p:sp>
        <p:nvSpPr>
          <p:cNvPr id="6" name="Text 4"/>
          <p:cNvSpPr/>
          <p:nvPr/>
        </p:nvSpPr>
        <p:spPr>
          <a:xfrm>
            <a:off x="320040" y="804672"/>
            <a:ext cx="594360" cy="1234440"/>
          </a:xfrm>
          <a:prstGeom prst="rect">
            <a:avLst/>
          </a:prstGeom>
          <a:noFill/>
          <a:ln/>
        </p:spPr>
        <p:txBody>
          <a:bodyPr wrap="square" lIns="0" tIns="0" rIns="0" bIns="0" rtlCol="0" anchor="ctr"/>
          <a:lstStyle/>
          <a:p>
            <a:pPr marL="0" indent="0">
              <a:buNone/>
            </a:pPr>
            <a:r>
              <a:rPr lang="en-US" sz="3600" dirty="0">
                <a:solidFill>
                  <a:srgbClr val="000000"/>
                </a:solidFill>
              </a:rPr>
              <a:t>🗄️</a:t>
            </a:r>
            <a:endParaRPr lang="en-US" sz="3600" dirty="0"/>
          </a:p>
        </p:txBody>
      </p:sp>
      <p:sp>
        <p:nvSpPr>
          <p:cNvPr id="7" name="Text 5"/>
          <p:cNvSpPr/>
          <p:nvPr/>
        </p:nvSpPr>
        <p:spPr>
          <a:xfrm>
            <a:off x="1005840" y="914400"/>
            <a:ext cx="3429000" cy="274320"/>
          </a:xfrm>
          <a:prstGeom prst="rect">
            <a:avLst/>
          </a:prstGeom>
          <a:noFill/>
          <a:ln/>
        </p:spPr>
        <p:txBody>
          <a:bodyPr wrap="square" lIns="0" tIns="0" rIns="0" bIns="0" rtlCol="0" anchor="ctr"/>
          <a:lstStyle/>
          <a:p>
            <a:pPr marL="0" indent="0">
              <a:buNone/>
            </a:pPr>
            <a:r>
              <a:rPr lang="en-US" sz="1200" b="1" dirty="0">
                <a:solidFill>
                  <a:srgbClr val="0A2463"/>
                </a:solidFill>
              </a:rPr>
              <a:t>MySQL Integration</a:t>
            </a:r>
            <a:endParaRPr lang="en-US" sz="1200" dirty="0"/>
          </a:p>
        </p:txBody>
      </p:sp>
      <p:sp>
        <p:nvSpPr>
          <p:cNvPr id="8" name="Text 6"/>
          <p:cNvSpPr/>
          <p:nvPr/>
        </p:nvSpPr>
        <p:spPr>
          <a:xfrm>
            <a:off x="1005840" y="1207008"/>
            <a:ext cx="3429000" cy="713232"/>
          </a:xfrm>
          <a:prstGeom prst="rect">
            <a:avLst/>
          </a:prstGeom>
          <a:noFill/>
          <a:ln/>
        </p:spPr>
        <p:txBody>
          <a:bodyPr wrap="square" lIns="0" tIns="0" rIns="0" bIns="0" rtlCol="0" anchor="ctr"/>
          <a:lstStyle/>
          <a:p>
            <a:pPr marL="0" indent="0">
              <a:buNone/>
            </a:pPr>
            <a:r>
              <a:rPr lang="en-US" sz="950" dirty="0">
                <a:solidFill>
                  <a:srgbClr val="64748B"/>
                </a:solidFill>
              </a:rPr>
              <a:t>Replace JSON storage with MySQL/PostgreSQL via Sequelize for production-grade persistence and multi-user concurrency</a:t>
            </a:r>
            <a:endParaRPr lang="en-US" sz="950" dirty="0"/>
          </a:p>
        </p:txBody>
      </p:sp>
      <p:sp>
        <p:nvSpPr>
          <p:cNvPr id="9" name="Shape 7"/>
          <p:cNvSpPr/>
          <p:nvPr/>
        </p:nvSpPr>
        <p:spPr>
          <a:xfrm>
            <a:off x="4754880" y="804672"/>
            <a:ext cx="4206240" cy="123444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0" name="Shape 8"/>
          <p:cNvSpPr/>
          <p:nvPr/>
        </p:nvSpPr>
        <p:spPr>
          <a:xfrm>
            <a:off x="4754880" y="804672"/>
            <a:ext cx="594360" cy="1234440"/>
          </a:xfrm>
          <a:prstGeom prst="rect">
            <a:avLst/>
          </a:prstGeom>
          <a:solidFill>
            <a:srgbClr val="0A2463"/>
          </a:solidFill>
          <a:ln w="12700">
            <a:solidFill>
              <a:srgbClr val="0A2463"/>
            </a:solidFill>
            <a:prstDash val="solid"/>
          </a:ln>
        </p:spPr>
      </p:sp>
      <p:sp>
        <p:nvSpPr>
          <p:cNvPr id="11" name="Text 9"/>
          <p:cNvSpPr/>
          <p:nvPr/>
        </p:nvSpPr>
        <p:spPr>
          <a:xfrm>
            <a:off x="4754880" y="804672"/>
            <a:ext cx="594360" cy="1234440"/>
          </a:xfrm>
          <a:prstGeom prst="rect">
            <a:avLst/>
          </a:prstGeom>
          <a:noFill/>
          <a:ln/>
        </p:spPr>
        <p:txBody>
          <a:bodyPr wrap="square" lIns="0" tIns="0" rIns="0" bIns="0" rtlCol="0" anchor="ctr"/>
          <a:lstStyle/>
          <a:p>
            <a:r>
              <a:rPr lang="en-US" sz="3600" dirty="0">
                <a:solidFill>
                  <a:srgbClr val="000000"/>
                </a:solidFill>
              </a:rPr>
              <a:t>🔐   </a:t>
            </a:r>
            <a:r>
              <a:rPr lang="en-US" sz="2600" dirty="0">
                <a:solidFill>
                  <a:srgbClr val="000000"/>
                </a:solidFill>
              </a:rPr>
              <a:t>   </a:t>
            </a:r>
            <a:endParaRPr lang="en-US" sz="2600" dirty="0"/>
          </a:p>
        </p:txBody>
      </p:sp>
      <p:sp>
        <p:nvSpPr>
          <p:cNvPr id="12" name="Text 10"/>
          <p:cNvSpPr/>
          <p:nvPr/>
        </p:nvSpPr>
        <p:spPr>
          <a:xfrm>
            <a:off x="5440680" y="914400"/>
            <a:ext cx="3429000" cy="274320"/>
          </a:xfrm>
          <a:prstGeom prst="rect">
            <a:avLst/>
          </a:prstGeom>
          <a:noFill/>
          <a:ln/>
        </p:spPr>
        <p:txBody>
          <a:bodyPr wrap="square" lIns="0" tIns="0" rIns="0" bIns="0" rtlCol="0" anchor="ctr"/>
          <a:lstStyle/>
          <a:p>
            <a:pPr marL="0" indent="0">
              <a:buNone/>
            </a:pPr>
            <a:r>
              <a:rPr lang="en-US" sz="1200" b="1" dirty="0">
                <a:solidFill>
                  <a:srgbClr val="0A2463"/>
                </a:solidFill>
              </a:rPr>
              <a:t>JWT Authentication</a:t>
            </a:r>
            <a:endParaRPr lang="en-US" sz="1200" dirty="0"/>
          </a:p>
        </p:txBody>
      </p:sp>
      <p:sp>
        <p:nvSpPr>
          <p:cNvPr id="13" name="Text 11"/>
          <p:cNvSpPr/>
          <p:nvPr/>
        </p:nvSpPr>
        <p:spPr>
          <a:xfrm>
            <a:off x="5440680" y="1207008"/>
            <a:ext cx="3429000" cy="713232"/>
          </a:xfrm>
          <a:prstGeom prst="rect">
            <a:avLst/>
          </a:prstGeom>
          <a:noFill/>
          <a:ln/>
        </p:spPr>
        <p:txBody>
          <a:bodyPr wrap="square" lIns="0" tIns="0" rIns="0" bIns="0" rtlCol="0" anchor="ctr"/>
          <a:lstStyle/>
          <a:p>
            <a:pPr marL="0" indent="0">
              <a:buNone/>
            </a:pPr>
            <a:r>
              <a:rPr lang="en-US" sz="950" dirty="0">
                <a:solidFill>
                  <a:srgbClr val="64748B"/>
                </a:solidFill>
              </a:rPr>
              <a:t>Replace session-based auth with JWT tokens + refresh tokens for stateless, scalable and secure API access</a:t>
            </a:r>
            <a:endParaRPr lang="en-US" sz="950" dirty="0"/>
          </a:p>
        </p:txBody>
      </p:sp>
      <p:sp>
        <p:nvSpPr>
          <p:cNvPr id="14" name="Shape 12"/>
          <p:cNvSpPr/>
          <p:nvPr/>
        </p:nvSpPr>
        <p:spPr>
          <a:xfrm>
            <a:off x="320040" y="2221992"/>
            <a:ext cx="4206240" cy="123444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15" name="Shape 13"/>
          <p:cNvSpPr/>
          <p:nvPr/>
        </p:nvSpPr>
        <p:spPr>
          <a:xfrm>
            <a:off x="321310" y="2221992"/>
            <a:ext cx="594360" cy="1234440"/>
          </a:xfrm>
          <a:prstGeom prst="rect">
            <a:avLst/>
          </a:prstGeom>
          <a:solidFill>
            <a:srgbClr val="0D9488"/>
          </a:solidFill>
          <a:ln w="12700">
            <a:solidFill>
              <a:srgbClr val="0D9488"/>
            </a:solidFill>
            <a:prstDash val="solid"/>
          </a:ln>
        </p:spPr>
      </p:sp>
      <p:sp>
        <p:nvSpPr>
          <p:cNvPr id="16" name="Text 14"/>
          <p:cNvSpPr/>
          <p:nvPr/>
        </p:nvSpPr>
        <p:spPr>
          <a:xfrm>
            <a:off x="320040" y="2221992"/>
            <a:ext cx="594360" cy="1234440"/>
          </a:xfrm>
          <a:prstGeom prst="rect">
            <a:avLst/>
          </a:prstGeom>
          <a:noFill/>
          <a:ln/>
        </p:spPr>
        <p:txBody>
          <a:bodyPr wrap="square" lIns="0" tIns="0" rIns="0" bIns="0" rtlCol="0" anchor="ctr"/>
          <a:lstStyle/>
          <a:p>
            <a:pPr marL="0" indent="0">
              <a:buNone/>
            </a:pPr>
            <a:r>
              <a:rPr lang="en-US" sz="3600" dirty="0">
                <a:solidFill>
                  <a:srgbClr val="000000"/>
                </a:solidFill>
              </a:rPr>
              <a:t>📄</a:t>
            </a:r>
            <a:endParaRPr lang="en-US" sz="4400" dirty="0"/>
          </a:p>
        </p:txBody>
      </p:sp>
      <p:sp>
        <p:nvSpPr>
          <p:cNvPr id="17" name="Text 15"/>
          <p:cNvSpPr/>
          <p:nvPr/>
        </p:nvSpPr>
        <p:spPr>
          <a:xfrm>
            <a:off x="1005840" y="2331720"/>
            <a:ext cx="3429000" cy="274320"/>
          </a:xfrm>
          <a:prstGeom prst="rect">
            <a:avLst/>
          </a:prstGeom>
          <a:noFill/>
          <a:ln/>
        </p:spPr>
        <p:txBody>
          <a:bodyPr wrap="square" lIns="0" tIns="0" rIns="0" bIns="0" rtlCol="0" anchor="ctr"/>
          <a:lstStyle/>
          <a:p>
            <a:pPr marL="0" indent="0">
              <a:buNone/>
            </a:pPr>
            <a:r>
              <a:rPr lang="en-US" sz="1200" b="1" dirty="0">
                <a:solidFill>
                  <a:srgbClr val="0A2463"/>
                </a:solidFill>
              </a:rPr>
              <a:t>PDF Report Generation</a:t>
            </a:r>
            <a:endParaRPr lang="en-US" sz="1200" dirty="0"/>
          </a:p>
        </p:txBody>
      </p:sp>
      <p:sp>
        <p:nvSpPr>
          <p:cNvPr id="18" name="Text 16"/>
          <p:cNvSpPr/>
          <p:nvPr/>
        </p:nvSpPr>
        <p:spPr>
          <a:xfrm>
            <a:off x="1005840" y="2624328"/>
            <a:ext cx="3429000" cy="713232"/>
          </a:xfrm>
          <a:prstGeom prst="rect">
            <a:avLst/>
          </a:prstGeom>
          <a:noFill/>
          <a:ln/>
        </p:spPr>
        <p:txBody>
          <a:bodyPr wrap="square" lIns="0" tIns="0" rIns="0" bIns="0" rtlCol="0" anchor="ctr"/>
          <a:lstStyle/>
          <a:p>
            <a:pPr marL="0" indent="0">
              <a:buNone/>
            </a:pPr>
            <a:r>
              <a:rPr lang="en-US" sz="950" dirty="0">
                <a:solidFill>
                  <a:srgbClr val="64748B"/>
                </a:solidFill>
              </a:rPr>
              <a:t>Auto-generate printable PDF reports for meal records and hospital billing using jsPDF or Puppeteer</a:t>
            </a:r>
            <a:endParaRPr lang="en-US" sz="950" dirty="0"/>
          </a:p>
        </p:txBody>
      </p:sp>
      <p:sp>
        <p:nvSpPr>
          <p:cNvPr id="19" name="Shape 17"/>
          <p:cNvSpPr/>
          <p:nvPr/>
        </p:nvSpPr>
        <p:spPr>
          <a:xfrm>
            <a:off x="4754880" y="2221992"/>
            <a:ext cx="4206240" cy="123444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0" name="Shape 18"/>
          <p:cNvSpPr/>
          <p:nvPr/>
        </p:nvSpPr>
        <p:spPr>
          <a:xfrm>
            <a:off x="4754880" y="2221992"/>
            <a:ext cx="594360" cy="1234440"/>
          </a:xfrm>
          <a:prstGeom prst="rect">
            <a:avLst/>
          </a:prstGeom>
          <a:solidFill>
            <a:srgbClr val="0D9488"/>
          </a:solidFill>
          <a:ln w="12700">
            <a:solidFill>
              <a:srgbClr val="0D9488"/>
            </a:solidFill>
            <a:prstDash val="solid"/>
          </a:ln>
        </p:spPr>
      </p:sp>
      <p:sp>
        <p:nvSpPr>
          <p:cNvPr id="21" name="Text 19"/>
          <p:cNvSpPr/>
          <p:nvPr/>
        </p:nvSpPr>
        <p:spPr>
          <a:xfrm>
            <a:off x="4754880" y="2221992"/>
            <a:ext cx="594360" cy="1234440"/>
          </a:xfrm>
          <a:prstGeom prst="rect">
            <a:avLst/>
          </a:prstGeom>
          <a:noFill/>
          <a:ln/>
        </p:spPr>
        <p:txBody>
          <a:bodyPr wrap="square" lIns="0" tIns="0" rIns="0" bIns="0" rtlCol="0" anchor="ctr"/>
          <a:lstStyle/>
          <a:p>
            <a:pPr marL="0" indent="0">
              <a:buNone/>
            </a:pPr>
            <a:r>
              <a:rPr lang="en-US" sz="3600" dirty="0">
                <a:solidFill>
                  <a:srgbClr val="000000"/>
                </a:solidFill>
              </a:rPr>
              <a:t>📧</a:t>
            </a:r>
            <a:endParaRPr lang="en-US" sz="3600" dirty="0"/>
          </a:p>
        </p:txBody>
      </p:sp>
      <p:sp>
        <p:nvSpPr>
          <p:cNvPr id="22" name="Text 20"/>
          <p:cNvSpPr/>
          <p:nvPr/>
        </p:nvSpPr>
        <p:spPr>
          <a:xfrm>
            <a:off x="5440680" y="2331720"/>
            <a:ext cx="3429000" cy="274320"/>
          </a:xfrm>
          <a:prstGeom prst="rect">
            <a:avLst/>
          </a:prstGeom>
          <a:noFill/>
          <a:ln/>
        </p:spPr>
        <p:txBody>
          <a:bodyPr wrap="square" lIns="0" tIns="0" rIns="0" bIns="0" rtlCol="0" anchor="ctr"/>
          <a:lstStyle/>
          <a:p>
            <a:pPr marL="0" indent="0">
              <a:buNone/>
            </a:pPr>
            <a:r>
              <a:rPr lang="en-US" sz="1200" b="1" dirty="0">
                <a:solidFill>
                  <a:srgbClr val="0A2463"/>
                </a:solidFill>
              </a:rPr>
              <a:t>Email Notifications</a:t>
            </a:r>
            <a:endParaRPr lang="en-US" sz="1200" dirty="0"/>
          </a:p>
        </p:txBody>
      </p:sp>
      <p:sp>
        <p:nvSpPr>
          <p:cNvPr id="23" name="Text 21"/>
          <p:cNvSpPr/>
          <p:nvPr/>
        </p:nvSpPr>
        <p:spPr>
          <a:xfrm>
            <a:off x="5440680" y="2624328"/>
            <a:ext cx="3429000" cy="713232"/>
          </a:xfrm>
          <a:prstGeom prst="rect">
            <a:avLst/>
          </a:prstGeom>
          <a:noFill/>
          <a:ln/>
        </p:spPr>
        <p:txBody>
          <a:bodyPr wrap="square" lIns="0" tIns="0" rIns="0" bIns="0" rtlCol="0" anchor="ctr"/>
          <a:lstStyle/>
          <a:p>
            <a:pPr marL="0" indent="0">
              <a:buNone/>
            </a:pPr>
            <a:r>
              <a:rPr lang="en-US" sz="950" dirty="0">
                <a:solidFill>
                  <a:srgbClr val="64748B"/>
                </a:solidFill>
              </a:rPr>
              <a:t>Automated email alerts for allergy warnings, meal plan approvals and kitchen delivery confirmations via NodeMailer</a:t>
            </a:r>
            <a:endParaRPr lang="en-US" sz="950" dirty="0"/>
          </a:p>
        </p:txBody>
      </p:sp>
      <p:sp>
        <p:nvSpPr>
          <p:cNvPr id="24" name="Shape 22"/>
          <p:cNvSpPr/>
          <p:nvPr/>
        </p:nvSpPr>
        <p:spPr>
          <a:xfrm>
            <a:off x="320040" y="3639312"/>
            <a:ext cx="4206240" cy="123444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25" name="Shape 23"/>
          <p:cNvSpPr/>
          <p:nvPr/>
        </p:nvSpPr>
        <p:spPr>
          <a:xfrm>
            <a:off x="320040" y="3639312"/>
            <a:ext cx="594360" cy="1234440"/>
          </a:xfrm>
          <a:prstGeom prst="rect">
            <a:avLst/>
          </a:prstGeom>
          <a:solidFill>
            <a:srgbClr val="0EA5E9"/>
          </a:solidFill>
          <a:ln w="12700">
            <a:solidFill>
              <a:srgbClr val="0EA5E9"/>
            </a:solidFill>
            <a:prstDash val="solid"/>
          </a:ln>
        </p:spPr>
      </p:sp>
      <p:sp>
        <p:nvSpPr>
          <p:cNvPr id="26" name="Text 24"/>
          <p:cNvSpPr/>
          <p:nvPr/>
        </p:nvSpPr>
        <p:spPr>
          <a:xfrm>
            <a:off x="320040" y="3639312"/>
            <a:ext cx="594360" cy="1234440"/>
          </a:xfrm>
          <a:prstGeom prst="rect">
            <a:avLst/>
          </a:prstGeom>
          <a:noFill/>
          <a:ln/>
        </p:spPr>
        <p:txBody>
          <a:bodyPr wrap="square" lIns="0" tIns="0" rIns="0" bIns="0" rtlCol="0" anchor="ctr"/>
          <a:lstStyle/>
          <a:p>
            <a:pPr marL="0" indent="0">
              <a:buNone/>
            </a:pPr>
            <a:r>
              <a:rPr lang="en-US" sz="3600" dirty="0">
                <a:solidFill>
                  <a:srgbClr val="000000"/>
                </a:solidFill>
              </a:rPr>
              <a:t>🤖</a:t>
            </a:r>
            <a:endParaRPr lang="en-US" sz="3600" dirty="0"/>
          </a:p>
        </p:txBody>
      </p:sp>
      <p:sp>
        <p:nvSpPr>
          <p:cNvPr id="27" name="Text 25"/>
          <p:cNvSpPr/>
          <p:nvPr/>
        </p:nvSpPr>
        <p:spPr>
          <a:xfrm>
            <a:off x="1005840" y="3749040"/>
            <a:ext cx="3429000" cy="274320"/>
          </a:xfrm>
          <a:prstGeom prst="rect">
            <a:avLst/>
          </a:prstGeom>
          <a:noFill/>
          <a:ln/>
        </p:spPr>
        <p:txBody>
          <a:bodyPr wrap="square" lIns="0" tIns="0" rIns="0" bIns="0" rtlCol="0" anchor="ctr"/>
          <a:lstStyle/>
          <a:p>
            <a:pPr marL="0" indent="0">
              <a:buNone/>
            </a:pPr>
            <a:r>
              <a:rPr lang="en-US" sz="1200" b="1" dirty="0">
                <a:solidFill>
                  <a:srgbClr val="0A2463"/>
                </a:solidFill>
              </a:rPr>
              <a:t>AI Diet Recommendations</a:t>
            </a:r>
            <a:endParaRPr lang="en-US" sz="1200" dirty="0"/>
          </a:p>
        </p:txBody>
      </p:sp>
      <p:sp>
        <p:nvSpPr>
          <p:cNvPr id="28" name="Text 26"/>
          <p:cNvSpPr/>
          <p:nvPr/>
        </p:nvSpPr>
        <p:spPr>
          <a:xfrm>
            <a:off x="1005840" y="4041648"/>
            <a:ext cx="3429000" cy="713232"/>
          </a:xfrm>
          <a:prstGeom prst="rect">
            <a:avLst/>
          </a:prstGeom>
          <a:noFill/>
          <a:ln/>
        </p:spPr>
        <p:txBody>
          <a:bodyPr wrap="square" lIns="0" tIns="0" rIns="0" bIns="0" rtlCol="0" anchor="ctr"/>
          <a:lstStyle/>
          <a:p>
            <a:pPr marL="0" indent="0">
              <a:buNone/>
            </a:pPr>
            <a:r>
              <a:rPr lang="en-US" sz="950" dirty="0">
                <a:solidFill>
                  <a:srgbClr val="64748B"/>
                </a:solidFill>
              </a:rPr>
              <a:t>ML-based meal suggestions tailored to patient medical condition and nutritional history using TensorFlow.js</a:t>
            </a:r>
            <a:endParaRPr lang="en-US" sz="950" dirty="0"/>
          </a:p>
        </p:txBody>
      </p:sp>
      <p:sp>
        <p:nvSpPr>
          <p:cNvPr id="29" name="Shape 27"/>
          <p:cNvSpPr/>
          <p:nvPr/>
        </p:nvSpPr>
        <p:spPr>
          <a:xfrm>
            <a:off x="4754880" y="3639312"/>
            <a:ext cx="4206240" cy="123444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sp>
      <p:sp>
        <p:nvSpPr>
          <p:cNvPr id="30" name="Shape 28"/>
          <p:cNvSpPr/>
          <p:nvPr/>
        </p:nvSpPr>
        <p:spPr>
          <a:xfrm>
            <a:off x="4754880" y="3639312"/>
            <a:ext cx="594360" cy="1234440"/>
          </a:xfrm>
          <a:prstGeom prst="rect">
            <a:avLst/>
          </a:prstGeom>
          <a:solidFill>
            <a:srgbClr val="0EA5E9"/>
          </a:solidFill>
          <a:ln w="12700">
            <a:solidFill>
              <a:srgbClr val="0EA5E9"/>
            </a:solidFill>
            <a:prstDash val="solid"/>
          </a:ln>
        </p:spPr>
      </p:sp>
      <p:sp>
        <p:nvSpPr>
          <p:cNvPr id="31" name="Text 29"/>
          <p:cNvSpPr/>
          <p:nvPr/>
        </p:nvSpPr>
        <p:spPr>
          <a:xfrm>
            <a:off x="4754880" y="3639312"/>
            <a:ext cx="594360" cy="1234440"/>
          </a:xfrm>
          <a:prstGeom prst="rect">
            <a:avLst/>
          </a:prstGeom>
          <a:noFill/>
          <a:ln/>
        </p:spPr>
        <p:txBody>
          <a:bodyPr wrap="square" lIns="0" tIns="0" rIns="0" bIns="0" rtlCol="0" anchor="ctr"/>
          <a:lstStyle/>
          <a:p>
            <a:pPr marL="0" indent="0">
              <a:buNone/>
            </a:pPr>
            <a:r>
              <a:rPr lang="en-US" sz="3600" dirty="0">
                <a:solidFill>
                  <a:srgbClr val="000000"/>
                </a:solidFill>
              </a:rPr>
              <a:t>📱</a:t>
            </a:r>
            <a:endParaRPr lang="en-US" sz="3600" dirty="0"/>
          </a:p>
        </p:txBody>
      </p:sp>
      <p:sp>
        <p:nvSpPr>
          <p:cNvPr id="32" name="Text 30"/>
          <p:cNvSpPr/>
          <p:nvPr/>
        </p:nvSpPr>
        <p:spPr>
          <a:xfrm>
            <a:off x="5440680" y="3749040"/>
            <a:ext cx="3429000" cy="274320"/>
          </a:xfrm>
          <a:prstGeom prst="rect">
            <a:avLst/>
          </a:prstGeom>
          <a:noFill/>
          <a:ln/>
        </p:spPr>
        <p:txBody>
          <a:bodyPr wrap="square" lIns="0" tIns="0" rIns="0" bIns="0" rtlCol="0" anchor="ctr"/>
          <a:lstStyle/>
          <a:p>
            <a:pPr marL="0" indent="0">
              <a:buNone/>
            </a:pPr>
            <a:r>
              <a:rPr lang="en-US" sz="1200" b="1" dirty="0">
                <a:solidFill>
                  <a:srgbClr val="0A2463"/>
                </a:solidFill>
              </a:rPr>
              <a:t>Mobile Application</a:t>
            </a:r>
            <a:endParaRPr lang="en-US" sz="1200" dirty="0"/>
          </a:p>
        </p:txBody>
      </p:sp>
      <p:sp>
        <p:nvSpPr>
          <p:cNvPr id="33" name="Text 31"/>
          <p:cNvSpPr/>
          <p:nvPr/>
        </p:nvSpPr>
        <p:spPr>
          <a:xfrm>
            <a:off x="5440680" y="4041648"/>
            <a:ext cx="3429000" cy="713232"/>
          </a:xfrm>
          <a:prstGeom prst="rect">
            <a:avLst/>
          </a:prstGeom>
          <a:noFill/>
          <a:ln/>
        </p:spPr>
        <p:txBody>
          <a:bodyPr wrap="square" lIns="0" tIns="0" rIns="0" bIns="0" rtlCol="0" anchor="ctr"/>
          <a:lstStyle/>
          <a:p>
            <a:pPr marL="0" indent="0">
              <a:buNone/>
            </a:pPr>
            <a:r>
              <a:rPr lang="en-US" sz="950" dirty="0">
                <a:solidFill>
                  <a:srgbClr val="64748B"/>
                </a:solidFill>
              </a:rPr>
              <a:t>React Native app for nurses and kitchen staff to update order status and view patient profiles on-the-go</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Shape 1"/>
          <p:cNvSpPr/>
          <p:nvPr/>
        </p:nvSpPr>
        <p:spPr>
          <a:xfrm>
            <a:off x="0" y="5070348"/>
            <a:ext cx="9144000" cy="73152"/>
          </a:xfrm>
          <a:prstGeom prst="rect">
            <a:avLst/>
          </a:prstGeom>
          <a:solidFill>
            <a:srgbClr val="0D9488"/>
          </a:solidFill>
          <a:ln w="12700">
            <a:solidFill>
              <a:srgbClr val="0D9488"/>
            </a:solidFill>
            <a:prstDash val="solid"/>
          </a:ln>
        </p:spPr>
      </p:sp>
      <p:sp>
        <p:nvSpPr>
          <p:cNvPr id="4" name="Shape 2"/>
          <p:cNvSpPr/>
          <p:nvPr/>
        </p:nvSpPr>
        <p:spPr>
          <a:xfrm>
            <a:off x="3606800" y="979170"/>
            <a:ext cx="1828800" cy="1828800"/>
          </a:xfrm>
          <a:prstGeom prst="ellipse">
            <a:avLst/>
          </a:prstGeom>
          <a:solidFill>
            <a:srgbClr val="E0F2FE"/>
          </a:solidFill>
          <a:ln w="12700">
            <a:solidFill>
              <a:srgbClr val="0D9488"/>
            </a:solidFill>
            <a:prstDash val="solid"/>
          </a:ln>
        </p:spPr>
      </p:sp>
      <p:sp>
        <p:nvSpPr>
          <p:cNvPr id="5" name="Text 3"/>
          <p:cNvSpPr/>
          <p:nvPr/>
        </p:nvSpPr>
        <p:spPr>
          <a:xfrm>
            <a:off x="3657600" y="502920"/>
            <a:ext cx="1828800" cy="1828800"/>
          </a:xfrm>
          <a:prstGeom prst="rect">
            <a:avLst/>
          </a:prstGeom>
          <a:noFill/>
          <a:ln/>
        </p:spPr>
        <p:txBody>
          <a:bodyPr wrap="square" lIns="0" tIns="0" rIns="0" bIns="0" rtlCol="0" anchor="ctr"/>
          <a:lstStyle/>
          <a:p>
            <a:r>
              <a:rPr lang="en-US" sz="6400" dirty="0" smtClean="0">
                <a:solidFill>
                  <a:srgbClr val="000000"/>
                </a:solidFill>
              </a:rPr>
              <a:t>  </a:t>
            </a:r>
          </a:p>
          <a:p>
            <a:r>
              <a:rPr lang="en-US" sz="6400" dirty="0">
                <a:solidFill>
                  <a:srgbClr val="000000"/>
                </a:solidFill>
              </a:rPr>
              <a:t> </a:t>
            </a:r>
            <a:r>
              <a:rPr lang="en-US" sz="6400" dirty="0" smtClean="0">
                <a:solidFill>
                  <a:srgbClr val="000000"/>
                </a:solidFill>
              </a:rPr>
              <a:t> 🏥      </a:t>
            </a:r>
            <a:endParaRPr lang="en-US" sz="6400" dirty="0"/>
          </a:p>
        </p:txBody>
      </p:sp>
      <p:sp>
        <p:nvSpPr>
          <p:cNvPr id="6" name="Text 4"/>
          <p:cNvSpPr/>
          <p:nvPr/>
        </p:nvSpPr>
        <p:spPr>
          <a:xfrm>
            <a:off x="914400" y="2720086"/>
            <a:ext cx="7315200" cy="914400"/>
          </a:xfrm>
          <a:prstGeom prst="rect">
            <a:avLst/>
          </a:prstGeom>
          <a:noFill/>
          <a:ln/>
        </p:spPr>
        <p:txBody>
          <a:bodyPr wrap="square" lIns="0" tIns="0" rIns="0" bIns="0" rtlCol="0" anchor="ctr"/>
          <a:lstStyle/>
          <a:p>
            <a:pPr marL="0" indent="0" algn="ctr">
              <a:buNone/>
            </a:pPr>
            <a:r>
              <a:rPr lang="en-US" sz="5200" b="1" dirty="0">
                <a:solidFill>
                  <a:srgbClr val="0A2463"/>
                </a:solidFill>
              </a:rPr>
              <a:t>Thank You!</a:t>
            </a:r>
            <a:endParaRPr lang="en-US" sz="5200" dirty="0"/>
          </a:p>
        </p:txBody>
      </p:sp>
      <p:sp>
        <p:nvSpPr>
          <p:cNvPr id="7" name="Text 5"/>
          <p:cNvSpPr/>
          <p:nvPr/>
        </p:nvSpPr>
        <p:spPr>
          <a:xfrm>
            <a:off x="914400" y="3715004"/>
            <a:ext cx="7315200" cy="347472"/>
          </a:xfrm>
          <a:prstGeom prst="rect">
            <a:avLst/>
          </a:prstGeom>
          <a:noFill/>
          <a:ln/>
        </p:spPr>
        <p:txBody>
          <a:bodyPr wrap="square" lIns="0" tIns="0" rIns="0" bIns="0" rtlCol="0" anchor="ctr"/>
          <a:lstStyle/>
          <a:p>
            <a:pPr marL="0" indent="0" algn="ctr">
              <a:buNone/>
            </a:pPr>
            <a:r>
              <a:rPr lang="en-US" sz="1400" b="1" dirty="0">
                <a:solidFill>
                  <a:srgbClr val="0D9488"/>
                </a:solidFill>
              </a:rPr>
              <a:t>HIMPS — Hospital Inpatient Meal Planning System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894</TotalTime>
  <Words>1464</Words>
  <Application>Microsoft Office PowerPoint</Application>
  <PresentationFormat>On-screen Show (16:9)</PresentationFormat>
  <Paragraphs>338</Paragraphs>
  <Slides>13</Slides>
  <Notes>12</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HIMPS - Hospital Inpatient Meal Planning System</dc:title>
  <dc:subject>PptxGenJS Presentation</dc:subject>
  <dc:creator>PptxGenJS</dc:creator>
  <cp:lastModifiedBy>DELL</cp:lastModifiedBy>
  <cp:revision>12</cp:revision>
  <dcterms:created xsi:type="dcterms:W3CDTF">2026-05-11T01:00:29Z</dcterms:created>
  <dcterms:modified xsi:type="dcterms:W3CDTF">2026-06-18T13:59:05Z</dcterms:modified>
</cp:coreProperties>
</file>